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61c2df76e84d11" /><Relationship Type="http://schemas.openxmlformats.org/officeDocument/2006/relationships/extended-properties" Target="/docProps/app.xml" Id="R4664d031e9fc4022" /><Relationship Type="http://schemas.openxmlformats.org/officeDocument/2006/relationships/officeDocument" Target="/ppt/presentation.xml" Id="Rf6677fdb4c8e4f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0f5c830f1d484c"/>
  </p:sldMasterIdLst>
  <p:notesMasterIdLst>
    <p:notesMasterId xmlns:r="http://schemas.openxmlformats.org/officeDocument/2006/relationships" r:id="Rfff4ffdee37d4804"/>
  </p:notesMasterIdLst>
  <p:sldIdLst>
    <p:sldId xmlns:r="http://schemas.openxmlformats.org/officeDocument/2006/relationships" id="256" r:id="R0096236996f84dc0"/>
    <p:sldId xmlns:r="http://schemas.openxmlformats.org/officeDocument/2006/relationships" id="257" r:id="R30372152b50341c0"/>
    <p:sldId xmlns:r="http://schemas.openxmlformats.org/officeDocument/2006/relationships" id="258" r:id="Re046b18c95244089"/>
    <p:sldId xmlns:r="http://schemas.openxmlformats.org/officeDocument/2006/relationships" id="259" r:id="Re2d4785a1d264d44"/>
    <p:sldId xmlns:r="http://schemas.openxmlformats.org/officeDocument/2006/relationships" id="260" r:id="R2404b29a51da42cd"/>
    <p:sldId xmlns:r="http://schemas.openxmlformats.org/officeDocument/2006/relationships" id="261" r:id="R0978950e61574c7c"/>
    <p:sldId xmlns:r="http://schemas.openxmlformats.org/officeDocument/2006/relationships" id="262" r:id="Raed005f9e1024a22"/>
    <p:sldId xmlns:r="http://schemas.openxmlformats.org/officeDocument/2006/relationships" id="263" r:id="R61d0b4906574485d"/>
    <p:sldId xmlns:r="http://schemas.openxmlformats.org/officeDocument/2006/relationships" id="264" r:id="Ra0a881fd74894c20"/>
    <p:sldId xmlns:r="http://schemas.openxmlformats.org/officeDocument/2006/relationships" id="265" r:id="R71016ee270f4432c"/>
    <p:sldId xmlns:r="http://schemas.openxmlformats.org/officeDocument/2006/relationships" id="266" r:id="Raae13360e095487c"/>
    <p:sldId xmlns:r="http://schemas.openxmlformats.org/officeDocument/2006/relationships" id="267" r:id="R06afc1abcf824d3b"/>
    <p:sldId xmlns:r="http://schemas.openxmlformats.org/officeDocument/2006/relationships" id="268" r:id="R9aed29e73e6e440f"/>
    <p:sldId xmlns:r="http://schemas.openxmlformats.org/officeDocument/2006/relationships" id="269" r:id="Re14fa3c6df004524"/>
    <p:sldId xmlns:r="http://schemas.openxmlformats.org/officeDocument/2006/relationships" id="270" r:id="Rec36c1ae584942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53fd6c8dac40ff" /><Relationship Type="http://schemas.openxmlformats.org/officeDocument/2006/relationships/slideMaster" Target="/ppt/slideMasters/slideMaster1.xml" Id="R640f5c830f1d484c" /><Relationship Type="http://schemas.openxmlformats.org/officeDocument/2006/relationships/notesMaster" Target="/ppt/notesMasters/notesMaster1.xml" Id="Rfff4ffdee37d4804" /><Relationship Type="http://schemas.openxmlformats.org/officeDocument/2006/relationships/presProps" Target="/ppt/presProps.xml" Id="Rd7a6f140767a4faf" /><Relationship Type="http://schemas.openxmlformats.org/officeDocument/2006/relationships/viewProps" Target="/ppt/viewProps.xml" Id="Rd9ab6c7a68144eb6" /><Relationship Type="http://schemas.openxmlformats.org/officeDocument/2006/relationships/tableStyles" Target="/ppt/tableStyles.xml" Id="R58859772d20d4662" /><Relationship Type="http://schemas.openxmlformats.org/officeDocument/2006/relationships/slide" Target="/ppt/slides/slide1.xml" Id="R0096236996f84dc0" /><Relationship Type="http://schemas.openxmlformats.org/officeDocument/2006/relationships/slide" Target="/ppt/slides/slide2.xml" Id="R30372152b50341c0" /><Relationship Type="http://schemas.openxmlformats.org/officeDocument/2006/relationships/slide" Target="/ppt/slides/slide3.xml" Id="Re046b18c95244089" /><Relationship Type="http://schemas.openxmlformats.org/officeDocument/2006/relationships/slide" Target="/ppt/slides/slide4.xml" Id="Re2d4785a1d264d44" /><Relationship Type="http://schemas.openxmlformats.org/officeDocument/2006/relationships/slide" Target="/ppt/slides/slide5.xml" Id="R2404b29a51da42cd" /><Relationship Type="http://schemas.openxmlformats.org/officeDocument/2006/relationships/slide" Target="/ppt/slides/slide6.xml" Id="R0978950e61574c7c" /><Relationship Type="http://schemas.openxmlformats.org/officeDocument/2006/relationships/slide" Target="/ppt/slides/slide7.xml" Id="Raed005f9e1024a22" /><Relationship Type="http://schemas.openxmlformats.org/officeDocument/2006/relationships/slide" Target="/ppt/slides/slide8.xml" Id="R61d0b4906574485d" /><Relationship Type="http://schemas.openxmlformats.org/officeDocument/2006/relationships/slide" Target="/ppt/slides/slide9.xml" Id="Ra0a881fd74894c20" /><Relationship Type="http://schemas.openxmlformats.org/officeDocument/2006/relationships/slide" Target="/ppt/slides/slide10.xml" Id="R71016ee270f4432c" /><Relationship Type="http://schemas.openxmlformats.org/officeDocument/2006/relationships/slide" Target="/ppt/slides/slide11.xml" Id="Raae13360e095487c" /><Relationship Type="http://schemas.openxmlformats.org/officeDocument/2006/relationships/slide" Target="/ppt/slides/slide12.xml" Id="R06afc1abcf824d3b" /><Relationship Type="http://schemas.openxmlformats.org/officeDocument/2006/relationships/slide" Target="/ppt/slides/slide13.xml" Id="R9aed29e73e6e440f" /><Relationship Type="http://schemas.openxmlformats.org/officeDocument/2006/relationships/slide" Target="/ppt/slides/slide14.xml" Id="Re14fa3c6df004524" /><Relationship Type="http://schemas.openxmlformats.org/officeDocument/2006/relationships/slide" Target="/ppt/slides/slide15.xml" Id="Rec36c1ae584942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a38c3aa34346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d14545d9ea4879" /><Relationship Type="http://schemas.openxmlformats.org/officeDocument/2006/relationships/notesMaster" Target="/ppt/notesMasters/notesMaster1.xml" Id="R4f95c5d8159e4f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3a2c1a4fd74a1a" /><Relationship Type="http://schemas.openxmlformats.org/officeDocument/2006/relationships/notesMaster" Target="/ppt/notesMasters/notesMaster1.xml" Id="Rc6dc277d5cfe4d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78e4c33c7849ee" /><Relationship Type="http://schemas.openxmlformats.org/officeDocument/2006/relationships/notesMaster" Target="/ppt/notesMasters/notesMaster1.xml" Id="Re373f96b2d8b44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408749b9184128" /><Relationship Type="http://schemas.openxmlformats.org/officeDocument/2006/relationships/notesMaster" Target="/ppt/notesMasters/notesMaster1.xml" Id="Rb4aa8db2639449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0c6285d3f447a6" /><Relationship Type="http://schemas.openxmlformats.org/officeDocument/2006/relationships/notesMaster" Target="/ppt/notesMasters/notesMaster1.xml" Id="R3393637024f74e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0946f67d46499a" /><Relationship Type="http://schemas.openxmlformats.org/officeDocument/2006/relationships/notesMaster" Target="/ppt/notesMasters/notesMaster1.xml" Id="R9f765abf77044f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0ad3e9aaea4951" /><Relationship Type="http://schemas.openxmlformats.org/officeDocument/2006/relationships/notesMaster" Target="/ppt/notesMasters/notesMaster1.xml" Id="Rbf0d06bd109143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17644e8b5742be" /><Relationship Type="http://schemas.openxmlformats.org/officeDocument/2006/relationships/notesMaster" Target="/ppt/notesMasters/notesMaster1.xml" Id="R4c3fdb407cfe41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2867e701284874" /><Relationship Type="http://schemas.openxmlformats.org/officeDocument/2006/relationships/notesMaster" Target="/ppt/notesMasters/notesMaster1.xml" Id="R07373d055bc445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aa873bc7ea4f47" /><Relationship Type="http://schemas.openxmlformats.org/officeDocument/2006/relationships/notesMaster" Target="/ppt/notesMasters/notesMaster1.xml" Id="Rc3f1d500ee3b48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e2cd45fccb4d41" /><Relationship Type="http://schemas.openxmlformats.org/officeDocument/2006/relationships/notesMaster" Target="/ppt/notesMasters/notesMaster1.xml" Id="R4fb77fb3550b44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7ac115d62f461d" /><Relationship Type="http://schemas.openxmlformats.org/officeDocument/2006/relationships/notesMaster" Target="/ppt/notesMasters/notesMaster1.xml" Id="Rddfa0a20cdae45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3288472f7e4c1f" /><Relationship Type="http://schemas.openxmlformats.org/officeDocument/2006/relationships/notesMaster" Target="/ppt/notesMasters/notesMaster1.xml" Id="R782d4c3d9e784b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301b5baa564b1f" /><Relationship Type="http://schemas.openxmlformats.org/officeDocument/2006/relationships/notesMaster" Target="/ppt/notesMasters/notesMaster1.xml" Id="Rce7b5f333df14a2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4f226464524fc7" /><Relationship Type="http://schemas.openxmlformats.org/officeDocument/2006/relationships/notesMaster" Target="/ppt/notesMasters/notesMaster1.xml" Id="R1d47d4e1bfcc49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Québec deregulated notary fees in 1991 and never built a market. The product is already built and deployed. This round funds finding out whether it clears.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insight: deregulation without a market. Fees are legally free but structurally blind.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two-sided failure. The punchline is the last line: nobody sells time.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Tier is derived from days-to-date. Floors and the 10x cap live in the domain package and are asserted by tests.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pre-seed money funds the possibility that a team can build the thing. Here the thing is built. The money buys 12 months of undivided attention on distribution.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Bill 34 point is the most important: the legal rails already exist, which removes years and hundreds of thousands from Phase 2.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CNQ Registre des dispositions testamentaires (215,576 registrations 2017-18), CMHC renewal data, APCIQ 90,369 residential sales 2024.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direct about this in the room. The current code implements the commission model and flags itself. Fixing it before launch is milestone one.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metric governs Phase 1: fill rate. Below 40% the market is not clearing; above 60% the flywheel is real.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2 is the controlled learning loop. Aggregated user behavior identifies friction; the notary supplies the high-confidence correction; Nota evaluates an offline version, runs a small canary and keeps rollback. Participation is voluntary: structured feedback may receive potential equity under a separate agreement, or the notary may pay monthly for the software without joining the contribution program. This is capacity support, not replacement, and every professional decision remains with the notary.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US-platform row matters: it explains why a well-funded American entrant is not the threat people assume.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Y3 = 3.7% of addressable act volume. Series A trigger is exiting Y2 at a $300-500K ARR run-rate with province-wide liquidity proven.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Month 9-12 follow-on: IQ's Fonds Impulsion invests $250K-1M but requires a lead investor and an accelerator referral. Securing an angel lead here is the bridge.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Investors reward founders who name their own kill criteria. Lead with this if the room is skeptical.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founder point: the platform is built, tested and deployed. This buys twelve months of undivided attention on the parts code cannot solve.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de77963edc4b5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04d928208d4683" /><Relationship Type="http://schemas.openxmlformats.org/officeDocument/2006/relationships/slideLayout" Target="/ppt/slideLayouts/slideLayout1.xml" Id="R51dfe74ee04e46d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dfe74ee04e46d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f327771e04bbf" /><Relationship Type="http://schemas.openxmlformats.org/officeDocument/2006/relationships/notesSlide" Target="/ppt/notesSlides/notesSlide1.xml" Id="R57b0e1e738c542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04bd900434d55" /><Relationship Type="http://schemas.openxmlformats.org/officeDocument/2006/relationships/notesSlide" Target="/ppt/notesSlides/notesSlide2.xml" Id="R6be1423a742e49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24eee790546fd" /><Relationship Type="http://schemas.openxmlformats.org/officeDocument/2006/relationships/notesSlide" Target="/ppt/notesSlides/notesSlide3.xml" Id="R9c76eb5c373444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d09cdcf3c4245" /><Relationship Type="http://schemas.openxmlformats.org/officeDocument/2006/relationships/notesSlide" Target="/ppt/notesSlides/notesSlide4.xml" Id="Rf0d950ef731c4a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6c705032f4dd0" /><Relationship Type="http://schemas.openxmlformats.org/officeDocument/2006/relationships/notesSlide" Target="/ppt/notesSlides/notesSlide5.xml" Id="R5c32776abf3b46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8bc0766a2474e" /><Relationship Type="http://schemas.openxmlformats.org/officeDocument/2006/relationships/notesSlide" Target="/ppt/notesSlides/notesSlide6.xml" Id="R23962ee5a53a40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a8daa973f41ae" /><Relationship Type="http://schemas.openxmlformats.org/officeDocument/2006/relationships/chart" Target="/ppt/slides/charts/chart1.xml" Id="Rca10e788dbc043ce" /><Relationship Type="http://schemas.openxmlformats.org/officeDocument/2006/relationships/notesSlide" Target="/ppt/notesSlides/notesSlide7.xml" Id="Ra42706ff9a0240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2dc6f2ef14797" /><Relationship Type="http://schemas.openxmlformats.org/officeDocument/2006/relationships/notesSlide" Target="/ppt/notesSlides/notesSlide8.xml" Id="R20176107ade042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b18d0645f435b" /><Relationship Type="http://schemas.openxmlformats.org/officeDocument/2006/relationships/notesSlide" Target="/ppt/notesSlides/notesSlide9.xml" Id="R9cd9f21fe8dc4a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fc990d7df46c8" /><Relationship Type="http://schemas.openxmlformats.org/officeDocument/2006/relationships/notesSlide" Target="/ppt/notesSlides/notesSlide10.xml" Id="Re519657da4074a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8c33e5b5c459c" /><Relationship Type="http://schemas.openxmlformats.org/officeDocument/2006/relationships/notesSlide" Target="/ppt/notesSlides/notesSlide11.xml" Id="Raf1b774bdf6042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bbfc5575b4a10" /><Relationship Type="http://schemas.openxmlformats.org/officeDocument/2006/relationships/chart" Target="/ppt/slides/charts/chart2.xml" Id="R08c3f79f1ac54b94" /><Relationship Type="http://schemas.openxmlformats.org/officeDocument/2006/relationships/notesSlide" Target="/ppt/notesSlides/notesSlide12.xml" Id="Rcb152e1cb74a4e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9c9ee8a7146a1" /><Relationship Type="http://schemas.openxmlformats.org/officeDocument/2006/relationships/chart" Target="/ppt/slides/charts/chart3.xml" Id="Rda6429ebcaee4841" /><Relationship Type="http://schemas.openxmlformats.org/officeDocument/2006/relationships/notesSlide" Target="/ppt/notesSlides/notesSlide13.xml" Id="R874e3da7aaed43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d57db7b3e4091" /><Relationship Type="http://schemas.openxmlformats.org/officeDocument/2006/relationships/notesSlide" Target="/ppt/notesSlides/notesSlide14.xml" Id="Rbdfb26a9f4b44c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f0f7dacf54d57" /><Relationship Type="http://schemas.openxmlformats.org/officeDocument/2006/relationships/notesSlide" Target="/ppt/notesSlides/notesSlide15.xml" Id="R29aeeb05f0134038" /></Relationships>
</file>

<file path=ppt/slides/charts/chart1.xml><?xml version="1.0" encoding="utf-8"?>
<c:chartSpace xmlns:c="http://schemas.openxmlformats.org/drawingml/2006/chart">
  <c:lang val="en-US"/>
  <c:roundedCorners val="1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SAM — the three bounded services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 b="0" i="0" u="none">
              <a:solidFill>
                <a:srgbClr val="10233F"/>
              </a:solidFill>
              <a:latin typeface="Cambria"/>
              <a:ea typeface="Cambria"/>
              <a:cs typeface="Cambria"/>
            </a:defRPr>
          </a:pPr>
        </a:p>
      </c:tx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act value ($M)</c:v>
                </c:pt>
              </c:strCache>
            </c:strRef>
          </c:tx>
          <c:spPr>
            <a:solidFill xmlns:a="http://schemas.openxmlformats.org/drawingml/2006/main">
              <a:srgbClr val="1B3A63"/>
            </a:solidFill>
          </c:spPr>
          <c:dLbls>
            <c:numFmt formatCode="$#,##0&quot;M&quot;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00" b="0" i="0" u="none">
                    <a:solidFill>
                      <a:srgbClr val="10233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Wills + mandates
~200,000 acts</c:v>
                </c:pt>
                <c:pt idx="1">
                  <c:v>Refinancing
~50,000 acts</c:v>
                </c:pt>
                <c:pt idx="2">
                  <c:v>Procurations
~50,000 acts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</c:v>
                </c:pt>
                <c:pt idx="1">
                  <c:v>100</c:v>
                </c:pt>
                <c:pt idx="2">
                  <c:v>14.75</c:v>
                </c:pt>
              </c:numCache>
            </c:numRef>
          </c:val>
        </c:ser>
        <c:dLbls>
          <c:numFmt formatCode="$#,##0&quot;M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 b="0" i="0" u="none">
                  <a:solidFill>
                    <a:srgbClr val="10233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 b="0" i="0" u="none">
                <a:solidFill>
                  <a:srgbClr val="46536B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2"/>
        <c:crosses val="autoZero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roundedCorners val="1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GMV and net revenue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 b="0" i="0" u="none">
              <a:solidFill>
                <a:srgbClr val="10233F"/>
              </a:solidFill>
              <a:latin typeface="Cambria"/>
              <a:ea typeface="Cambria"/>
              <a:cs typeface="Cambria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 ($000)</c:v>
                </c:pt>
              </c:strCache>
            </c:strRef>
          </c:tx>
          <c:spPr>
            <a:solidFill xmlns:a="http://schemas.openxmlformats.org/drawingml/2006/main">
              <a:srgbClr val="DDE5EF"/>
            </a:solidFill>
          </c:spPr>
          <c:invertIfNegative val="0"/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Y1 2026-27</c:v>
                </c:pt>
                <c:pt idx="1">
                  <c:v>Y2 2027-28</c:v>
                </c:pt>
                <c:pt idx="2">
                  <c:v>Y3 2028-29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258</c:v>
                </c:pt>
                <c:pt idx="1">
                  <c:v>3220</c:v>
                </c:pt>
                <c:pt idx="2">
                  <c:v>15950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Net revenue ($000)</c:v>
                </c:pt>
              </c:strCache>
            </c:strRef>
          </c:tx>
          <c:spPr>
            <a:solidFill xmlns:a="http://schemas.openxmlformats.org/drawingml/2006/main">
              <a:srgbClr val="E5A13A"/>
            </a:solidFill>
            <a:ln xmlns:a="http://schemas.openxmlformats.org/drawingml/2006/main" w="50800">
              <a:solidFill>
                <a:srgbClr val="E5A13A"/>
              </a:solidFill>
              <a:prstDash val="solid"/>
            </a:ln>
          </c:spPr>
          <c:marker>
            <c:symbol val="circle"/>
            <c:size val="11"/>
            <c:spPr>
              <a:solidFill xmlns:a="http://schemas.openxmlformats.org/drawingml/2006/main">
                <a:srgbClr val="E5A13A"/>
              </a:solidFill>
              <a:ln xmlns:a="http://schemas.openxmlformats.org/drawingml/2006/main" w="9525">
                <a:solidFill>
                  <a:srgbClr val="E5A13A"/>
                </a:solidFill>
                <a:prstDash val="solid"/>
              </a:ln>
            </c:spPr>
          </c:marker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Y1 2026-27</c:v>
                </c:pt>
                <c:pt idx="1">
                  <c:v>Y2 2027-28</c:v>
                </c:pt>
                <c:pt idx="2">
                  <c:v>Y3 2028-29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</c:v>
                </c:pt>
                <c:pt idx="1">
                  <c:v>322</c:v>
                </c:pt>
                <c:pt idx="2">
                  <c:v>1595</c:v>
                </c:pt>
              </c:numCache>
            </c:numRef>
          </c:val>
          <c:smooth val="0"/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rgbClr val="46536B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xmlns:a="http://schemas.openxmlformats.org/drawingml/2006/main" w="12700">
              <a:solidFill>
                <a:srgbClr val="E4EAF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pPr>
                  <a:buNone/>
                  <a:defRPr sz="1000" b="0" i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sz="1000" b="0" i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rPr>
                  <a:t>GMV ($000)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0" i="0" u="none">
                  <a:solidFill>
                    <a:srgbClr val="000000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748A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pPr>
                  <a:buNone/>
                  <a:defRPr sz="1000" b="0" i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sz="1000" b="0" i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rPr>
                  <a:t>Net revenue ($000)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0" i="0" u="none">
                  <a:solidFill>
                    <a:srgbClr val="000000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B87A17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3"/>
        <c:crosses val="autoZero"/>
        <c:lblAlgn val="ctr"/>
        <c:noMultiLvlLbl val="1"/>
      </c:cat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46536B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3.xml><?xml version="1.0" encoding="utf-8"?>
<c:chartSpace xmlns:c="http://schemas.openxmlformats.org/drawingml/2006/chart">
  <c:lang val="en-US"/>
  <c:roundedCorners val="1"/>
  <c:chart>
    <c:autoTitleDeleted val="1"/>
    <c:plotArea>
      <c:doughnutChart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 w="9525">
              <a:solidFill>
                <a:srgbClr val="F9F9F9"/>
              </a:solidFill>
              <a:prstDash val="solid"/>
            </a:ln>
          </c:spPr>
          <c:dPt>
            <c:idx val="0"/>
            <c:spPr>
              <a:solidFill xmlns:a="http://schemas.openxmlformats.org/drawingml/2006/main">
                <a:srgbClr val="10233F"/>
              </a:solidFill>
            </c:spPr>
          </c:dPt>
          <c:dPt>
            <c:idx val="1"/>
            <c:spPr>
              <a:solidFill xmlns:a="http://schemas.openxmlformats.org/drawingml/2006/main">
                <a:srgbClr val="E5A13A"/>
              </a:solidFill>
            </c:spPr>
          </c:dPt>
          <c:dPt>
            <c:idx val="2"/>
            <c:spPr>
              <a:solidFill xmlns:a="http://schemas.openxmlformats.org/drawingml/2006/main">
                <a:srgbClr val="1B3A63"/>
              </a:solidFill>
            </c:spPr>
          </c:dPt>
          <c:dPt>
            <c:idx val="3"/>
            <c:spPr>
              <a:solidFill xmlns:a="http://schemas.openxmlformats.org/drawingml/2006/main">
                <a:srgbClr val="4E6E96"/>
              </a:solidFill>
            </c:spPr>
          </c:dPt>
          <c:dPt>
            <c:idx val="4"/>
            <c:spPr>
              <a:solidFill xmlns:a="http://schemas.openxmlformats.org/drawingml/2006/main">
                <a:srgbClr val="2E7D6B"/>
              </a:solidFill>
            </c:spPr>
          </c:dPt>
          <c:dPt>
            <c:idx val="5"/>
            <c:spPr>
              <a:solidFill xmlns:a="http://schemas.openxmlformats.org/drawingml/2006/main">
                <a:srgbClr val="9AAABF"/>
              </a:solidFill>
            </c:spPr>
          </c:dPt>
          <c:dPt>
            <c:idx val="6"/>
            <c:spPr>
              <a:solidFill xmlns:a="http://schemas.openxmlformats.org/drawingml/2006/main">
                <a:srgbClr val="B87A17"/>
              </a:solidFill>
            </c:spPr>
          </c:dPt>
          <c:dPt>
            <c:idx val="7"/>
            <c:spPr>
              <a:solidFill xmlns:a="http://schemas.openxmlformats.org/drawingml/2006/main">
                <a:srgbClr val="C3CEDC"/>
              </a:solidFill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800" b="1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Founder salary</c:v>
                </c:pt>
                <c:pt idx="1">
                  <c:v>Client acquisition</c:v>
                </c:pt>
                <c:pt idx="2">
                  <c:v>Notary advisor</c:v>
                </c:pt>
                <c:pt idx="3">
                  <c:v>Design contract</c:v>
                </c:pt>
                <c:pt idx="4">
                  <c:v>Legal</c:v>
                </c:pt>
                <c:pt idx="5">
                  <c:v>Contingency</c:v>
                </c:pt>
                <c:pt idx="6">
                  <c:v>Notary acquisition</c:v>
                </c:pt>
                <c:pt idx="7">
                  <c:v>Infra &amp; tooling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96000</c:v>
                </c:pt>
                <c:pt idx="1">
                  <c:v>40000</c:v>
                </c:pt>
                <c:pt idx="2">
                  <c:v>25000</c:v>
                </c:pt>
                <c:pt idx="3">
                  <c:v>25000</c:v>
                </c:pt>
                <c:pt idx="4">
                  <c:v>20000</c:v>
                </c:pt>
                <c:pt idx="5">
                  <c:v>17000</c:v>
                </c:pt>
                <c:pt idx="6">
                  <c:v>15000</c:v>
                </c:pt>
                <c:pt idx="7">
                  <c:v>12000</c:v>
                </c:pt>
              </c:numCache>
            </c:numRef>
          </c:val>
        </c:ser>
        <c:firstSliceAng val="0"/>
        <c:holeSize val="52"/>
      </c:doughnutChart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46536B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29FC739-DF71-43D8-A188-99ECBE36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10820095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Nota</a:t>
            </a:r>
            <a:endParaRPr sz="7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71843FE-8D36-4494-A016-1098EE1F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8778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i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Pricing time in the Québec notarial market.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9560AC4-4734-4A0F-A30E-65AF6BEA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95097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450">
                <a:solidFill>
                  <a:srgbClr val="C3D2E6"/>
                </a:solidFill>
                <a:latin typeface="Calibri"/>
                <a:ea typeface="Calibri"/>
                <a:cs typeface="Calibri"/>
              </a:rPr>
              <a:t>Québec abolished mandatory notary tariffs in 1991. Thirty-five years later, no price discovery mechanism has ever existed.</a:t>
            </a:r>
            <a:endParaRPr sz="1450"/>
          </a:p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450">
                <a:solidFill>
                  <a:srgbClr val="C3D2E6"/>
                </a:solidFill>
                <a:latin typeface="Calibri"/>
                <a:ea typeface="Calibri"/>
                <a:cs typeface="Calibri"/>
              </a:rPr>
              <a:t>Nota is that mechanism — a public calendar where the market prices urgency.</a:t>
            </a:r>
            <a:endParaRPr sz="14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7907F41-FE34-43BA-8C06-646DDE59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2040"/>
            <a:ext cx="28346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3A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F829D72-F1C5-4915-A2DC-582C57CA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0640"/>
            <a:ext cx="7315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>Pre-seed · $250,000 CAD · 12 months</a:t>
            </a:r>
            <a:endParaRPr sz="125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>Anthony Paquet · anthonypaquet1508@gmail.com · August 2026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8554570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BC714DE-8E20-4ED4-9030-0A9CD0A9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A deregulated market that never got a price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B3B8557-6CCF-474B-8777-66410749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Fees have been free-floating since 1991. Discovery still happens by phone call.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A2D8FAD-5FBC-4761-B706-E6DB9943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27432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1991</a:t>
            </a:r>
            <a:endParaRPr sz="4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545E8B-65DD-4675-B9A8-710A014D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8024"/>
            <a:ext cx="2743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Mandatory notarial tariffs abolished. Every notary has set their own fees ever since.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3C8F52D-3876-40A5-9FEA-B16B54D0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91640"/>
            <a:ext cx="27432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~3,900</a:t>
            </a:r>
            <a:endParaRPr sz="4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42E0D44-37F1-4FFE-AFC6-702C1307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478024"/>
            <a:ext cx="2743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Practising notaries in Québec, each with unsold gaps in their calendar.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862EE37-67E7-4D8D-AA9E-CD068287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691640"/>
            <a:ext cx="27432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~50%</a:t>
            </a:r>
            <a:endParaRPr sz="4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DFC0EB9-85B2-43E6-9F74-5313A40B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478024"/>
            <a:ext cx="2743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of Québec adults have no will. Among 18–34 year-olds, about 70%.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224BFEE-7255-4DB6-97DD-9390D4F2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691640"/>
            <a:ext cx="21945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$0</a:t>
            </a:r>
            <a:endParaRPr sz="4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7DDCFA-F4DB-4F88-9160-D27795DE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478024"/>
            <a:ext cx="21945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spent by anyone, in 35 years, building the venue where these two meet.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D9B3864-BB00-4E33-9086-417CD3EA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095" cy="214884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1B3A63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9436EC0-A464-4765-85A7-0093F2DA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50">
                <a:solidFill>
                  <a:srgbClr val="E5A13A"/>
                </a:solidFill>
                <a:latin typeface="Calibri"/>
                <a:ea typeface="Calibri"/>
                <a:cs typeface="Calibri"/>
              </a:rPr>
              <a:t>The gap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EC807D7-877A-4CE0-864E-DEB0FE70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62272"/>
            <a:ext cx="9875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client who needs a signature next Tuesday cannot learn what next Tuesday costs.</a:t>
            </a:r>
            <a:endParaRPr sz="2100"/>
          </a:p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notary with an empty Tuesday has nowhere to sell it.</a:t>
            </a:r>
            <a:endParaRPr sz="2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F796521-FF07-421C-8364-A8B3FA24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49240"/>
            <a:ext cx="9875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AEC0D8"/>
                </a:solidFill>
                <a:latin typeface="Calibri"/>
                <a:ea typeface="Calibri"/>
                <a:cs typeface="Calibri"/>
              </a:rPr>
              <a:t>Real price dispersion. Real supply elasticity. Real demand urgency. No mechanism connecting any of it.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030181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8B0DB4B-7C90-4A59-8C22-D660FE10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Two sides, both stuck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8768E2-A9C8-47C1-B678-1F52C0C1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Neither can find the other, and neither can price the thing that actually varies: the date.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139A2FB-7D52-4347-9C02-130EDD49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532120" cy="4206240"/>
          </a:xfrm>
          <a:prstGeom xmlns:a="http://schemas.openxmlformats.org/drawingml/2006/main" prst="roundRect">
            <a:avLst>
              <a:gd name="adj" fmla="val 195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4D9FF3F-DDB3-45DD-97BE-C012DA36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28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The client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7D2F049-BAEF-4F68-AC26-A98454B7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286000"/>
            <a:ext cx="47548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Price discovery costs a sequence of phone calls during business hours.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Published ranges are wide — a will and mandate run 700–1,000 $ — and you learn where you land only after you call.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Urgency has no price. There is no way to pay to jump a three-week queue.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So the act does not happen. Half of Québec adults have no will.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7AD3798-F2AD-495E-98E9-D6224211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00200"/>
            <a:ext cx="5532120" cy="4206240"/>
          </a:xfrm>
          <a:prstGeom xmlns:a="http://schemas.openxmlformats.org/drawingml/2006/main" prst="roundRect">
            <a:avLst>
              <a:gd name="adj" fmla="val 195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0FE5E8-5EEE-4E39-AC17-BDB08F87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828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The notary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7B706B-2525-49E6-A968-3A42D38C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286000"/>
            <a:ext cx="47548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A hole in the calendar is unrecoverable inventory — it expires like an airline seat.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No channel exists to sell short-notice availability. A cancelled Thursday cannot be listed anywhere.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Client acquisition is referral and signage.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Buying leads is ineffective; sharing fees is prohibited by the Code de déontologie.</a:t>
            </a:r>
            <a:endParaRPr sz="13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39A1BC3-D3F3-4113-89C1-EC324F38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9320"/>
            <a:ext cx="108200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B87A17"/>
                </a:solidFill>
                <a:latin typeface="Cambria"/>
                <a:ea typeface="Cambria"/>
                <a:cs typeface="Cambria"/>
              </a:rPr>
              <a:t>Nota sells when, not what. Every alternative prices a document; Nota prices a date.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1256342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BB08D50-63A7-4211-B4A1-3DFA23A1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The mechanism: the market prices urgency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1D19C6B-9F76-4DA8-9F3B-C6DE8BFC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The client posts a date and an amount. The tier — and the premium — derive from how close that date is.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3240509-8858-46BB-AC8D-24898122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42A418C-6661-4BD0-8F4C-2A494E85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792224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93A7B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DB4A1EA-2CF9-47EA-BAB0-009D554F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792224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standard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7049E05-022D-4156-841D-C47E9103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45920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15+ days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0BE541D-10E4-49DC-9BC6-562FDAB3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45920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1.0× – 1.2×</a:t>
            </a:r>
            <a:endParaRPr sz="16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3DD1856-A5D7-4E4B-8591-C7131870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EFF5DBE-5F30-47C7-9B9E-225B6866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542032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7C93B5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F4C13F6-91EE-4C95-8F1C-2B4E2C27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542032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rapide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597FE62-DBF5-44B5-8834-DE1DD3A8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95728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8–14 days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812103D-05DD-4413-A681-170955EE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395728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1.2× – 1.5×</a:t>
            </a:r>
            <a:endParaRPr sz="16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CB8823C-5906-42FA-AE8B-C39FAC6B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5536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B4885D5-4D7A-4022-A2CB-F6DF3843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291840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5A13A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A44238C-56F5-45B7-9D4B-93783940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291840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prioritaire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145C745-7ECC-4C1F-83E3-E152C22D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45536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4–7 days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3084E6C-7995-408B-BBEF-9627618F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145536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1.6× – 2.2×</a:t>
            </a:r>
            <a:endParaRPr sz="16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7F79131-9A91-432D-8EBA-C19AB922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344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C965C99-8FB5-4623-B61A-9C77880D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041648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2802A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3728AC3-F38F-471C-B6D8-471712CC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041648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urgence</a:t>
            </a:r>
            <a:endParaRPr sz="1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7140D89-39AE-45FA-A947-051C3062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95344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2–3 days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589E17B-3854-4153-86D2-4B78648C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895344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D2802A"/>
                </a:solidFill>
                <a:latin typeface="Cambria"/>
                <a:ea typeface="Cambria"/>
                <a:cs typeface="Cambria"/>
              </a:rPr>
              <a:t>2.5× – 4.0×</a:t>
            </a:r>
            <a:endParaRPr sz="16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E0258EE-8CCF-4E7F-A1C8-A77DC15A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5152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0E5B7B4-61EC-49EC-A9FB-B26E847B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791456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A8453B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BE5D7C4-7790-44F6-AA14-CE35B36A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791456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extreme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396E8BE-3E6B-44D5-9629-57D8C132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45152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0–1 day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D9DD162-71F4-4ED7-9F5D-DC08D021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645152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A8453B"/>
                </a:solidFill>
                <a:latin typeface="Cambria"/>
                <a:ea typeface="Cambria"/>
                <a:cs typeface="Cambria"/>
              </a:rPr>
              <a:t>4.0× – 10.0×</a:t>
            </a:r>
            <a:endParaRPr sz="16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71935FB7-9BBB-4B4C-90D4-D1081E66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645920"/>
            <a:ext cx="4251960" cy="3749040"/>
          </a:xfrm>
          <a:prstGeom xmlns:a="http://schemas.openxmlformats.org/drawingml/2006/main" prst="roundRect">
            <a:avLst>
              <a:gd name="adj" fmla="val 2195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1B3A63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46384DF-FCE5-48B3-B96E-C9487FD5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74520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50">
                <a:solidFill>
                  <a:srgbClr val="E5A13A"/>
                </a:solidFill>
                <a:latin typeface="Calibri"/>
                <a:ea typeface="Calibri"/>
                <a:cs typeface="Calibri"/>
              </a:rPr>
              <a:t>Guardrails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78C0BF9-5345-4787-9C69-922A02B1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286000"/>
            <a:ext cx="356616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Floors. Every offer must clear a market-researched prix de départ per service.</a:t>
            </a:r>
            <a:endParaRPr sz="120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Hard 10× cap. A real auction, not a panic tax.</a:t>
            </a:r>
            <a:endParaRPr sz="120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Server-authoritative. The browser and the server load the same rules module, so the displayed price and the enforced price cannot drift.</a:t>
            </a:r>
            <a:endParaRPr sz="120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Anonymity default-on, enforced server-side.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005150F1-9C1D-4DD7-94FD-78279211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7840"/>
            <a:ext cx="108200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Three services at launch, each with a bounded intake a client can complete alone: testament + mandat (650 $) · procuration (295 $) · refinancement (2 000 $)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3646959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A61482C-DCEC-45C9-A9F7-4082C0A6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This raise does not fund a build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C329B28-D8CE-40FD-BF76-A98BD95F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EC0D8"/>
                </a:solidFill>
                <a:latin typeface="Calibri"/>
                <a:ea typeface="Calibri"/>
                <a:cs typeface="Calibri"/>
              </a:rPr>
              <a:t>The platform is written, tested and deployed. ~21,000 lines, built solo.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AC3703C-FCBC-4AD9-8154-F919AC0C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0BB0B5D-B6F5-4B0A-9564-AB1A4C81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Domain core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F77399A-CC8B-4075-A1DB-873F694A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Pure business rules — prices, tiers, cap, validation, dynamic pricing. Zero dependencies. Asserted by tests.</a:t>
            </a:r>
            <a:endParaRPr sz="11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2F69A34-30C7-45A6-B50C-BFF88297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BE8991F-7F46-4DF1-A8CC-DC1DBA4A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API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D4B5C80-C133-4E59-A2D2-0EE3BE4C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Lambda + single-table DynamoDB, hexagonal ports/adapters. Server revalidates every offer.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E20D9A-F8D6-4BA0-9548-58534732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74F95E1-5D8D-45D4-B488-4B55770C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Web app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887816F-760F-4FAB-B0AC-04CA81E0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Public carnet, offer flow, dossier intake, Québec map, notary console. Zero runtime dependencies.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47DF88A-A2CE-4B33-A280-10677415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1E05517-507F-48F0-9B0C-F04A00A8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Payments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5D82933-A311-4A89-B192-E2C67A94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Stripe — card authorized at post, captured on completion, connected accounts, reconciliation.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E066206-2AF3-4421-9BB0-CD72DDDA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DBE9C1A-EC2B-4EC4-8CD3-552C62FA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Notary side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424AF6A-3C71-474D-AE9C-A91A4B2B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Auth, sign-up gate, lead-delivery preferences, ICS calendar feed, earnings roll-up.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FFB4528-9ED1-4DDE-BE06-A68E2E30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12A3035-3E54-4175-8C7C-406759A2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Ops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E5752A9-70F5-48DF-B11B-8F35D4D8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Admin console, transactional email + scheduled reminders, analytics with drift healing.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76D68AA-1E0F-40C3-8257-1F2F4453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E802846-3B0C-4B59-9A7A-72C969C0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Infrastructure</a:t>
            </a:r>
            <a:endParaRPr sz="15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EA1EA02-3002-46FA-A2B2-5FAB40DD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Terraform: S3 + CloudFront OAC + IAM-authed Lambda + DynamoDB, live in ca-central-1. Idle cost ≈ $0.</a:t>
            </a:r>
            <a:endParaRPr sz="11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632F4C8-56EE-40AE-B2FC-CF255A1A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CF58DC9-BE45-4F18-B211-B7DBDA01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Quality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C4DAD47-9F2C-4069-8874-B09C5069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Unit, jsdom and Cucumber BDD suites. CI on every push. Seven architecture decision records.</a:t>
            </a:r>
            <a:endParaRPr sz="11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BCCEFEC-A79C-4860-9602-D5C56B14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9320"/>
            <a:ext cx="108200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8FA6C4"/>
                </a:solidFill>
                <a:latin typeface="Calibri"/>
                <a:ea typeface="Calibri"/>
                <a:cs typeface="Calibri"/>
              </a:rPr>
              <a:t>Law 25 compliance is designed in, not bolted on: Canadian data residency, anonymity default-on, consent at collection.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1867579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348BB69-95A9-4D52-B843-1EC23EB3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Why now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917488-B290-4D90-AFA0-6239834B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Five things converged, and none of them are under our control — which is the point.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A0D6A90-9D67-4F2C-9B3E-C920BD13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24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13A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91EC664-D428-4A09-84C1-45B81110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24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1A43A80-4E23-4A5B-8EDA-8691596E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62763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Remote acts became law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CA504F9-E955-476A-B642-8505729E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0934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Bill 34 made the acte notarié technologique permanent in October 2023. The rails exist and are sanctioned. We are not betting on legislation.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FD734DD-B5B0-467C-814C-ABC10CAD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117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335B082-B6E1-429F-87C6-D768AFA9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117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3517AF5-F7AA-499D-A4C7-E34C1646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49631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35 years of blind pricing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98A19EC-7645-48C9-810D-21947915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47802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Fees free since 1991, no discovery mechanism ever built. The gap does not close on its own.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4806552-6F85-4F57-8A65-22D6AFB0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85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4F5FD6F-4C9D-4DA1-87DD-66EED35B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85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4F9B929-0694-42F4-8638-D89B5A20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336499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The renewal wall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1F5C88D-F375-4084-9377-54F74B2A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34670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~1.2M Canadian fixed-rate mortgages renewing in 2025, driving volume into the highest-value service on the platform.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1D0A24B-348C-43BD-8A45-F882A4F2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853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72A73EC-B58E-4916-AC7D-71C15203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853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4208E0C-EC59-4CA3-B1EA-46AFDE17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423367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The wealth transfer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770F583-81EA-4B33-9EC3-B888A033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21538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The largest intergenerational transfer in Canadian history, against a population where half have no will.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4F8B84B-9A9B-4D00-8028-EC452FEF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721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082633A-A2CE-4FB4-A2F4-4A4735F3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721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F92690C-1482-4429-B137-87D3A4F6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510235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Access-to-justice pressure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FB4CB70-06AB-4339-A6D1-D6601AD5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508406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Notary coverage is uneven across the regions — and "distance from an available notary" is a statutorily recognised ground for signing remotely.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4350937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457779A-2B5D-4A9C-BC2F-82D3D4C5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Market — bottom up, Québec only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99C3D8-F69B-4B9E-926B-8764AE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Year 3 needs 3.7% of the addressable act volume. The plan does not require winning the market.</a:t>
            </a:r>
            <a:endParaRPr sz="1400"/>
          </a:p>
        </p:txBody>
      </p:sp>
      <p:graphicFrame>
        <p:nvGraphicFramePr>
          <p:cNvPr id="21" name="Chart 0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5943600" cy="30632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10e788dbc043ce"/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DECAB86-42AE-4091-AF38-19DA02F7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600200"/>
            <a:ext cx="5120640" cy="3063240"/>
          </a:xfrm>
          <a:prstGeom xmlns:a="http://schemas.openxmlformats.org/drawingml/2006/main" prst="roundRect">
            <a:avLst>
              <a:gd name="adj" fmla="val 268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7132C2-ED30-452F-BA88-CF146E16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1051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TAM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4BDBFEF-77C6-4907-BD4E-BBBAD0FF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28216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~$1.1–1.2B</a:t>
            </a:r>
            <a:endParaRPr sz="2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DC3BB29-9DCE-4D2C-B47A-B33DA840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30552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Annual professional fees billed by ~3,900 Québec notaries.</a:t>
            </a:r>
            <a:endParaRPr sz="11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CF26A46-A7CA-4B7F-811A-6A2BC5E1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89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SAM</a:t>
            </a:r>
            <a:endParaRPr sz="1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C0144A2-502D-4680-806B-F3E6A03E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6624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~$245M</a:t>
            </a:r>
            <a:endParaRPr sz="2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689597E-AD83-47B8-841B-0A08FE56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08960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~300,000 acts/year across the three bounded services.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635CA7A-259D-45E8-8CFA-76A2D7DD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67328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SOM (Y3)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1A512D5-B132-4A29-9E74-907B82B7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85032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11,000 acts</a:t>
            </a:r>
            <a:endParaRPr sz="2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E1765FE-9DD3-49C5-AEC5-0BAC6FE3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87368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3.7% of SAM volume · $16.0M GMV · $1.6M net revenue.</a:t>
            </a:r>
            <a:endParaRPr sz="11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68703F3-7147-4B7D-A3FF-D84AF343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6320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97E5AB3-932B-4240-9A46-B07F5061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01091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Beyond the three services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13F050A-EF7F-429C-87AC-53A09EDE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285232"/>
            <a:ext cx="10012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Residential closings alone run ~90,000 transactions a year in Québec at 1,500–3,500 $ — a single category larger than the entire current SAM. Beyond Québec, the civil-law notariat spans ~90 states of the International Union of Notaries, all built on the same instrument. That is where a 100× claim actually lives.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362486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5F1F191-8FBE-457A-8EEC-F9B320BD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Business model — and the constraint that shapes it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C2F3121-2C09-4734-B8D9-90F6C8FA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Québec's Code de déontologie forbids sharing a notary's professional fee with a non-notaire. That is a design input, not a footnote.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51BCB72-DFBB-4E15-9456-831DDB50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5532120" cy="3108960"/>
          </a:xfrm>
          <a:prstGeom xmlns:a="http://schemas.openxmlformats.org/drawingml/2006/main" prst="roundRect">
            <a:avLst>
              <a:gd name="adj" fmla="val 2647"/>
            </a:avLst>
          </a:prstGeom>
          <a:solidFill xmlns:a="http://schemas.openxmlformats.org/drawingml/2006/main">
            <a:srgbClr val="FBEDEB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9CE3F9A-03D0-4B5A-91C9-8D5990F9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920240"/>
            <a:ext cx="1828800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A8453B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5A8008A-881A-4A6F-A980-F69F8E03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920240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COMMISSION</a:t>
            </a:r>
            <a:endParaRPr sz="1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E7E0839-3AF4-4D4F-A900-D14E670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331720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A2E26"/>
                </a:solidFill>
                <a:latin typeface="Cambria"/>
                <a:ea typeface="Cambria"/>
                <a:cs typeface="Cambria"/>
              </a:rPr>
              <a:t>Deducted from the notary's fee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E93D682-ECA7-4CF3-B1CD-01077499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724912"/>
            <a:ext cx="47548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6B3029"/>
                </a:solidFill>
                <a:latin typeface="Calibri"/>
                <a:ea typeface="Calibri"/>
                <a:cs typeface="Calibri"/>
              </a:rPr>
              <a:t>Client pays 650 $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6B3029"/>
                </a:solidFill>
                <a:latin typeface="Calibri"/>
                <a:ea typeface="Calibri"/>
                <a:cs typeface="Calibri"/>
              </a:rPr>
              <a:t>Notary receives 585 $  (90%)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6B3029"/>
                </a:solidFill>
                <a:latin typeface="Calibri"/>
                <a:ea typeface="Calibri"/>
                <a:cs typeface="Calibri"/>
              </a:rPr>
              <a:t>Nota keeps 65 $ out of the notary's honoraires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0E426E5-4558-46CC-802C-8D009D4F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977640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 b="1">
                <a:solidFill>
                  <a:srgbClr val="A8453B"/>
                </a:solidFill>
                <a:latin typeface="Calibri"/>
                <a:ea typeface="Calibri"/>
                <a:cs typeface="Calibri"/>
              </a:rPr>
              <a:t>Textbook fee-sharing. Exposes every notary on the platform to a disciplinary complaint.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F7F7536-ED3D-4AEB-AE46-C2D1840A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5532120" cy="3108960"/>
          </a:xfrm>
          <a:prstGeom xmlns:a="http://schemas.openxmlformats.org/drawingml/2006/main" prst="roundRect">
            <a:avLst>
              <a:gd name="adj" fmla="val 2647"/>
            </a:avLst>
          </a:prstGeom>
          <a:solidFill xmlns:a="http://schemas.openxmlformats.org/drawingml/2006/main">
            <a:srgbClr val="E9F3EF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9BADC05-4A62-4348-894C-05F764EA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1920240"/>
            <a:ext cx="2377440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2E7D6B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39C7938-4071-4410-AFC1-67A213AB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1920240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CLIENT-SIDE FEE</a:t>
            </a:r>
            <a:endParaRPr sz="1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3F2DD81-31EC-4FBA-A005-C501C0EA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331720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D5648"/>
                </a:solidFill>
                <a:latin typeface="Cambria"/>
                <a:ea typeface="Cambria"/>
                <a:cs typeface="Cambria"/>
              </a:rPr>
              <a:t>Charged on top, for Nota's own service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34BA8CC-BBB2-4C62-9FFA-6951BAFA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724912"/>
            <a:ext cx="47548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23524A"/>
                </a:solidFill>
                <a:latin typeface="Calibri"/>
                <a:ea typeface="Calibri"/>
                <a:cs typeface="Calibri"/>
              </a:rPr>
              <a:t>Client pays 650 $ + 65 $ service fee = 715 $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23524A"/>
                </a:solidFill>
                <a:latin typeface="Calibri"/>
                <a:ea typeface="Calibri"/>
                <a:cs typeface="Calibri"/>
              </a:rPr>
              <a:t>Notary receives 650 $  (100%)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23524A"/>
                </a:solidFill>
                <a:latin typeface="Calibri"/>
                <a:ea typeface="Calibri"/>
                <a:cs typeface="Calibri"/>
              </a:rPr>
              <a:t>Nota is paid by the client for sourcing, dossier assembly and the transaction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B9030CD-0164-496A-B09A-462DBFFD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3977640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 b="1">
                <a:solidFill>
                  <a:srgbClr val="2E7D6B"/>
                </a:solidFill>
                <a:latin typeface="Calibri"/>
                <a:ea typeface="Calibri"/>
                <a:cs typeface="Calibri"/>
              </a:rPr>
              <a:t>Identical unit economics. No share of any professional fee. Exposure disappears.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B4F7FFA-642C-411F-84F2-F3546C06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3480"/>
            <a:ext cx="10820095" cy="109728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1B3A63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4298FC8-F443-4468-8A12-3390BD6F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138928"/>
            <a:ext cx="100126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A US or rest-of-Canada entrant will not know this constraint exists. $20,000 of this round buys a written déontologie opinion and structured engagement with the Chambre before the first live act — which is both the largest risk retired and a genuine competitive asset.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8122074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51C8CE8-3160-43FD-A552-5766622D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Phase 1 — the price of time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54B795-5E64-4683-A17C-69A6DA9A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Prove that a time-priced notarial marketplace clears, in one city, with real money.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D3AE25D-66B1-4D1E-BE50-72C6A52D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3657600" cy="4114800"/>
          </a:xfrm>
          <a:prstGeom xmlns:a="http://schemas.openxmlformats.org/drawingml/2006/main" prst="roundRect">
            <a:avLst>
              <a:gd name="adj" fmla="val 2250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1B3A63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0792D01-2C36-4B5F-865F-AC406701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2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Québec City</a:t>
            </a:r>
            <a:endParaRPr sz="2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9A63484-5DFA-4975-923A-F8CEB59A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286000"/>
            <a:ext cx="2926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E5A13A"/>
                </a:solidFill>
                <a:latin typeface="Calibri"/>
                <a:ea typeface="Calibri"/>
                <a:cs typeface="Calibri"/>
              </a:rPr>
              <a:t>~850,000 people</a:t>
            </a:r>
            <a:endParaRPr sz="1400"/>
          </a:p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E5A13A"/>
                </a:solidFill>
                <a:latin typeface="Calibri"/>
                <a:ea typeface="Calibri"/>
                <a:cs typeface="Calibri"/>
              </a:rPr>
              <a:t>~400 notaries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B588F91-BED1-4360-8E14-A92B99C5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17520"/>
            <a:ext cx="29260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Chosen over Montréal on purpose: small enough that a solo founder can meet a material share of local supply in person, dense enough to reach liquidity.</a:t>
            </a:r>
            <a:endParaRPr sz="12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B94FAF5-ED85-4C81-A61A-332E491D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343400"/>
            <a:ext cx="29260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 i="1">
                <a:solidFill>
                  <a:srgbClr val="E5A13A"/>
                </a:solidFill>
                <a:latin typeface="Calibri"/>
                <a:ea typeface="Calibri"/>
                <a:cs typeface="Calibri"/>
              </a:rPr>
              <a:t>Supply joins free, with no card. The only thing a notary risks by signing up is nothing.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C51A6EE-A160-4A2F-9276-396BE208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45920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348DB6F-A266-4A97-AAF8-C79C1C1F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645920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87A17"/>
                </a:solidFill>
                <a:latin typeface="Cambria"/>
                <a:ea typeface="Cambria"/>
                <a:cs typeface="Cambria"/>
              </a:rPr>
              <a:t>M1–2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81093E6-EA5A-4BF6-8693-CA3982D1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645920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Déontologie restructure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1215F5F-60E8-49EA-B570-C5C6E656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645920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Client-side fee, billing refactor, written legal opinion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FD62A51-0A1E-440E-B8A5-2C068710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645920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2E7D6B"/>
                </a:solidFill>
                <a:latin typeface="Calibri"/>
                <a:ea typeface="Calibri"/>
                <a:cs typeface="Calibri"/>
              </a:rPr>
              <a:t>Opinion on file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6C021D4-91F0-4EDA-8F6B-02B65D66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670048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DA78A73-F1F2-4AF8-86CC-E4D7878B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70048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87A17"/>
                </a:solidFill>
                <a:latin typeface="Cambria"/>
                <a:ea typeface="Cambria"/>
                <a:cs typeface="Cambria"/>
              </a:rPr>
              <a:t>M1–3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37355FF-85A2-4251-B653-C9A310A7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70048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Supply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0EB8979-0635-440F-BF39-F5CE079E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670048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30 Québec City notaries recruited in person, free to join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E917067-75E1-45C3-B5CC-E53FB762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2670048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2E7D6B"/>
                </a:solidFill>
                <a:latin typeface="Calibri"/>
                <a:ea typeface="Calibri"/>
                <a:cs typeface="Calibri"/>
              </a:rPr>
              <a:t>25+ notaries live</a:t>
            </a:r>
            <a:endParaRPr sz="1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1FA82A9-3908-4148-A0F9-549A9FE3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694176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5471044-A48E-4AAC-BA19-37F7F7C5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694176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87A17"/>
                </a:solidFill>
                <a:latin typeface="Cambria"/>
                <a:ea typeface="Cambria"/>
                <a:cs typeface="Cambria"/>
              </a:rPr>
              <a:t>M3–6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ED48DB9-0D85-4D9C-AF21-99AD453F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694176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Demand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590013C-2933-4B27-A0AA-BC74F303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694176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Carnet SEO, broker and planner referral partnerships, urgency-targeted paid search</a:t>
            </a:r>
            <a:endParaRPr sz="11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3C62DFF-9C58-4558-8022-086B4C46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3694176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2E7D6B"/>
                </a:solidFill>
                <a:latin typeface="Calibri"/>
                <a:ea typeface="Calibri"/>
                <a:cs typeface="Calibri"/>
              </a:rPr>
              <a:t>Fill rate &gt; 45%</a:t>
            </a:r>
            <a:endParaRPr sz="11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56F567B-76A0-4669-A7B1-8B16D4EA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718304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C7A2C68-CB63-4C2D-9CA7-C71B9673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718304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87A17"/>
                </a:solidFill>
                <a:latin typeface="Cambria"/>
                <a:ea typeface="Cambria"/>
                <a:cs typeface="Cambria"/>
              </a:rPr>
              <a:t>M6–12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6A14AE3-2FAC-4B2D-840B-E65A1895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718304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Liquidity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5C01A64-FE4A-43D4-80AD-DBBA98ED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718304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Tighten time-to-retain, publish the urgency curve, extend to Lévis and Saguenay</a:t>
            </a:r>
            <a:endParaRPr sz="11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1068CD1-D9C0-4D01-B332-D8C727F2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4718304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2E7D6B"/>
                </a:solidFill>
                <a:latin typeface="Calibri"/>
                <a:ea typeface="Calibri"/>
                <a:cs typeface="Calibri"/>
              </a:rPr>
              <a:t>Fill rate &gt; 60%</a:t>
            </a:r>
            <a:endParaRPr sz="11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DA5319E-06B3-4C7C-B65B-E880E91A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0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B87A17"/>
                </a:solidFill>
                <a:latin typeface="Cambria"/>
                <a:ea typeface="Cambria"/>
                <a:cs typeface="Cambria"/>
              </a:rPr>
              <a:t>The asset Phase 1 produces is not revenue — it is the only dataset of realised price × days-to-date × act type in Québec. Nobody can reconstruct it without running the same market for the same year.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8651236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08D2A68-DDBA-47AD-97C8-ED834CBA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Phase 2 — models improve with the notary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E94C78-2C32-418A-86AC-38C7B85C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EC0D8"/>
                </a:solidFill>
                <a:latin typeface="Calibri"/>
                <a:ea typeface="Calibri"/>
                <a:cs typeface="Calibri"/>
              </a:rPr>
              <a:t>User behavior reveals friction… notary feedback qualifies the next model version.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7C8BEC5-B970-4BA2-B045-2F57A9C2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7632"/>
            <a:ext cx="534924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1B3A63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E0CB8E6-5D9D-4055-B1EC-DC2D42F4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810512"/>
            <a:ext cx="4480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8FA6C4"/>
                </a:solidFill>
                <a:latin typeface="Calibri"/>
                <a:ea typeface="Calibri"/>
                <a:cs typeface="Calibri"/>
              </a:rPr>
              <a:t>USER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46C6B6A-4265-449E-B3AD-7235E5B8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139696"/>
            <a:ext cx="44805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600"/>
              </a:lnSpc>
              <a:buNone/>
            </a:pPr>
            <a:r>
              <a:rPr sz="19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Client behavior reveals questions, friction and outcomes.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8E966E7-3885-4359-A4BE-3799DA9A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627632"/>
            <a:ext cx="534924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E4A3F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FBDADC3-456F-40E8-BFF3-A49F46F1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1810512"/>
            <a:ext cx="4480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7FC9B0"/>
                </a:solidFill>
                <a:latin typeface="Calibri"/>
                <a:ea typeface="Calibri"/>
                <a:cs typeface="Calibri"/>
              </a:rPr>
              <a:t>NOTA MODEL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A90152E-55AC-47EA-AAAB-AE3BB207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139696"/>
            <a:ext cx="448056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6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tested version turns those signals into clearer intake, checks and dossier preparation.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54B013F-3CD6-4CA4-8274-C02AC3BB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4760"/>
            <a:ext cx="108200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E5A13A"/>
                </a:solidFill>
                <a:latin typeface="Calibri"/>
                <a:ea typeface="Calibri"/>
                <a:cs typeface="Calibri"/>
              </a:rPr>
              <a:t>NOTARY REVIEW → QUALIFIED RELEASE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80D1526-AB00-42DC-AD2C-F5B2C5EB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820095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30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The notary accepts, corrects or rejects the proposed preparation. Nota evaluates the change offline, releases a small canary and keeps a rollback path. Live client behavior never silently changes a legal conclusion or model weights.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525BF6D-35F4-4762-91D5-3105193D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6360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3A2C12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AFB364D-C39F-409C-B6FB-B5F0C065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321808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TWO WAYS TO PARTICIPATE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5AC26AF-52BA-40DF-BD25-B07C3760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303520"/>
            <a:ext cx="76200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F0DCB8"/>
                </a:solidFill>
                <a:latin typeface="Calibri"/>
                <a:ea typeface="Calibri"/>
                <a:cs typeface="Calibri"/>
              </a:rPr>
              <a:t>A feedback partner shares structured reviews for potential equity, subject to written terms and professional review. A paid user chooses a monthly AI plan without joining the contribution program. The notary remains responsible for advice, decisions and signing.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1485879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317F87A-E74B-4B26-887D-45B7F4FA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Competition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F858611-0B8E-44D2-9E95-DB4D8258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Every participant prices a document. Nota prices a date.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60F7FEB-4A34-4B7F-A3D1-90FBB364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72768"/>
            <a:ext cx="2651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2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Who</a:t>
            </a:r>
            <a:endParaRPr sz="10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7267C24-4557-4702-8153-A80BFB6A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57276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2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What they do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6355A00-F92D-49F7-8784-06007D54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572768"/>
            <a:ext cx="38221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2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Where Nota differs</a:t>
            </a:r>
            <a:endParaRPr sz="10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7496F30-5074-4E07-AF74-B3C86C8E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1952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4EF954E-9F44-4E86-B283-BC673FF4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01952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Notairo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556CE9C-FDB6-454B-ADFE-04B4B76F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01952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Digital preparation of real-estate closings; final signature in person.</a:t>
            </a:r>
            <a:endParaRPr sz="1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F58E8A8-19AA-4101-AC27-DEDEC7C1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901952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Workflow software for one act type. Fixed pricing, no marketplace, no time-based discovery.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55F2EC8-352D-4DD7-BCAE-4FEE58D9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1488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40865B3-4415-4479-957D-194DA36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761488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Nolos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D1B0569-E379-4EA0-85EC-58B1F962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761488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Online notarised wills, ~21 service points in Québec.</a:t>
            </a:r>
            <a:endParaRPr sz="11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7F0DCEB-03DC-4673-9BB6-C2B9140D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761488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A distribution chain with fixed prices — not a market. No notary-side liquidity.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D03FBAC-44A9-44F6-871A-660FE173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1024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16467AC-39D4-4CE6-B3E5-AA6B8503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21024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Neolegal / ScriptaLegal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D2E4B9A-839E-4823-9AB5-3195C87D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21024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Online legal documents with notarial add-ons.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D4D2E75-66A9-4CB4-959A-69296AC5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621024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Document-first and price-fixed. They do not sell notary availability.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690D3FA-BD3E-4E5E-973F-6063B2E8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0560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2FDD57B-9ECB-4AD3-BF00-D4A5FE7E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80560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Traditional practice</a:t>
            </a:r>
            <a:endParaRPr sz="12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07C9EEB-A423-49FC-9966-F33108BB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480560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Phone, referral, signage.</a:t>
            </a:r>
            <a:endParaRPr sz="11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3E7652D-3CAC-4E0E-B03B-27BB4CD4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480560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The real competitor. Nota wins by pricing time, which the phone cannot do.</a:t>
            </a:r>
            <a:endParaRPr sz="11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7E413E5-DC6D-4FFC-A311-B14FD0D5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0096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158ADBB-AB9D-4FE7-85D4-2AC04A0A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340096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US remote-notarisation platforms</a:t>
            </a:r>
            <a:endParaRPr sz="12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6B56FEB-C6E9-45A2-BA52-1A14F155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340096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High-volume RON for common-law notaries public.</a:t>
            </a:r>
            <a:endParaRPr sz="11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5BFB2B1-4513-4913-9FEE-0B3ECB54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5340096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Structurally cannot enter. A Québec notaire is a civil-law public officer, and their commission model is illegal here.</a:t>
            </a:r>
            <a:endParaRPr sz="11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15F2E51-EF4E-418F-8C03-CE28DD53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3640"/>
            <a:ext cx="1082009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Defensibility, honestly ranked: the urgency price curve (requires running the market to obtain) · the notary network (slow, in-person) · the déontologie-safe structure with an opinion on file · the art. 46 compliance layer. None are patents. All are years.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8242432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D28889D-1BF2-43F3-93B2-73E619F0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Financial trajectory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2A936E5-660B-497B-ADFF-4BB1382C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Year 1 is a proof-of-liquidity year, and the model says so rather than pretending otherwise.</a:t>
            </a:r>
            <a:endParaRPr sz="1400"/>
          </a:p>
        </p:txBody>
      </p:sp>
      <p:graphicFrame>
        <p:nvGraphicFramePr>
          <p:cNvPr id="50" name="Chart 0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6217920" cy="3200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c3f79f1ac54b94"/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F85BD31-95DA-4F79-8B1F-51A51507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627632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1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9F370BB-3F0C-4636-A4A5-F39AE7E8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62763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Y1</a:t>
            </a:r>
            <a:endParaRPr sz="11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AFE96B9-19E5-46B7-A14D-3F3C6825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62763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Y2</a:t>
            </a:r>
            <a:endParaRPr sz="11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80E7ED5-5A1B-4A49-8209-82E0B212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162763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Y3</a:t>
            </a:r>
            <a:endParaRPr sz="11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89C0D9E-F687-46D7-8443-4BB78CD7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29968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37AC405-880B-44FA-B845-821B5914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029968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Notaries</a:t>
            </a:r>
            <a:endParaRPr sz="11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E9C7C3E-8376-4733-9D3F-C95CAE18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2996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30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4BA9A74-CA27-416D-A821-7655EB01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02996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220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4630220-1979-406B-BA50-8D0D23D9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02996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700</a:t>
            </a:r>
            <a:endParaRPr sz="11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09ECAEB-370F-4092-86DA-C4DE8224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32304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D8AA8B6-FEAB-4CF9-8BAC-19365402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432304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Fill rate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B54C369-7FF5-4EA0-B13D-98FA9BFD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43230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56%</a:t>
            </a:r>
            <a:endParaRPr sz="11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51A9ACD-3CA8-4D6D-9DDF-B3872A13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43230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57%</a:t>
            </a:r>
            <a:endParaRPr sz="11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621CC00-844E-45DE-BDD0-6B7F76E4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43230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62%</a:t>
            </a:r>
            <a:endParaRPr sz="11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0BC2FD80-3C79-45F4-99F3-74BFA199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34640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7BF0F81-B1C3-47E6-9994-FB6CA5B5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834640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Acts completed</a:t>
            </a:r>
            <a:endParaRPr sz="11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6214AAC-BB72-481B-ADB4-38E135D2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834640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244</a:t>
            </a:r>
            <a:endParaRPr sz="11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8C29E74-3AB5-490A-9208-A41FB24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834640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2,800</a:t>
            </a:r>
            <a:endParaRPr sz="11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75DD949-9E8B-4339-B6E9-F78F77F5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834640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11,000</a:t>
            </a:r>
            <a:endParaRPr sz="11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88FEFE85-44B8-4B71-B244-77FCC611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36976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D2845BAE-198C-424C-B0DA-39BF9C47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236976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GMV</a:t>
            </a:r>
            <a:endParaRPr sz="115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452F1E7D-50BD-4946-A293-11A5342C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236976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$258K</a:t>
            </a:r>
            <a:endParaRPr sz="11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FBFA894-2FCF-43B3-A628-076C8735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3236976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$3.22M</a:t>
            </a:r>
            <a:endParaRPr sz="11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B9CF752-D348-4215-A57D-DC7CA430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236976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$15.95M</a:t>
            </a:r>
            <a:endParaRPr sz="11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3BF7C591-3299-4AE9-9895-F5BF11F9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9312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76A7100-9FDA-4B0E-81B2-53696C7F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639312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Net revenue</a:t>
            </a:r>
            <a:endParaRPr sz="11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725E0082-DD70-4EDF-B807-0A7BD604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63931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$25.8K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7A89BA34-97F9-4E55-8ECC-30635C3B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363931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$322K</a:t>
            </a:r>
            <a:endParaRPr sz="11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4E6957C4-2450-4855-9A33-F826A34E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63931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$1.60M</a:t>
            </a:r>
            <a:endParaRPr sz="11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B1EC5B96-811B-4AD4-8BD6-A07BA166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41648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2D41F47F-7E92-4FD5-8161-9131254E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041648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Gross margin</a:t>
            </a:r>
            <a:endParaRPr sz="115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1DB3B65C-3ADC-4865-BEAB-37D3E7DD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04164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89%</a:t>
            </a:r>
            <a:endParaRPr sz="11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0C163167-E8DA-44AC-9477-BCA2D4E0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404164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90%</a:t>
            </a:r>
            <a:endParaRPr sz="11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8B4194DD-BB74-4154-B474-EE6EFB42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04164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91%</a:t>
            </a:r>
            <a:endParaRPr sz="115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48995FA9-E5BC-483B-87E7-96CA50A5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43984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2850FAD8-849E-4E1D-BDC7-68E87EE3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443984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Net income</a:t>
            </a:r>
            <a:endParaRPr sz="115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AA36B4F1-075E-46D6-96AF-6D030D96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44398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($227K)</a:t>
            </a:r>
            <a:endParaRPr sz="115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A402BEA-9A88-4833-82E2-C89B890A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444398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($430K)</a:t>
            </a:r>
            <a:endParaRPr sz="115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D4DBF410-0084-49F6-B6E8-9561DB16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44398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($391K)</a:t>
            </a:r>
            <a:endParaRPr sz="1150"/>
          </a:p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907268C4-64F8-4165-8DFF-3D96669A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3480"/>
            <a:ext cx="10820095" cy="141732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CC1BBC68-8570-458A-B5C1-CD959E18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138928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Unit economics</a:t>
            </a:r>
            <a:endParaRPr sz="110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5C93C36-1446-4982-B4BE-F79E521F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413248"/>
            <a:ext cx="10012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Gross profit per act rises $94 → $133 as the act catalogue widens. Client CAC falls $164 → $40 as carnet SEO and zero-CAC referral channels compound, turning a ($70) Y1 contribution into +$93 by Y3. On the supply side, a notary costs ~$500 to recruit and returns ~$2,071 a year — LTV/CAC ≈ 12×, payback inside five acts. Cumulative capital to Y3: ~$1.05M.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462217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49A0598-F04F-4FAE-AE88-0331E431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Use of funds — $250,000 over 12 months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46A94FE-9135-44A7-AD80-2A112B96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Average burn ~$20,800/month. Legal is front-loaded on purpose: the déontologie opinion unblocks everything else.</a:t>
            </a:r>
            <a:endParaRPr sz="1400"/>
          </a:p>
        </p:txBody>
      </p:sp>
      <p:graphicFrame>
        <p:nvGraphicFramePr>
          <p:cNvPr id="41" name="Chart 0"/>
          <p:cNvGraphicFramePr/>
          <p:nvPr/>
        </p:nvGraphicFramePr>
        <p:xfrm>
          <a:off xmlns:a="http://schemas.openxmlformats.org/drawingml/2006/main" x="548640" y="1554480"/>
          <a:ext xmlns:a="http://schemas.openxmlformats.org/drawingml/2006/main" cx="5394960" cy="39319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6429ebcaee4841"/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0C817FD-1AD0-476D-84E3-56246599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6916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DF399B7-E163-4285-AEE3-21F357BB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16916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Founder salary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BD22B94-39A5-4228-9DEE-779CAA0E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916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$96,000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0065ECA-98D7-4913-B945-D423AA50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16916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8,000/mo. Below market — this round buys focus.</a:t>
            </a:r>
            <a:endParaRPr sz="10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2BF90CF-99D4-4E7E-AC93-7CC529B6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1488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04EC172-ECC4-4A31-9C7B-C799DA1E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21488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Client acquisition</a:t>
            </a:r>
            <a:endParaRPr sz="1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2D8C35A-E561-4368-9D05-2EDB7E6F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1488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$40,000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3B706B-3466-4751-A596-8EBD1A4E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21488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Paid search, content, partnership build-out.</a:t>
            </a:r>
            <a:endParaRPr sz="10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C62660CA-1071-4C8F-8214-A16E6451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6060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8574015-7AD8-4F8C-8B32-E6EAFA5E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26060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Notary advisor</a:t>
            </a:r>
            <a:endParaRPr sz="12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14B3449-76F0-4AD7-A363-BC687127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6060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$25,000</a:t>
            </a:r>
            <a:endParaRPr sz="1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3DB6934-8C52-47FE-82CB-18CF3C74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26060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Part-time practising notary. Credibility and correctness.</a:t>
            </a:r>
            <a:endParaRPr sz="10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D259622-653D-4236-9EF2-1828658F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632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9B6EFEF-64E6-4F48-BF6B-433250E5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0632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Design contract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529A749-3287-45C1-BDB3-39C0E495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0632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$25,000</a:t>
            </a:r>
            <a:endParaRPr sz="12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D46A749-68DF-43E2-AE43-0CF8BD32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0632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~3 months part-time front-end.</a:t>
            </a:r>
            <a:endParaRPr sz="10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41B1EB64-5FF3-4480-AC59-6C896DF5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5204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83DA7C3-B280-413E-AE74-BB569BBB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5204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Legal</a:t>
            </a:r>
            <a:endParaRPr sz="12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CA0FF0E-C2D6-40B3-B1F8-DE436E0D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5204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$20,000</a:t>
            </a:r>
            <a:endParaRPr sz="12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3F18566-CD90-4F3F-8300-B523F817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5204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Déontologie opinion, Chambre, incorporation, Law 25.</a:t>
            </a:r>
            <a:endParaRPr sz="105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CB6C806-7B28-4604-8901-778EB369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9776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CEE9F21-BCBF-487A-ADC0-61FA1143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9776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Contingency</a:t>
            </a:r>
            <a:endParaRPr sz="12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F9F09D4-9A78-4551-9129-64BE06B6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9776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$17,000</a:t>
            </a:r>
            <a:endParaRPr sz="12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859753D4-FE64-409F-9960-07170DDF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9776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~7%.</a:t>
            </a:r>
            <a:endParaRPr sz="10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0FBAB6C-D9C2-4456-B06C-159FDFF4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4348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0A06E869-5782-40CC-BE4C-8DF01EBB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44348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Notary acquisition</a:t>
            </a:r>
            <a:endParaRPr sz="12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015B83A-C254-4C3E-89EE-6F3496EB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4348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$15,000</a:t>
            </a:r>
            <a:endParaRPr sz="12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6068E9E-8459-409C-8000-312B6561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44348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Field sales, congrès, travel.</a:t>
            </a:r>
            <a:endParaRPr sz="10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DB2CADBD-C29E-43CC-9905-037F2536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8920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EEA3EFA6-5574-4FEE-90E6-61B6C36E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48920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Infra &amp; tooling</a:t>
            </a:r>
            <a:endParaRPr sz="12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11D6D2F1-C7F7-4D84-A09B-05B41123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8920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$12,000</a:t>
            </a:r>
            <a:endParaRPr sz="12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EE430709-999E-45A2-A670-42F50D4D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48920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Serverless keeps this small.</a:t>
            </a:r>
            <a:endParaRPr sz="10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B458342F-24AB-44B1-B882-D45C437C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486400"/>
            <a:ext cx="53766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 i="1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Non-dilutive stacking: refundable SR&amp;ED and Québec R&amp;D wage credits are modelled at zero and treated as runway extension (~2–3 months), not budgeted revenue.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971458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17A6EA-F334-4AF7-9FD9-E718ABFA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What has to be true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409A2A8-7DDE-48FF-846B-899799A5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Three assumptions carry the model. Each has a named falsification test — and all three resolve inside this round.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2109E42-0F30-4B02-B3E0-500BF75D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DF4E6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5E1D66E-1303-42F5-8FC3-4393F9A7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122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13A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D4B04F7-002E-40A9-B557-1562CDAF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1226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DCD3212-3D11-48DF-A87F-9F98FCC7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874520"/>
            <a:ext cx="4206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7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Clients pay a premium for a date</a:t>
            </a:r>
            <a:endParaRPr sz="17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38231B2-DCB7-4F89-8075-1F686257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74520"/>
            <a:ext cx="3703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Realised premium distribution by tier. If urgence and extreme bids do not clear above standard, the core thesis is wrong.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769317E-3A42-45C2-A2CB-08A07872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121408"/>
            <a:ext cx="118872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A13A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228704F-C871-4A61-A57F-15DC742E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121408"/>
            <a:ext cx="1188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Month 6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99045AC-C4A0-4173-AE50-FA80F4B4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1528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F9438F7-F8FF-4318-B57E-A1102979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50215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445A6C3-8B4A-4689-82D7-1AA99ABC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50215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90E24C7-AB57-4ABF-BEB0-B02CA687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264408"/>
            <a:ext cx="4206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7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Notaries sell short-notice availability</a:t>
            </a:r>
            <a:endParaRPr sz="17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2BE3D0-3260-4AC0-8A55-F9358161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3703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Fill rate on the prioritaire and urgence tiers specifically, not blended.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46D74EC-2912-45BA-AE8B-AF811AE2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3511296"/>
            <a:ext cx="118872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684D81A-28A8-4A05-9234-62E184D1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3511296"/>
            <a:ext cx="1188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Month 5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3A84CCB-C8E1-4EB7-8C43-D906227B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1416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0785D60-CA01-48C0-A975-F6220F9C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9204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18247F1-10B5-47D4-B38B-357A6AB9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9204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2A5C37A-8E3D-40AD-8150-5024070D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654296"/>
            <a:ext cx="4206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7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The client-side fee is déontologie-safe</a:t>
            </a:r>
            <a:endParaRPr sz="1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11B106C-9821-4C53-981A-336ED119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654296"/>
            <a:ext cx="3703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A written legal opinion from Québec counsel, with structured Chambre engagement.</a:t>
            </a:r>
            <a:endParaRPr sz="12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2D3BEB3-91C4-464C-AB49-BC40F838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4901184"/>
            <a:ext cx="118872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E7D6B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867D536-3C6C-447A-880B-AA95567B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4901184"/>
            <a:ext cx="1188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Month 2</a:t>
            </a:r>
            <a:endParaRPr sz="11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24D1677-AC45-49C7-9FD5-777805E7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0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B87A17"/>
                </a:solidFill>
                <a:latin typeface="Cambria"/>
                <a:ea typeface="Cambria"/>
                <a:cs typeface="Cambria"/>
              </a:rPr>
              <a:t>That is the argument for the round size. $250,000 is enough to confirm or refute the entire thesis, and not a dollar is spent building something that has not been validated.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8924372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A7CF233-8D1E-4C41-BFB3-7BD2D226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09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ask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319DD0F-31D8-4303-952E-6076DF48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0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E5A13A"/>
                </a:solidFill>
                <a:latin typeface="Calibri"/>
                <a:ea typeface="Calibri"/>
                <a:cs typeface="Calibri"/>
              </a:rPr>
              <a:t>$250,000 CAD pre-seed · 12 months · SAFE or convertible note with an angel lead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5FF1264-5BBD-4475-99CB-4CECE11F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08C1263-315C-4E81-B30B-5A12E702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3055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Legal footing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6FDBCB1-44D4-4EBE-92AE-C2BDD35E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5059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A déontologie-clean structure with a written opinion on file — the largest risk in the business, retired first.</a:t>
            </a:r>
            <a:endParaRPr sz="1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E70F441-DF45-4FD5-BEEB-22CADFC4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6596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DB7882A-05A1-494A-BCC8-53388256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13055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A working market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B7F850A-9C4E-4D12-A69D-DE262EC3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45059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30 notaries and functioning two-sided liquidity in Québec City.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41EF674-390D-4E17-BD85-74E2DB31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328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0729B67-1ECB-4637-ACC9-0D1189B1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4787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Proprietary data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5B1347A-3908-4A96-AFCB-B2A4F389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6791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244 completed acts and the first urgency price curve for the Québec notarial market. It does not otherwise exist.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BD6570C-2E2A-443D-936A-52A6C8CF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38328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F4DF116-F0B0-4243-B0C2-31E50BD2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54787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Phase 2 in reach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A0C50CB-3ED4-4F50-AFE6-DE10724E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86791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The art. 46 compliance layer shipped, making remote signing routine where the law already allows it.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60109-0193-4D86-8C63-61183FD0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6048"/>
            <a:ext cx="23774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3A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88285AB-2D80-4729-BC38-C6A0D30D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8928"/>
            <a:ext cx="85953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Québec deregulated notary fees in 1991 and never built a market.</a:t>
            </a:r>
            <a:endParaRPr sz="2100"/>
          </a:p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market is built. This funds finding out whether it clears.</a:t>
            </a:r>
            <a:endParaRPr sz="2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E555409-9859-4ABC-B3F8-CD9882E6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5212080"/>
            <a:ext cx="2377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800"/>
              </a:lnSpc>
              <a:buNone/>
            </a:pPr>
            <a:r>
              <a:rPr sz="120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>Anthony Paquet</a:t>
            </a:r>
            <a:endParaRPr sz="1200"/>
          </a:p>
          <a:p xmlns:a="http://schemas.openxmlformats.org/drawingml/2006/main">
            <a:pPr marL="0" indent="0" algn="r">
              <a:lnSpc>
                <a:spcPts val="1800"/>
              </a:lnSpc>
              <a:buNone/>
            </a:pPr>
            <a:r>
              <a:rPr sz="120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>anthonypaquet1508@gmail.com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49630729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2026-09-10T05:32:36.1110000Z</dcterms:created>
  <dcterms:modified xsi:type="dcterms:W3CDTF">2026-09-10T05:32:36.1110000Z</dcterms:modified>
</coreProperties>
</file>