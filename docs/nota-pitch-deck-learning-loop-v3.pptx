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03db2df3714825" /><Relationship Type="http://schemas.openxmlformats.org/officeDocument/2006/relationships/extended-properties" Target="/docProps/app.xml" Id="Re691fa6c80c046d8" /><Relationship Type="http://schemas.openxmlformats.org/officeDocument/2006/relationships/officeDocument" Target="/ppt/presentation.xml" Id="Rdc8feac3ce14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bff5e501b4cbd"/>
  </p:sldMasterIdLst>
  <p:notesMasterIdLst>
    <p:notesMasterId xmlns:r="http://schemas.openxmlformats.org/officeDocument/2006/relationships" r:id="R485e1ab5b01d49ba"/>
  </p:notesMasterIdLst>
  <p:sldIdLst>
    <p:sldId xmlns:r="http://schemas.openxmlformats.org/officeDocument/2006/relationships" id="256" r:id="Rc8584774ae1a4c8b"/>
    <p:sldId xmlns:r="http://schemas.openxmlformats.org/officeDocument/2006/relationships" id="257" r:id="R178b1bd03be04837"/>
    <p:sldId xmlns:r="http://schemas.openxmlformats.org/officeDocument/2006/relationships" id="258" r:id="R2eefc37ee0e24f6a"/>
    <p:sldId xmlns:r="http://schemas.openxmlformats.org/officeDocument/2006/relationships" id="259" r:id="Rfd68d2ab27364c7a"/>
    <p:sldId xmlns:r="http://schemas.openxmlformats.org/officeDocument/2006/relationships" id="260" r:id="Rbb9b3a21368a4705"/>
    <p:sldId xmlns:r="http://schemas.openxmlformats.org/officeDocument/2006/relationships" id="261" r:id="R2636c02d92b74e77"/>
    <p:sldId xmlns:r="http://schemas.openxmlformats.org/officeDocument/2006/relationships" id="262" r:id="Raf763545f7134ab9"/>
    <p:sldId xmlns:r="http://schemas.openxmlformats.org/officeDocument/2006/relationships" id="263" r:id="Rad6a359da4a4471e"/>
    <p:sldId xmlns:r="http://schemas.openxmlformats.org/officeDocument/2006/relationships" id="264" r:id="Rbc626827002946b7"/>
    <p:sldId xmlns:r="http://schemas.openxmlformats.org/officeDocument/2006/relationships" id="265" r:id="R59a876f5298c48e9"/>
    <p:sldId xmlns:r="http://schemas.openxmlformats.org/officeDocument/2006/relationships" id="266" r:id="R89b7886458c841ed"/>
    <p:sldId xmlns:r="http://schemas.openxmlformats.org/officeDocument/2006/relationships" id="267" r:id="R34aa4b61edd24c92"/>
    <p:sldId xmlns:r="http://schemas.openxmlformats.org/officeDocument/2006/relationships" id="268" r:id="Recef8d321bbc45db"/>
    <p:sldId xmlns:r="http://schemas.openxmlformats.org/officeDocument/2006/relationships" id="269" r:id="R5126cd38998d4ef7"/>
    <p:sldId xmlns:r="http://schemas.openxmlformats.org/officeDocument/2006/relationships" id="270" r:id="R1f4d308e456447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ffaddcc2849d1" /><Relationship Type="http://schemas.openxmlformats.org/officeDocument/2006/relationships/slideMaster" Target="/ppt/slideMasters/slideMaster1.xml" Id="R311bff5e501b4cbd" /><Relationship Type="http://schemas.openxmlformats.org/officeDocument/2006/relationships/notesMaster" Target="/ppt/notesMasters/notesMaster1.xml" Id="R485e1ab5b01d49ba" /><Relationship Type="http://schemas.openxmlformats.org/officeDocument/2006/relationships/presProps" Target="/ppt/presProps.xml" Id="R855da7c121c1487c" /><Relationship Type="http://schemas.openxmlformats.org/officeDocument/2006/relationships/viewProps" Target="/ppt/viewProps.xml" Id="R20c260a6fc3d44e9" /><Relationship Type="http://schemas.openxmlformats.org/officeDocument/2006/relationships/tableStyles" Target="/ppt/tableStyles.xml" Id="R1a4f4abcf2884604" /><Relationship Type="http://schemas.openxmlformats.org/officeDocument/2006/relationships/slide" Target="/ppt/slides/slide1.xml" Id="Rc8584774ae1a4c8b" /><Relationship Type="http://schemas.openxmlformats.org/officeDocument/2006/relationships/slide" Target="/ppt/slides/slide2.xml" Id="R178b1bd03be04837" /><Relationship Type="http://schemas.openxmlformats.org/officeDocument/2006/relationships/slide" Target="/ppt/slides/slide3.xml" Id="R2eefc37ee0e24f6a" /><Relationship Type="http://schemas.openxmlformats.org/officeDocument/2006/relationships/slide" Target="/ppt/slides/slide4.xml" Id="Rfd68d2ab27364c7a" /><Relationship Type="http://schemas.openxmlformats.org/officeDocument/2006/relationships/slide" Target="/ppt/slides/slide5.xml" Id="Rbb9b3a21368a4705" /><Relationship Type="http://schemas.openxmlformats.org/officeDocument/2006/relationships/slide" Target="/ppt/slides/slide6.xml" Id="R2636c02d92b74e77" /><Relationship Type="http://schemas.openxmlformats.org/officeDocument/2006/relationships/slide" Target="/ppt/slides/slide7.xml" Id="Raf763545f7134ab9" /><Relationship Type="http://schemas.openxmlformats.org/officeDocument/2006/relationships/slide" Target="/ppt/slides/slide8.xml" Id="Rad6a359da4a4471e" /><Relationship Type="http://schemas.openxmlformats.org/officeDocument/2006/relationships/slide" Target="/ppt/slides/slide9.xml" Id="Rbc626827002946b7" /><Relationship Type="http://schemas.openxmlformats.org/officeDocument/2006/relationships/slide" Target="/ppt/slides/slide10.xml" Id="R59a876f5298c48e9" /><Relationship Type="http://schemas.openxmlformats.org/officeDocument/2006/relationships/slide" Target="/ppt/slides/slide11.xml" Id="R89b7886458c841ed" /><Relationship Type="http://schemas.openxmlformats.org/officeDocument/2006/relationships/slide" Target="/ppt/slides/slide12.xml" Id="R34aa4b61edd24c92" /><Relationship Type="http://schemas.openxmlformats.org/officeDocument/2006/relationships/slide" Target="/ppt/slides/slide13.xml" Id="Recef8d321bbc45db" /><Relationship Type="http://schemas.openxmlformats.org/officeDocument/2006/relationships/slide" Target="/ppt/slides/slide14.xml" Id="R5126cd38998d4ef7" /><Relationship Type="http://schemas.openxmlformats.org/officeDocument/2006/relationships/slide" Target="/ppt/slides/slide15.xml" Id="R1f4d308e4564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fb2a262625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a035dd3bd74928" /><Relationship Type="http://schemas.openxmlformats.org/officeDocument/2006/relationships/notesMaster" Target="/ppt/notesMasters/notesMaster1.xml" Id="Rd133b4e8fff54f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e98aa2cc4543cf" /><Relationship Type="http://schemas.openxmlformats.org/officeDocument/2006/relationships/notesMaster" Target="/ppt/notesMasters/notesMaster1.xml" Id="Rdd087c1ccdae44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b36bfb38e94909" /><Relationship Type="http://schemas.openxmlformats.org/officeDocument/2006/relationships/notesMaster" Target="/ppt/notesMasters/notesMaster1.xml" Id="R3aa5f290d74744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0fd71dadab49c7" /><Relationship Type="http://schemas.openxmlformats.org/officeDocument/2006/relationships/notesMaster" Target="/ppt/notesMasters/notesMaster1.xml" Id="R8c91255802484f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c93b5de0c84216" /><Relationship Type="http://schemas.openxmlformats.org/officeDocument/2006/relationships/notesMaster" Target="/ppt/notesMasters/notesMaster1.xml" Id="R9c042333ca484c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fdf2ced3324f87" /><Relationship Type="http://schemas.openxmlformats.org/officeDocument/2006/relationships/notesMaster" Target="/ppt/notesMasters/notesMaster1.xml" Id="R7214675a603a43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04ddd398ee404d" /><Relationship Type="http://schemas.openxmlformats.org/officeDocument/2006/relationships/notesMaster" Target="/ppt/notesMasters/notesMaster1.xml" Id="Rbcb43b75c7474a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effa2b4cd140e4" /><Relationship Type="http://schemas.openxmlformats.org/officeDocument/2006/relationships/notesMaster" Target="/ppt/notesMasters/notesMaster1.xml" Id="Ra781d85dfcf6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84649075a04734" /><Relationship Type="http://schemas.openxmlformats.org/officeDocument/2006/relationships/notesMaster" Target="/ppt/notesMasters/notesMaster1.xml" Id="R7a6f745fc60e48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d176545864475d" /><Relationship Type="http://schemas.openxmlformats.org/officeDocument/2006/relationships/notesMaster" Target="/ppt/notesMasters/notesMaster1.xml" Id="R878870be282449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ae33bd7c444858" /><Relationship Type="http://schemas.openxmlformats.org/officeDocument/2006/relationships/notesMaster" Target="/ppt/notesMasters/notesMaster1.xml" Id="Rbc0f823d33fa4c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59efbdc5554b57" /><Relationship Type="http://schemas.openxmlformats.org/officeDocument/2006/relationships/notesMaster" Target="/ppt/notesMasters/notesMaster1.xml" Id="R8dc16173c8fb4f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3e728005804407" /><Relationship Type="http://schemas.openxmlformats.org/officeDocument/2006/relationships/notesMaster" Target="/ppt/notesMasters/notesMaster1.xml" Id="Rc8b7ee9ae39146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be9398c2a34f18" /><Relationship Type="http://schemas.openxmlformats.org/officeDocument/2006/relationships/notesMaster" Target="/ppt/notesMasters/notesMaster1.xml" Id="R90383665512c40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5a371f0f8140ce" /><Relationship Type="http://schemas.openxmlformats.org/officeDocument/2006/relationships/notesMaster" Target="/ppt/notesMasters/notesMaster1.xml" Id="R796c9634ca05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Québec deregulated notary fees in 1991 and never built a market. The product is already built and deployed. This round funds finding out whether it clears.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insight: deregulation without a market. Fees are legally free but structurally blind.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two-sided failure. The punchline is the last line: nobody sells time.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is derived from days-to-date. Floors and the 10x cap live in the domain package and are asserted by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pre-seed money funds the possibility that a team can build the thing. Here the thing is built. The money buys 12 months of undivided attention on distribution.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Bill 34 point is the most important: the legal rails already exist, which removes years and hundreds of thousands from Phase 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CNQ Registre des dispositions testamentaires (215,576 registrations 2017-18), CMHC renewal data, APCIQ 90,369 residential sales 2024.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this in the room. The current code implements the commission model and flags itself. Fixing it before launch is milestone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governs Phase 1: fill rate. Below 40% the market is not clearing; above 60% the flywheel is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2 is the controlled learning loop. Aggregated user behavior identifies friction; the notary supplies the high-confidence correction; Nota evaluates an offline version, runs a small canary and keeps rollback. Participation is voluntary: structured feedback may receive potential equity under a separate agreement, or the notary may pay monthly for the software without joining the contribution program. This is capacity support, not replacement, and every professional decision remains with the notary.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US-platform row matters: it explains why a well-funded American entrant is not the threat people assume.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Y3 = 3.7% of addressable act volume. Series A trigger is exiting Y2 at a $300-500K ARR run-rate with province-wide liquidity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 9-12 follow-on: IQ's Fonds Impulsion invests $250K-1M but requires a lead investor and an accelerator referral. Securing an angel lead here is the bridge.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Investors reward founders who name their own kill criteria. Lead with this if the room is skeptical.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founder point: the platform is built, tested and deployed. This buys twelve months of undivided attention on the parts code cannot solve.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13194a7d441a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c87a9d37724b79" /><Relationship Type="http://schemas.openxmlformats.org/officeDocument/2006/relationships/slideLayout" Target="/ppt/slideLayouts/slideLayout1.xml" Id="Rd0ea2bca3176427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a2bca3176427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d24a6a7a04b8c" /><Relationship Type="http://schemas.openxmlformats.org/officeDocument/2006/relationships/notesSlide" Target="/ppt/notesSlides/notesSlide1.xml" Id="R31734bc92186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f35f4631e4a80" /><Relationship Type="http://schemas.openxmlformats.org/officeDocument/2006/relationships/notesSlide" Target="/ppt/notesSlides/notesSlide2.xml" Id="R6689f87bc44145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688c3f4be442a" /><Relationship Type="http://schemas.openxmlformats.org/officeDocument/2006/relationships/notesSlide" Target="/ppt/notesSlides/notesSlide3.xml" Id="Rbbd80bb2950848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1e819439940ab" /><Relationship Type="http://schemas.openxmlformats.org/officeDocument/2006/relationships/notesSlide" Target="/ppt/notesSlides/notesSlide4.xml" Id="Rd0e96d766eda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b23070ab948fb" /><Relationship Type="http://schemas.openxmlformats.org/officeDocument/2006/relationships/notesSlide" Target="/ppt/notesSlides/notesSlide5.xml" Id="Rff1c1e39850642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5faf3e50e4990" /><Relationship Type="http://schemas.openxmlformats.org/officeDocument/2006/relationships/notesSlide" Target="/ppt/notesSlides/notesSlide6.xml" Id="R416e184af1324e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15fd7dc4f4878" /><Relationship Type="http://schemas.openxmlformats.org/officeDocument/2006/relationships/chart" Target="/ppt/slides/charts/chart1.xml" Id="Ra8a498255bc44d52" /><Relationship Type="http://schemas.openxmlformats.org/officeDocument/2006/relationships/notesSlide" Target="/ppt/notesSlides/notesSlide7.xml" Id="R53e0c94f1ea84c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07638ed244ac0" /><Relationship Type="http://schemas.openxmlformats.org/officeDocument/2006/relationships/notesSlide" Target="/ppt/notesSlides/notesSlide8.xml" Id="R09da1df5e53747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ee9d96acd4c91" /><Relationship Type="http://schemas.openxmlformats.org/officeDocument/2006/relationships/notesSlide" Target="/ppt/notesSlides/notesSlide9.xml" Id="R574c763f0a7d4a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c4f9b84624120" /><Relationship Type="http://schemas.openxmlformats.org/officeDocument/2006/relationships/notesSlide" Target="/ppt/notesSlides/notesSlide10.xml" Id="R345a80f2041f42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4ca9c07df4058" /><Relationship Type="http://schemas.openxmlformats.org/officeDocument/2006/relationships/notesSlide" Target="/ppt/notesSlides/notesSlide11.xml" Id="R93aa64b411a14e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4046535aa469e" /><Relationship Type="http://schemas.openxmlformats.org/officeDocument/2006/relationships/chart" Target="/ppt/slides/charts/chart2.xml" Id="Rd57f46fc0d2f4965" /><Relationship Type="http://schemas.openxmlformats.org/officeDocument/2006/relationships/notesSlide" Target="/ppt/notesSlides/notesSlide12.xml" Id="Rd06667c1181c4b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341614ea5445c" /><Relationship Type="http://schemas.openxmlformats.org/officeDocument/2006/relationships/chart" Target="/ppt/slides/charts/chart3.xml" Id="R606721b960db40a8" /><Relationship Type="http://schemas.openxmlformats.org/officeDocument/2006/relationships/notesSlide" Target="/ppt/notesSlides/notesSlide13.xml" Id="Rf9b5cceb4c7c48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317ae1588487a" /><Relationship Type="http://schemas.openxmlformats.org/officeDocument/2006/relationships/notesSlide" Target="/ppt/notesSlides/notesSlide14.xml" Id="R7fb7882df58a45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30ecec11741bd" /><Relationship Type="http://schemas.openxmlformats.org/officeDocument/2006/relationships/notesSlide" Target="/ppt/notesSlides/notesSlide15.xml" Id="R0651e42448f24abe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SAM — the three bounded services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233F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 xmlns:a="http://schemas.openxmlformats.org/drawingml/2006/main">
              <a:srgbClr val="1B3A63"/>
            </a:solidFill>
          </c:spPr>
          <c:dLbls>
            <c:numFmt formatCode="$#,##0&quot;M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10233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0" i="0" u="none">
                  <a:solidFill>
                    <a:srgbClr val="10233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46536B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GMV and net revenue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233F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 xmlns:a="http://schemas.openxmlformats.org/drawingml/2006/main">
              <a:srgbClr val="DDE5EF"/>
            </a:solidFill>
          </c:spPr>
          <c:invertIfNegative val="0"/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 xmlns:a="http://schemas.openxmlformats.org/drawingml/2006/main">
              <a:srgbClr val="E5A13A"/>
            </a:solidFill>
            <a:ln xmlns:a="http://schemas.openxmlformats.org/drawingml/2006/main" w="50800">
              <a:solidFill>
                <a:srgbClr val="E5A13A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E5A13A"/>
              </a:solidFill>
              <a:ln xmlns:a="http://schemas.openxmlformats.org/drawingml/2006/main" w="9525">
                <a:solidFill>
                  <a:srgbClr val="E5A13A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46536B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4EA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GMV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748A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Net revenue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B87A17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  <c:lblAlgn val="ctr"/>
        <c:noMultiLvlLbl val="1"/>
      </c:cat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6536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 w="9525">
              <a:solidFill>
                <a:srgbClr val="F9F9F9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10233F"/>
              </a:solidFill>
            </c:spPr>
          </c:dPt>
          <c:dPt>
            <c:idx val="1"/>
            <c:spPr>
              <a:solidFill xmlns:a="http://schemas.openxmlformats.org/drawingml/2006/main">
                <a:srgbClr val="E5A13A"/>
              </a:solidFill>
            </c:spPr>
          </c:dPt>
          <c:dPt>
            <c:idx val="2"/>
            <c:spPr>
              <a:solidFill xmlns:a="http://schemas.openxmlformats.org/drawingml/2006/main">
                <a:srgbClr val="1B3A63"/>
              </a:solidFill>
            </c:spPr>
          </c:dPt>
          <c:dPt>
            <c:idx val="3"/>
            <c:spPr>
              <a:solidFill xmlns:a="http://schemas.openxmlformats.org/drawingml/2006/main">
                <a:srgbClr val="4E6E96"/>
              </a:solidFill>
            </c:spPr>
          </c:dPt>
          <c:dPt>
            <c:idx val="4"/>
            <c:spPr>
              <a:solidFill xmlns:a="http://schemas.openxmlformats.org/drawingml/2006/main">
                <a:srgbClr val="2E7D6B"/>
              </a:solidFill>
            </c:spPr>
          </c:dPt>
          <c:dPt>
            <c:idx val="5"/>
            <c:spPr>
              <a:solidFill xmlns:a="http://schemas.openxmlformats.org/drawingml/2006/main">
                <a:srgbClr val="9AAABF"/>
              </a:solidFill>
            </c:spPr>
          </c:dPt>
          <c:dPt>
            <c:idx val="6"/>
            <c:spPr>
              <a:solidFill xmlns:a="http://schemas.openxmlformats.org/drawingml/2006/main">
                <a:srgbClr val="B87A17"/>
              </a:solidFill>
            </c:spPr>
          </c:dPt>
          <c:dPt>
            <c:idx val="7"/>
            <c:spPr>
              <a:solidFill xmlns:a="http://schemas.openxmlformats.org/drawingml/2006/main">
                <a:srgbClr val="C3CEDC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1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6536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714FE5-7843-4ABE-992B-6AEFA0B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10820095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Nota</a:t>
            </a:r>
            <a:endParaRPr sz="7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5EAEB8-4D26-47F2-ACE5-8D633B4A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8778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i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Pricing time in the Québec notarial market.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6764E7-886F-42B9-BC43-2FE8288E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509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Québec abolished mandatory notary tariffs in 1991. Thirty-five years later, no price discovery mechanism has ever existed.</a:t>
            </a:r>
            <a:endParaRPr sz="145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Nota is that mechanism — a public calendar where the market prices urgency.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D74B56-94D2-4742-9B05-4512013D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28346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D6A152-41D1-46F5-875B-6B9F949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Pre-seed · $250,000 CAD · 12 months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 Paquet · anthonypaquet1508@gmail.com · August 2026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43166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025720-8CD8-423B-AEB5-B69D0AE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A deregulated market that never got a price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A18BD1-E6D8-4B31-8C7A-71482EBD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Fees have been free-floating since 1991. Discovery still happens by phone call.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EF80D5-29CE-4EAB-81D7-447AF89A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1991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E67AB50-1C36-47AE-9606-D74AAB2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Mandatory notarial tariffs abolished. Every notary has set their own fees ever since.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53B8A7-E15A-47D0-93C0-69F9BC1C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~3,900</a:t>
            </a:r>
            <a:endParaRPr sz="4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25F356-813C-41FE-AAF5-77F0EE8B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Practising notaries in Québec, each with unsold gaps in their calendar.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39B2CD6-00DB-462D-9DEB-99501B1E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~50%</a:t>
            </a:r>
            <a:endParaRPr sz="4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F9A592-8D19-4BA6-BCC1-69366053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of Québec adults have no will. Among 18–34 year-olds, about 70%.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C06B8FE-4166-43C9-8BBE-23D20F32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91640"/>
            <a:ext cx="21945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$0</a:t>
            </a:r>
            <a:endParaRPr sz="4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D28B23A-1912-4C78-BBE0-8D1B3B8B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478024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spent by anyone, in 35 years, building the venue where these two meet.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1B8A56A-9650-4FCE-AE26-743A6B4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0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FBE02C-4884-4FE3-9948-8A54A398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The gap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D934644-A4AD-4402-86F1-5B0E8784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2272"/>
            <a:ext cx="9875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who needs a signature next Tuesday cannot learn what next Tuesday costs.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notary with an empty Tuesday has nowhere to sell it.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F6076D-FA6A-4011-B8A2-9A1BC735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Real price dispersion. Real supply elasticity. Real demand urgency. No mechanism connecting any of it.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247023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781BFC8-E6F7-4D7C-B973-D57A3E52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Two sides, both stuck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02177E-D96C-4B47-911A-FB5A4E6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Neither can find the other, and neither can price the thing that actually varies: the date.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F71A72-83F2-4FE4-8EC5-59C7EFD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AD1FA5-60C4-4841-AF4F-2FFD2623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client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CC5B5B-A34A-4EBB-9837-6F2065DB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Price discovery costs a sequence of phone calls during business hours.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Published ranges are wide — a will and mandate run 700–1,000 $ — and you learn where you land only after you call.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Urgency has no price. There is no way to pay to jump a three-week queue.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So the act does not happen. Half of Québec adults have no will.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5E77736-595A-4138-AC35-0ECF67F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0971F4-1352-4359-B282-15CD149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notary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05E2D0C-0D38-4F16-A375-7815F90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A hole in the calendar is unrecoverable inventory — it expires like an airline seat.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No channel exists to sell short-notice availability. A cancelled Thursday cannot be listed anywhere.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Client acquisition is referral and signage.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Buying leads is ineffective; sharing fees is prohibited by the Code de déontologie.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028342-8104-4B0F-A8A5-07324F9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Nota sells when, not what. Every alternative prices a document; Nota prices a date.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22482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FF4D4F-A954-4EBC-A04A-55B6047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mechanism: the market prices urgency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4E1A53-7FE7-4458-A900-A2F94F1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The client posts a date and an amount. The tier — and the premium — derive from how close that date is.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A31005-B574-46A2-A544-2037DC7F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630C080-00FF-47C2-A938-C068B61F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93A7B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AF3DE3-64F8-4D4B-9BAE-BC02D28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B0A283-A881-4B4A-BBEC-B5C257C0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45920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15+ days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6552560-C8B8-44C7-A41A-296914D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1.0× – 1.2×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F932287-75FD-4E26-A9E4-BFCC3E9B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DDCA0D-D3C7-4BD4-9D47-F6E9BF8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C93B5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8FAC3A-2E2F-49C9-AEA3-B5DC6CFB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rapide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FD798F-5F3E-491A-848E-931DC8F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95728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8–14 days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985FF0-33CB-40CF-8D77-9ACF1563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1.2× – 1.5×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807101-3FBD-4EC3-A94A-C038F3B1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5536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C45BA8D-9087-421C-904D-89DF073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5C575D3-3D69-454F-A9BA-B9B38CA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prioritaire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E0C3F96-1123-4C81-BB4B-72303513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5536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4–7 days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215BE8A-D2EE-47C3-8200-CD1D72CB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45536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1.6× – 2.2×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A1313BC-0DE9-47B6-B2F5-ABF699D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344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2918131-541B-4B65-B83F-A013F86A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2802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369E54D-A15E-432B-BDBD-E444C443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urgence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063D40-6697-45FF-A11A-140611C3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344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2–3 days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7D1000-EC68-4EA3-BEDC-83BB5C8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5344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D2802A"/>
                </a:solidFill>
                <a:latin typeface="Cambria"/>
                <a:ea typeface="Cambria"/>
                <a:cs typeface="Cambria"/>
              </a:rPr>
              <a:t>2.5× – 4.0×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3710ED4-BED7-4D70-9C46-28316D80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5152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1C0004F-4A0C-41D2-8B11-97869DD7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A8453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48FB9EF-3C33-448A-8588-8773F22E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extreme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E225A0D-81BF-4BD1-8A7B-387BF35F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515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0–1 day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77CF0CE-A0C5-4051-AFBA-08BB550E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45152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A8453B"/>
                </a:solidFill>
                <a:latin typeface="Cambria"/>
                <a:ea typeface="Cambria"/>
                <a:cs typeface="Cambria"/>
              </a:rPr>
              <a:t>4.0× – 10.0×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9638473-01B3-4712-8D4F-B2C040F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45920"/>
            <a:ext cx="4251960" cy="3749040"/>
          </a:xfrm>
          <a:prstGeom xmlns:a="http://schemas.openxmlformats.org/drawingml/2006/main" prst="roundRect">
            <a:avLst>
              <a:gd name="adj" fmla="val 2195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894EBA0-4948-42AC-90C1-56C6037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Guardrails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17FA63C-CDFF-4F69-9A37-0361EB81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86000"/>
            <a:ext cx="3566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Floors. Every offer must clear a market-researched prix de départ per service.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Hard 10× cap. A real auction, not a panic tax.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Server-authoritative. The browser and the server load the same rules module, so the displayed price and the enforced price cannot drift.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Anonymity default-on, enforced server-side.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A702BD4-B4DD-4135-AACA-4F67EB93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Three services at launch, each with a bounded intake a client can complete alone: testament + mandat (650 $) · procuration (295 $) · refinancement (2 000 $)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82569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48EC96-F785-40EE-9272-A06FD65D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This raise does not fund a build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7C5287-09AF-42D8-BD23-989F036F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The platform is written, tested and deployed. ~21,000 lines, built solo.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30DD0DC-3296-4B06-B632-106C4C11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CF158E-759D-4D2D-B893-65E363AD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Domain core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68F9DF-89AC-4343-B8A4-A8FB3DF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Pure business rules — prices, tiers, cap, validation, dynamic pricing. Zero dependencies. Asserted by tests.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F13797E-D616-4786-B2A5-DFECA16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C5CCAD-8202-4D90-B371-EBE3D7DB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API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ED163B4-8C2B-4349-A1C4-CA5DCF85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Lambda + single-table DynamoDB, hexagonal ports/adapters. Server revalidates every offer.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43D9F95-26EE-4D44-A4B2-6969321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F17FAD-CB32-41F8-AE94-21DAEFB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Web app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D634A04-FB72-4E05-8F98-4F8C65C6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Public carnet, offer flow, dossier intake, Québec map, notary console. Zero runtime dependencies.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626D9DE-BC0D-46D1-831A-65148DA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2E257E-6C39-4C88-AE89-F9BE49D8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Payments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3C1E1FD-5FBD-4115-9D29-6CF1197C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Stripe — card authorized at post, captured on completion, connected accounts, reconciliation.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6E32D51-2CE7-4565-A3ED-7D5B5734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B0D4BB-60A9-442A-9541-984DD8E3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Notary side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5B3959-54E8-48DC-BC5C-3142A24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Auth, sign-up gate, lead-delivery preferences, ICS calendar feed, earnings roll-up.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DBDA814-0AA2-4FAB-BDE8-917A5D3B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DC27E53-CF7D-450E-8310-36D434A8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Ops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2AD71F4-E0EF-434D-83A1-C4F78710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Admin console, transactional email + scheduled reminders, analytics with drift healing.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0FA405C-FB17-4DE8-8BB8-A2F15E7C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83DEF74-6838-4BEB-B731-CC2FCFBB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Infrastructure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2479BE2-0431-4ADD-A41E-4400A61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Terraform: S3 + CloudFront OAC + IAM-authed Lambda + DynamoDB, live in ca-central-1. Idle cost ≈ $0.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CA35BCB-8492-4643-B202-82F505E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5441444-390A-41CA-8CDD-828AAB01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Quality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D54A0B-C762-4575-B8E4-D48EACF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Unit, jsdom and Cucumber BDD suites. CI on every push. Seven architecture decision records.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7DDA326-7A63-4E6E-8C4F-1582008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Law 25 compliance is designed in, not bolted on: Canadian data residency, anonymity default-on, consent at collection.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44105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5FBC60-97C3-4D29-AC9F-6E972C6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Why now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B2B735-EA5F-4268-8FBF-DB84AB8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Five things converged, and none of them are under our control — which is the point.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98762B-B1FB-4E77-98A0-A0CCAEC7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9561466-E81E-4090-B006-39372190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B150D3D-70E2-439F-A241-812380E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2763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Remote acts became law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95DDAFA-A3A9-463F-96F2-7152D61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934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Bill 34 made the acte notarié technologique permanent in October 2023. The rails exist and are sanctioned. We are not betting on legislation.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3C96E0F-8F38-4569-8797-B51832A9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8D92F8-5403-400A-9EDD-CD4E7DF3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B2D54B-FA85-465E-B16F-9DE03DDD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49631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35 years of blind pricing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E3A971E-BCF9-429D-B35C-16A574EE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7802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Fees free since 1991, no discovery mechanism ever built. The gap does not close on its own.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F8CEA16-29B0-4E9E-BB86-5E45883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0CBC54-EA4A-42F9-9E0C-9D3BE404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6BC1DF-E1F9-4815-818D-0D7C82B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36499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renewal wall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BE99B43-0AD9-4146-BA53-1890303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~1.2M Canadian fixed-rate mortgages renewing in 2025, driving volume into the highest-value service on the platform.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1A1DCA-DFC9-48EA-B45E-F1C7A4D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071C4B3-5356-44A6-9307-72BDACF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A3825D-1FC6-447A-9CC9-2F2C290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3367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wealth transfer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BA2E8EB-5E02-49F8-AF51-DCEF9725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1538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The largest intergenerational transfer in Canadian history, against a population where half have no will.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FAA0D9E-53CE-4ACA-9DD6-6B605105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3BE197E-98B1-4BBA-A14E-A4F14C40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884848D-2810-4A95-B35F-B42CCA4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10235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Access-to-justice pressure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7387917-B2CE-4A14-9689-7C7F62A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08406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Notary coverage is uneven across the regions — and "distance from an available notary" is a statutorily recognised ground for signing remotely.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1238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EC0528-671A-4FE3-ABD0-DD50A8B2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Market — bottom up, Québec only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CB8CC6-43B5-496C-AF77-D73266D4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Year 3 needs 3.7% of the addressable act volume. The plan does not require winning the market.</a:t>
            </a:r>
            <a:endParaRPr sz="1400"/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4360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a498255bc44d52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ECFA7AE-F22A-4DD1-89D7-6577858F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5120640" cy="3063240"/>
          </a:xfrm>
          <a:prstGeom xmlns:a="http://schemas.openxmlformats.org/drawingml/2006/main" prst="roundRect">
            <a:avLst>
              <a:gd name="adj" fmla="val 268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26695C5-3D79-44C6-B277-EFFCE31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051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TAM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882BC84-E515-407D-8835-62EBE2AD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8216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~$1.1–1.2B</a:t>
            </a:r>
            <a:endParaRPr sz="2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257C299-603B-4DAB-A29A-E1F817F7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0552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Annual professional fees billed by ~3,900 Québec notaries.</a:t>
            </a:r>
            <a:endParaRPr sz="11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7443E7-125F-46DB-BF20-0E688B76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9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SAM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38B52EF-391F-45EC-A15B-E48C8006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6624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~$245M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F77C875-CD93-49E7-B5BD-94FBA92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89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~300,000 acts/year across the three bounded services.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97378E8-3413-409E-A545-A17DD1D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SOM (Y3)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1A93FA8-1CE4-4D63-9648-7AE959B2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85032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11,000 acts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DFEB106-01F3-4AA4-9428-3B13F2FE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73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3.7% of SAM volume · $16.0M GMV · $1.6M net revenue.</a:t>
            </a:r>
            <a:endParaRPr sz="11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D987F1B-D963-4427-B340-C7706797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6DAB403-4541-4373-940B-71A81169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109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Beyond the three services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82F352C-6445-4C40-95D9-852B8391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285232"/>
            <a:ext cx="10012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Residential closings alone run ~90,000 transactions a year in Québec at 1,500–3,500 $ — a single category larger than the entire current SAM. Beyond Québec, the civil-law notariat spans ~90 states of the International Union of Notaries, all built on the same instrument. That is where a 100× claim actually lives.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05004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00362F-264D-47DC-AA20-D4A39DB9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Business model — and the constraint that shapes it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0591C2-A604-4D1A-86A1-DB5F7AC1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Québec's Code de déontologie forbids sharing a notary's professional fee with a non-notaire. That is a design input, not a footnote.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B06B00-6571-478D-9096-94577778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BEDEB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E08219-50FE-49AF-BE7D-4665D22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A8453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CC368F-7872-4864-A2A6-F7C07222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COMMISSION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6A909B-5FD6-47CF-B962-E3A604E3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A2E26"/>
                </a:solidFill>
                <a:latin typeface="Cambria"/>
                <a:ea typeface="Cambria"/>
                <a:cs typeface="Cambria"/>
              </a:rPr>
              <a:t>Deducted from the notary's fee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977FBB2-1C72-44D5-A897-0B762B1A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Client pays 650 $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Notary receives 585 $  (90%)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Nota keeps 65 $ out of the notary's honoraires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AF4D96-394A-4A49-9A10-0A8C4CE0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A8453B"/>
                </a:solidFill>
                <a:latin typeface="Calibri"/>
                <a:ea typeface="Calibri"/>
                <a:cs typeface="Calibri"/>
              </a:rPr>
              <a:t>Textbook fee-sharing. Exposes every notary on the platform to a disciplinary complaint.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B5E78E-22FA-4AD9-8AAC-CCC8FBB7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E9F3EF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22F445-DF55-4BAB-9F78-A2FFF682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E7D6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9E68668-44CC-4130-80E2-2CE44547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CLIENT-SIDE FEE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3DCC3EE-BEB7-45CB-A896-EAE0897D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D5648"/>
                </a:solidFill>
                <a:latin typeface="Cambria"/>
                <a:ea typeface="Cambria"/>
                <a:cs typeface="Cambria"/>
              </a:rPr>
              <a:t>Charged on top, for Nota's own service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6FF261E-C716-42ED-BA6D-791AEC5F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Client pays 650 $ + 65 $ service fee = 715 $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Notary receives 650 $  (100%)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Nota is paid by the client for sourcing, dossier assembly and the transaction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20EE53-60EC-48AD-9781-366ACD95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Identical unit economics. No share of any professional fee. Exposure disappears.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DF190D3-29C3-4C8B-A06D-68FFB3C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A28456B-6F2D-4702-B9D8-658E9C5B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10012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79276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BC16A83-5D9B-43A9-9879-844D3BA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Phase 1 — the price of time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A0793C-04CC-4B72-BCFE-B437CB12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Prove that a time-priced notarial marketplace clears, in one city, with real money.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FC1285B-C90A-4095-AD69-F8E13E84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657600" cy="4114800"/>
          </a:xfrm>
          <a:prstGeom xmlns:a="http://schemas.openxmlformats.org/drawingml/2006/main" prst="roundRect">
            <a:avLst>
              <a:gd name="adj" fmla="val 225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2C4C3E-259E-4FBA-9C05-DD95BC67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City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E58C86F-95A0-43B4-81BF-D51DBCFD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~850,000 people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~400 notaries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4D8E85E-E96F-4110-B0BE-885A2CC6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2926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Chosen over Montréal on purpose: small enough that a solo founder can meet a material share of local supply in person, dense enough to reach liquidity.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99B54EE-E56D-46D8-A038-716E9C88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 i="1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Supply joins free, with no card. The only thing a notary risks by signing up is nothing.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3E11880-F744-4508-8273-7D7E309B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04FC844-95CD-472E-9485-7C7BE0E5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45920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M1–2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01C78E-8D45-42EA-ABCE-9F437DD8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45920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Déontologie restructure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D3014A9-3917-45FA-9D3B-29CAFBB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45920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Client-side fee, billing refactor, written legal opinion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11DC7F-E522-4ED5-98A8-68215A2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45920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Opinion on file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51C1D-53FA-4ABB-A7F7-81D546C5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70048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07706B-3286-4756-A201-D99EAFC7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0048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M1–3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4230A0E-6C59-4FFB-A195-0B78A721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70048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Supply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29E58D-27B8-4A5E-AD5C-2A2BEDE5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670048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30 Québec City notaries recruited in person, free to join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11536D9-04F7-4163-87ED-CBAB3DA2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670048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25+ notaries live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125CDB6-33B4-42D2-AB15-E9728C21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7C75DA6-D410-41A0-B885-CC53E003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694176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M3–6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61629CF-369B-43EA-9E50-F3512DF1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4176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Demand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20FC760-6BDD-4A9E-ACD5-D58EEED3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94176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Carnet SEO, broker and planner referral partnerships, urgency-targeted paid search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09BEA81-F30C-4085-B7BB-7F2635A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694176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Fill rate &gt; 45%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33D0F72-4B75-4A03-A707-0CC324A0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718304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9A0515-B9B5-4635-B48D-84E2BD8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18304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M6–12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78CA89-FB5B-45DA-8CC6-7B70C5EF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718304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Liquidity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981C093-FB99-4ED4-AFA6-0B988D87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18304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Tighten time-to-retain, publish the urgency curve, extend to Lévis and Saguenay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70A575D-AFC3-4BF3-8B59-49D040F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718304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Fill rate &gt; 60%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47BD33C-9BFE-419A-8F43-72746F90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The asset Phase 1 produces is not revenue — it is the only dataset of realised price × days-to-date × act type in Québec. Nobody can reconstruct it without running the same market for the same year.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5046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90DBE88-0575-4EE4-BE41-C36A8530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Phase 2 — models improve with the notary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552E84-A4B2-4213-A3EF-4A50ECFD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For simple notarial acts… user behavior reveals friction… notary feedback qualifies the next model version.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853302-395C-426A-9F73-542703B8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0C3CFB-E9FE-4EFC-B8D5-6A420E66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USER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CB9218-FAFD-4844-B261-148BAAA8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39696"/>
            <a:ext cx="4480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9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Client behavior reveals questions, friction and outcomes.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B01046A-400C-4155-83A7-FE2BB119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E4A3F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7C9747-76BD-47E4-AC9B-F2C86EA2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7FC9B0"/>
                </a:solidFill>
                <a:latin typeface="Calibri"/>
                <a:ea typeface="Calibri"/>
                <a:cs typeface="Calibri"/>
              </a:rPr>
              <a:t>NOTA MODEL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EA431C-A14D-4928-B611-9D8AB3BF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139696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6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tested version turns those signals into clearer intake, checks and dossier preparation.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9CE9625-F523-4416-B463-C05A22AB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0820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NOTARY REVIEW → QUALIFIED RELEASE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056E386-87F3-423C-AC51-6CAB02FD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09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The notary accepts, corrects or rejects the proposed preparation. Nota evaluates the change offline, releases a small canary and keeps a rollback path. Live client behavior never silently changes a legal conclusion or model weights.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08557B1-88C7-4194-A87C-2AC3D04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A2C12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888CAC-6482-4E16-90AE-275C0507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32180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TWO WAYS TO PARTICIPATE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10BC7-76CE-4F4C-ACEE-8B0EC9DE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7620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F0DCB8"/>
                </a:solidFill>
                <a:latin typeface="Calibri"/>
                <a:ea typeface="Calibri"/>
                <a:cs typeface="Calibri"/>
              </a:rPr>
              <a:t>A feedback partner shares structured reviews for potential equity, subject to written terms and professional review. A paid user chooses a monthly AI plan without joining the contribution program. The notary remains responsible for advice, decisions and signing.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963749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77691F-1AEC-44A8-B7BA-392E9E9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Competition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AF8A60-1D41-4B55-9CE3-FED64193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Every participant prices a document. Nota prices a date.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59395D-FE63-4A33-B386-409D532A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72768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Who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43A1145-4576-4F5C-8BE8-8F9D4479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What they do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0EB601-1127-4D0E-B4D8-60622FA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72768"/>
            <a:ext cx="38221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Where Nota differs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9078190-4FEC-46BC-B685-573403ED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1952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C9DF94C-0D7B-4433-8B16-D7AC3334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1952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Notairo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809F639-6C50-4D5D-A623-7A71CC5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01952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Digital preparation of real-estate closings; final signature in person.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EE0665A-7E34-4B64-9BA3-A12169B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901952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Workflow software for one act type. Fixed pricing, no marketplace, no time-based discovery.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E5A711-F267-4FC5-92A0-4CEBCFE3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5C44D9-E165-451C-A682-CC39745B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Nolos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59D17E-5D7D-428F-A905-306BCF40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761488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Online notarised wills, ~21 service points in Québec.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E9963FF-EDD9-4C7E-A7CE-8A7294BC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61488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A distribution chain with fixed prices — not a market. No notary-side liquidity.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2D20E34-DD82-428A-9441-C40C6ABF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880F6AC-42B1-49A6-AA18-8BA2EB04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2102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Neolegal / ScriptaLegal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BFBCB52-3FC4-4981-A7DA-486CDD5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Online legal documents with notarial add-ons.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A850FB6-7F9C-4510-8192-D1BC4C55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21024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Document-first and price-fixed. They do not sell notary availability.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7AF50A-A352-418D-A6CA-A5328526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A98E68E-AFB3-47C1-8970-9EE31148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0560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Traditional practice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792519F-44C4-4CA0-9D75-A61BF596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480560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Phone, referral, signage.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8F8CB5C-91BE-44A2-A61F-2C8E2E30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480560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The real competitor. Nota wins by pricing time, which the phone cannot do.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1F1CEFC-9D2B-4DA1-B02E-89D4376F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0096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0B53AB-7354-4CBC-B7FA-5250363F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0096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US remote-notarisation platforms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F001653-457E-4C64-A4CE-D6588F6F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340096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High-volume RON for common-law notaries public.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CD4FCE0-2153-4697-A138-8814C442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340096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Structurally cannot enter. A Québec notaire is a civil-law public officer, and their commission model is illegal here.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AFE187D-F49E-4FF0-A926-3C01CF54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8200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67196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B02C5F-5464-43C5-A7C7-7584C712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Financial trajectory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60B81E-F1D2-4494-B104-7DB6660B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Year 1 is a proof-of-liquidity year, and the model says so rather than pretending otherwise.</a:t>
            </a:r>
            <a:endParaRPr sz="1400"/>
          </a:p>
        </p:txBody>
      </p:sp>
      <p:graphicFrame>
        <p:nvGraphicFramePr>
          <p:cNvPr id="50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21792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7f46fc0d2f4965"/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287A53F-DBE9-443E-83DB-14642E9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2763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021459F-A70B-4B28-8583-F7FBAC39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Y1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BEF1AA9-1A06-4FFA-BA1E-585ABA7C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Y2</a:t>
            </a:r>
            <a:endParaRPr sz="11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59257B7-F31B-451F-913F-E6DDF5E1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Y3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A6E0138-F606-4982-BE26-AB60AE1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2996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FA534F8-3369-4740-B7AE-A9CF508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2996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Notaries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278A3CE-8384-407E-8D46-35119902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30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CAE3B43-04C1-43B2-BB53-82252006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220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6A9F699-1201-46C1-A577-C07DBD12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700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A86E5BB-755A-4688-929E-9DCE79CD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230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8E36ADA-B913-4E9B-AEF9-6B420921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3230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Fill rate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28D5935-B3F4-4A80-9105-36C07DAB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56%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304F155-6D78-42CB-8718-9AD41650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57%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7A4F064-4F35-470F-8D14-B98DD95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62%</a:t>
            </a:r>
            <a:endParaRPr sz="11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0B5DB80-81E3-4439-8D98-D236BE87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4640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818DF6C-5BE8-4C94-9897-B48DE4F8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Acts completed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F1A0963-6438-4933-8D7D-0222B6D1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244</a:t>
            </a:r>
            <a:endParaRPr sz="11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D4B697-C6CD-481F-9ED7-C4B0ED1E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2,800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87372AA-B440-43DD-AEBC-F0AB32F6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11,000</a:t>
            </a:r>
            <a:endParaRPr sz="11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7816C3F-CF4A-449A-8C57-FEEADFB1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6976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2DDFF6E-2FDC-4018-9E9F-10B3DCEC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36976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GMV</a:t>
            </a:r>
            <a:endParaRPr sz="11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4AE1EDE-951F-48B3-847F-09740011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$258K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5142C80-8A7D-45BD-9135-E0D4B85B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$3.22M</a:t>
            </a:r>
            <a:endParaRPr sz="11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F850EB7-FFD4-4353-B466-C09AF97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$15.95M</a:t>
            </a:r>
            <a:endParaRPr sz="11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824A7BF-7AB4-458F-BCA2-A5CFFBF5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9312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A214189-E3E7-4F95-92C8-CA33A25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63931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Net revenue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082F9EE-44A6-4F80-9778-273162B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$25.8K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D80CF80-58DD-4DA5-8A3F-FA652335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$322K</a:t>
            </a:r>
            <a:endParaRPr sz="11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9A9B3AD-0B8B-48C3-9F98-25290CFA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$1.60M</a:t>
            </a:r>
            <a:endParaRPr sz="11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C210BBB-6B0A-4A25-8948-94753544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164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F439E51-9AE2-43E3-BA5D-BC4CD48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04164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Gross margin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E48819BA-5C81-4012-83B3-A4E7204B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89%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212A612-81F2-4AE2-A584-9B628A6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90%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B1C22A3-2AE0-4EC7-9358-1E6237A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91%</a:t>
            </a:r>
            <a:endParaRPr sz="11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E1EE3AE-5D83-45A6-815C-ACA34855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398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88ED2B61-F10E-45E9-8529-687C2251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4398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Net income</a:t>
            </a:r>
            <a:endParaRPr sz="11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9142EE9-F292-4321-BBFE-67CFA5F7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($227K)</a:t>
            </a:r>
            <a:endParaRPr sz="11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A36709BA-645B-4C44-9A00-E93FDC9A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($430K)</a:t>
            </a:r>
            <a:endParaRPr sz="115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0BF3A3B9-F555-4A9D-96EB-FF08DAF9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($391K)</a:t>
            </a:r>
            <a:endParaRPr sz="115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16F1715-5D6E-4257-8001-82F21F77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41732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403D675E-3382-44B9-AEE9-06CD771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Unit economics</a:t>
            </a:r>
            <a:endParaRPr sz="11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585D024A-E480-41B8-8DA6-FBC798D1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413248"/>
            <a:ext cx="10012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933635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7B4120-C2F5-4A18-BA9D-DF2DA67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Use of funds — $250,000 over 12 months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72DA371-C7EE-4463-BF8D-EF13546C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Average burn ~$20,800/month. Legal is front-loaded on purpose: the déontologie opinion unblocks everything else.</a:t>
            </a:r>
            <a:endParaRPr sz="1400"/>
          </a:p>
        </p:txBody>
      </p:sp>
      <p:graphicFrame>
        <p:nvGraphicFramePr>
          <p:cNvPr id="41" name="Chart 0"/>
          <p:cNvGraphicFramePr/>
          <p:nvPr/>
        </p:nvGraphicFramePr>
        <p:xfrm>
          <a:off xmlns:a="http://schemas.openxmlformats.org/drawingml/2006/main" x="548640" y="1554480"/>
          <a:ext xmlns:a="http://schemas.openxmlformats.org/drawingml/2006/main" cx="539496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6721b960db40a8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6322C29-6251-4D9C-8C62-EBE42E48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25BDA7D-E01E-4141-AF46-94AC1019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691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Founder salary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540A8D0-CC08-4AD1-A14E-279702B8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$96,000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709AB69-5222-4B75-A172-5A2FB56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691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8,000/mo. Below market — this round buys focus.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280A1CE-4995-47C6-BF9F-72B789A8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87ABE5A-D09D-4186-BAC9-69E31FEF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148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Client acquisition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29320A5-C030-438A-B51E-69E9050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48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$40,000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BFEB9C6-A57D-453D-B750-48CD6997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148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Paid search, content, partnership build-out.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919F4B9-EFC2-4F43-8037-54A9ADB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06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C83420-61F0-4D5D-96E5-C8D23F7E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606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Notary advisor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D82F9DA-20E5-444F-BD99-A18A3D9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06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EBC7AD9-37AA-4167-AFFE-08C95537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606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Part-time practising notary. Credibility and correctness.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5B842EA-B1F2-4BE0-A238-C4850A35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F148DF-FB0F-45CE-869D-DA79AED1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0632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Design contract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959C246-F409-4A65-8FD7-DBF5D845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632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F20BE1E-CE59-4698-9400-45C4DE0C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0632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~3 months part-time front-end.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3B36D27-1FFA-4E3B-A05C-167CDBD8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04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033BB51-B10D-4C28-8094-256502AD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5204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Legal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02C29DA-9839-4650-9890-8B64CEA7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204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$20,000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8E837D3-4A01-429A-86F2-9847BA86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5204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Déontologie opinion, Chambre, incorporation, Law 25.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7719125-6A98-459B-8BF1-C979CF55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77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3BE7A33-86EB-421B-AC99-CA184715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977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Contingency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DE09C7C-6E56-48E1-A1F6-967FC62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77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$17,000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78D7CA0-F8FF-4152-816A-46E708A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977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~7%.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A1D4776-3C79-4EAA-BB13-4E88495F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34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657725A-9EED-4DE0-A4C6-7F9BD22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434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Notary acquisition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544ED6C-52F4-40E9-8623-198A88CF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34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$15,000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83FE880-F3CD-4263-A267-5E6F7E6E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434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Field sales, congrès, travel.</a:t>
            </a:r>
            <a:endParaRPr sz="10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B56E807A-34BA-4D12-8D86-F3E7DDA2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B52646A-6F4A-4E00-9563-83D8F093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892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Infra &amp; tooling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681BB20-C727-45C2-B0DD-8B782D2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92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$12,000</a:t>
            </a:r>
            <a:endParaRPr sz="12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D41CBAF-FF4C-4B0D-A14E-7F20F8F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892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Serverless keeps this small.</a:t>
            </a:r>
            <a:endParaRPr sz="10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B0C0D09-2114-450F-8F4B-BEFF2FC4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486400"/>
            <a:ext cx="5376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i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Non-dilutive stacking: refundable SR&amp;ED and Québec R&amp;D wage credits are modelled at zero and treated as runway extension (~2–3 months), not budgeted revenue.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122799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3B17C1-2B4B-45E2-B599-52BA093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What has to be true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0277F2-9328-42BF-B10B-2254169D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Three assumptions carry the model. Each has a named falsification test — and all three resolve inside this round.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935A1C-F2C3-49B2-9726-23D97AB7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F4E6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C4AD0A-0BAB-48AA-96A0-73F821E7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711C2F-762A-4477-BB88-7D93AEA8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A8C7-41DB-47CF-9328-B8472D32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874520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Clients pay a premium for a date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DD3584-5E3C-4052-95EA-4E68450B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74520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Realised premium distribution by tier. If urgence and extreme bids do not clear above standard, the core thesis is wrong.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16F05F-783C-4631-8445-F9FF0985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F95FFC-2436-4B7C-BD74-79C6C048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6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1D70638-B902-4FF0-8FA2-4344F901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7E472ED-D84A-422D-B143-4EACC135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2C5E6C-1DEF-4F51-9E25-A71EFF35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134197A-21E8-41F8-8128-BD89663E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264408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Notaries sell short-notice availability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C260EE-6E15-46F8-A4F0-28C5945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Fill rate on the prioritaire and urgence tiers specifically, not blended.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77D4FC-BF68-4315-BB82-FF14302F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7AE6C91-1E17-4331-BDE4-50F37D9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5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26E4F5B-F2BE-4013-8C5B-F21D015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1416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5A45DEB-EFAF-45C7-BBC3-F86B0468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47A297-CD24-4A49-A392-E34374A7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3E859A0-21FA-482C-9A07-B1121607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654296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client-side fee is déontologie-safe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BD5AC7C-0C92-44EB-A542-8F1FCD48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654296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A written legal opinion from Québec counsel, with structured Chambre engagement.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426F7D0-20A9-4D25-BE8D-DF910734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7D6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EE32625-9997-427C-8645-4638E6F2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2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519B096-2596-4440-B1C5-B357366D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That is the argument for the round size. $250,000 is enough to confirm or refute the entire thesis, and not a dollar is spent building something that has not been validated.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554741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8A3757-BFC8-4985-8698-75FE6ECC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09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ask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B8A295-F3FA-4D3F-9903-FC1DAA6D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$250,000 CAD pre-seed · 12 months · SAFE or convertible note with an angel lead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DD3D24-36AD-4CE0-B668-E600CF1A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811FDF-B992-4216-B560-15D25370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Legal footing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9DEC527-1F8B-47D3-9B03-2E1BCE30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 déontologie-clean structure with a written opinion on file — the largest risk in the business, retired first.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745769B-055C-4D2B-B1DA-E64C47C2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A162956-8AA3-4CA3-A094-00F8B63F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A working market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ADBB780-10CA-4CA5-B539-F075F0E3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30 notaries and functioning two-sided liquidity in Québec City.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9B66A2B-B51C-4F6C-8E52-E8B9DD16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247D0CC-5F81-4F41-BD9C-9FAD973D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Proprietary data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8D348BC-2740-462A-9D17-CE171DF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244 completed acts and the first urgency price curve for the Québec notarial market. It does not otherwise exist.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23D21F6-68B1-469D-8DF1-D01C4A5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59641E-4E76-40C8-B154-CF4A0ED2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Phase 2 in reach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9CD5076-93E5-45AA-90D2-3C427AA0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The art. 46 compliance layer shipped, making remote signing routine where the law already allows it.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BE7A7EB-2F46-42A8-94F6-E28B460B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6048"/>
            <a:ext cx="2377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26DE92B-1315-4090-ABB5-4E61ECC2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8595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deregulated notary fees in 1991 and never built a market.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market is built. This funds finding out whether it clears.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C72291C-E07C-4466-B7E2-7E8361C5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212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 Paquet</a:t>
            </a:r>
            <a:endParaRPr sz="1200"/>
          </a:p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anthonypaquet1508@gmail.com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815339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2026-09-10T05:40:15.7860000Z</dcterms:created>
  <dcterms:modified xsi:type="dcterms:W3CDTF">2026-09-10T05:40:15.7860000Z</dcterms:modified>
</coreProperties>
</file>