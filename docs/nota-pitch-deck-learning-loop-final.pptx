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4cf7da8e24b02" /><Relationship Type="http://schemas.openxmlformats.org/officeDocument/2006/relationships/extended-properties" Target="/docProps/app.xml" Id="Re60a63bcd97f42ef" /><Relationship Type="http://schemas.openxmlformats.org/officeDocument/2006/relationships/officeDocument" Target="/ppt/presentation.xml" Id="R936d8d13743f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0556941bf4c89"/>
  </p:sldMasterIdLst>
  <p:notesMasterIdLst>
    <p:notesMasterId xmlns:r="http://schemas.openxmlformats.org/officeDocument/2006/relationships" r:id="R1cf5ab786a8e49f7"/>
  </p:notesMasterIdLst>
  <p:sldIdLst>
    <p:sldId xmlns:r="http://schemas.openxmlformats.org/officeDocument/2006/relationships" id="256" r:id="R1ea174efecea435f"/>
    <p:sldId xmlns:r="http://schemas.openxmlformats.org/officeDocument/2006/relationships" id="257" r:id="R1a1be3be9ccd4ff7"/>
    <p:sldId xmlns:r="http://schemas.openxmlformats.org/officeDocument/2006/relationships" id="258" r:id="R36985aa0489c417b"/>
    <p:sldId xmlns:r="http://schemas.openxmlformats.org/officeDocument/2006/relationships" id="259" r:id="Rdebc2428c64e4028"/>
    <p:sldId xmlns:r="http://schemas.openxmlformats.org/officeDocument/2006/relationships" id="260" r:id="R6d1d9de89cc74c9e"/>
    <p:sldId xmlns:r="http://schemas.openxmlformats.org/officeDocument/2006/relationships" id="261" r:id="Rd52033c30648492a"/>
    <p:sldId xmlns:r="http://schemas.openxmlformats.org/officeDocument/2006/relationships" id="262" r:id="R9c625f5e158b4ab7"/>
    <p:sldId xmlns:r="http://schemas.openxmlformats.org/officeDocument/2006/relationships" id="263" r:id="R206d96b3912c44f2"/>
    <p:sldId xmlns:r="http://schemas.openxmlformats.org/officeDocument/2006/relationships" id="264" r:id="Rd6e5e4764b4e4bd4"/>
    <p:sldId xmlns:r="http://schemas.openxmlformats.org/officeDocument/2006/relationships" id="265" r:id="Rf0a897d386654041"/>
    <p:sldId xmlns:r="http://schemas.openxmlformats.org/officeDocument/2006/relationships" id="266" r:id="R0ecb16edd9994675"/>
    <p:sldId xmlns:r="http://schemas.openxmlformats.org/officeDocument/2006/relationships" id="267" r:id="Rad4137e924ca467d"/>
    <p:sldId xmlns:r="http://schemas.openxmlformats.org/officeDocument/2006/relationships" id="268" r:id="Rb942a33fb7a94196"/>
    <p:sldId xmlns:r="http://schemas.openxmlformats.org/officeDocument/2006/relationships" id="269" r:id="R0e847aaca90947ce"/>
    <p:sldId xmlns:r="http://schemas.openxmlformats.org/officeDocument/2006/relationships" id="270" r:id="Rafb93c4205444e36"/>
    <p:sldId xmlns:r="http://schemas.openxmlformats.org/officeDocument/2006/relationships" id="271" r:id="Rac53bfea025942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76ee4f2b3433a" /><Relationship Type="http://schemas.openxmlformats.org/officeDocument/2006/relationships/slideMaster" Target="/ppt/slideMasters/slideMaster1.xml" Id="Ra130556941bf4c89" /><Relationship Type="http://schemas.openxmlformats.org/officeDocument/2006/relationships/notesMaster" Target="/ppt/notesMasters/notesMaster1.xml" Id="R1cf5ab786a8e49f7" /><Relationship Type="http://schemas.openxmlformats.org/officeDocument/2006/relationships/presProps" Target="/ppt/presProps.xml" Id="R5c09b2f959544b5e" /><Relationship Type="http://schemas.openxmlformats.org/officeDocument/2006/relationships/viewProps" Target="/ppt/viewProps.xml" Id="R91e4bca91e1c4725" /><Relationship Type="http://schemas.openxmlformats.org/officeDocument/2006/relationships/tableStyles" Target="/ppt/tableStyles.xml" Id="R25ed80f42b3043df" /><Relationship Type="http://schemas.openxmlformats.org/officeDocument/2006/relationships/slide" Target="/ppt/slides/slide1.xml" Id="R1ea174efecea435f" /><Relationship Type="http://schemas.openxmlformats.org/officeDocument/2006/relationships/slide" Target="/ppt/slides/slide2.xml" Id="R1a1be3be9ccd4ff7" /><Relationship Type="http://schemas.openxmlformats.org/officeDocument/2006/relationships/slide" Target="/ppt/slides/slide3.xml" Id="R36985aa0489c417b" /><Relationship Type="http://schemas.openxmlformats.org/officeDocument/2006/relationships/slide" Target="/ppt/slides/slide4.xml" Id="Rdebc2428c64e4028" /><Relationship Type="http://schemas.openxmlformats.org/officeDocument/2006/relationships/slide" Target="/ppt/slides/slide5.xml" Id="R6d1d9de89cc74c9e" /><Relationship Type="http://schemas.openxmlformats.org/officeDocument/2006/relationships/slide" Target="/ppt/slides/slide6.xml" Id="Rd52033c30648492a" /><Relationship Type="http://schemas.openxmlformats.org/officeDocument/2006/relationships/slide" Target="/ppt/slides/slide7.xml" Id="R9c625f5e158b4ab7" /><Relationship Type="http://schemas.openxmlformats.org/officeDocument/2006/relationships/slide" Target="/ppt/slides/slide8.xml" Id="R206d96b3912c44f2" /><Relationship Type="http://schemas.openxmlformats.org/officeDocument/2006/relationships/slide" Target="/ppt/slides/slide9.xml" Id="Rd6e5e4764b4e4bd4" /><Relationship Type="http://schemas.openxmlformats.org/officeDocument/2006/relationships/slide" Target="/ppt/slides/slide10.xml" Id="Rf0a897d386654041" /><Relationship Type="http://schemas.openxmlformats.org/officeDocument/2006/relationships/slide" Target="/ppt/slides/slide11.xml" Id="R0ecb16edd9994675" /><Relationship Type="http://schemas.openxmlformats.org/officeDocument/2006/relationships/slide" Target="/ppt/slides/slide12.xml" Id="Rad4137e924ca467d" /><Relationship Type="http://schemas.openxmlformats.org/officeDocument/2006/relationships/slide" Target="/ppt/slides/slide13.xml" Id="Rb942a33fb7a94196" /><Relationship Type="http://schemas.openxmlformats.org/officeDocument/2006/relationships/slide" Target="/ppt/slides/slide14.xml" Id="R0e847aaca90947ce" /><Relationship Type="http://schemas.openxmlformats.org/officeDocument/2006/relationships/slide" Target="/ppt/slides/slide15.xml" Id="Rafb93c4205444e36" /><Relationship Type="http://schemas.openxmlformats.org/officeDocument/2006/relationships/slide" Target="/ppt/slides/slide16.xml" Id="Rac53bfea025942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f6a0c753e4e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685c28abe6422a" /><Relationship Type="http://schemas.openxmlformats.org/officeDocument/2006/relationships/notesMaster" Target="/ppt/notesMasters/notesMaster1.xml" Id="Re19b2fd6cdb84d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04cc6615904090" /><Relationship Type="http://schemas.openxmlformats.org/officeDocument/2006/relationships/notesMaster" Target="/ppt/notesMasters/notesMaster1.xml" Id="R8d8c529817334c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ea4199dda4184" /><Relationship Type="http://schemas.openxmlformats.org/officeDocument/2006/relationships/notesMaster" Target="/ppt/notesMasters/notesMaster1.xml" Id="R03c269ba404a49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8045905694746" /><Relationship Type="http://schemas.openxmlformats.org/officeDocument/2006/relationships/notesMaster" Target="/ppt/notesMasters/notesMaster1.xml" Id="Re698f6912f3b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84b56c9dd84390" /><Relationship Type="http://schemas.openxmlformats.org/officeDocument/2006/relationships/notesMaster" Target="/ppt/notesMasters/notesMaster1.xml" Id="R865a76cf41d648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db82678d6946b3" /><Relationship Type="http://schemas.openxmlformats.org/officeDocument/2006/relationships/notesMaster" Target="/ppt/notesMasters/notesMaster1.xml" Id="Rebba92d97ec748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5144db55a24663" /><Relationship Type="http://schemas.openxmlformats.org/officeDocument/2006/relationships/notesMaster" Target="/ppt/notesMasters/notesMaster1.xml" Id="R44cb66d6f9e64a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bdb908f9a7492b" /><Relationship Type="http://schemas.openxmlformats.org/officeDocument/2006/relationships/notesMaster" Target="/ppt/notesMasters/notesMaster1.xml" Id="Rdaacde7bd22c4f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e3ffd99d6545b2" /><Relationship Type="http://schemas.openxmlformats.org/officeDocument/2006/relationships/notesMaster" Target="/ppt/notesMasters/notesMaster1.xml" Id="R39895e9ec3864b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8c45cd1c3342df" /><Relationship Type="http://schemas.openxmlformats.org/officeDocument/2006/relationships/notesMaster" Target="/ppt/notesMasters/notesMaster1.xml" Id="R763e8710837146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5cb37927984a44" /><Relationship Type="http://schemas.openxmlformats.org/officeDocument/2006/relationships/notesMaster" Target="/ppt/notesMasters/notesMaster1.xml" Id="Rea4a5ff99a0a4d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bf5354e3594ca8" /><Relationship Type="http://schemas.openxmlformats.org/officeDocument/2006/relationships/notesMaster" Target="/ppt/notesMasters/notesMaster1.xml" Id="Re4444f4ab92449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c63cac6d9149fa" /><Relationship Type="http://schemas.openxmlformats.org/officeDocument/2006/relationships/notesMaster" Target="/ppt/notesMasters/notesMaster1.xml" Id="R057c1884c08440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a67caf688b42ff" /><Relationship Type="http://schemas.openxmlformats.org/officeDocument/2006/relationships/notesMaster" Target="/ppt/notesMasters/notesMaster1.xml" Id="R1f5890db2caf4c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164694a022498a" /><Relationship Type="http://schemas.openxmlformats.org/officeDocument/2006/relationships/notesMaster" Target="/ppt/notesMasters/notesMaster1.xml" Id="R7af5087505484e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31e98bf2314c10" /><Relationship Type="http://schemas.openxmlformats.org/officeDocument/2006/relationships/notesMaster" Target="/ppt/notesMasters/notesMaster1.xml" Id="R66eb31ec65a7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Québec deregulated notary fees in 1991 and never built a market. The product is already built and deployed. This round funds finding out whether it clears.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insight: deregulation without a market. Fees are legally free but structurally blind.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two-sided failure. The punchline is the last line: nobody sells time.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is derived from days-to-date. Floors and the 10x cap live in the domain package and are asserted by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pre-seed money funds the possibility that a team can build the thing. Here the thing is built. The money buys 12 months of undivided attention on distribution.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Bill 34 point is the most important: the legal rails already exist, which removes years and hundreds of thousands from Phase 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CNQ Registre des dispositions testamentaires (215,576 registrations 2017-18), CMHC renewal data, APCIQ 90,369 residential sales 2024.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this in the room. The current code implements the commission model and flags itself. Fixing it before launch is milestone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governs Phase 1: fill rate. Below 40% the market is not clearing; above 60% the flywheel is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strategic core of the deck. Do not let it be heard as a regulatory bet — it is the opposite. The law already permits this; we remove the reason notaries decline.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US-platform row matters: it explains why a well-funded American entrant is not the threat people assume.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Y3 = 3.7% of addressable act volume. Series A trigger is exiting Y2 at a $300-500K ARR run-rate with province-wide liquidity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 9-12 follow-on: IQ's Fonds Impulsion invests $250K-1M but requires a lead investor and an accelerator referral. Securing an angel lead here is the bridge.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Investors reward founders who name their own kill criteria. Lead with this if the room is skeptical.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founder point: the platform is built, tested and deployed. This buys twelve months of undivided attention on the parts code cannot solve.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presents a controlled learning loop for supported simple notarial acts. User behavior and structured notary feedback inform versioned improvements. A notary may collaborate for potential equity subject to written terms and review, or subscribe monthly without a direct feedback contribution. The notary retains independent professional judgment. No automatic live update enters production without privacy, evaluation and rollback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ddad111cb47a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fbee28f2d94387" /><Relationship Type="http://schemas.openxmlformats.org/officeDocument/2006/relationships/slideLayout" Target="/ppt/slideLayouts/slideLayout1.xml" Id="R19c569290b10489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c569290b10489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4126112724f27" /><Relationship Type="http://schemas.openxmlformats.org/officeDocument/2006/relationships/notesSlide" Target="/ppt/notesSlides/notesSlide1.xml" Id="R4367752ea3d148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3eaa3d31f4708" /><Relationship Type="http://schemas.openxmlformats.org/officeDocument/2006/relationships/notesSlide" Target="/ppt/notesSlides/notesSlide2.xml" Id="R59744d63a218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2e82a203d4f6b" /><Relationship Type="http://schemas.openxmlformats.org/officeDocument/2006/relationships/notesSlide" Target="/ppt/notesSlides/notesSlide3.xml" Id="Re0315702af25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5de9f426240ed" /><Relationship Type="http://schemas.openxmlformats.org/officeDocument/2006/relationships/notesSlide" Target="/ppt/notesSlides/notesSlide4.xml" Id="R734993515a0f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9213b59ab44c2" /><Relationship Type="http://schemas.openxmlformats.org/officeDocument/2006/relationships/notesSlide" Target="/ppt/notesSlides/notesSlide5.xml" Id="R9eea345f95e24d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437e7c69a4fd1" /><Relationship Type="http://schemas.openxmlformats.org/officeDocument/2006/relationships/notesSlide" Target="/ppt/notesSlides/notesSlide6.xml" Id="R924943fa851345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02a47043b4281" /><Relationship Type="http://schemas.openxmlformats.org/officeDocument/2006/relationships/chart" Target="/ppt/slides/charts/chart1.xml" Id="Rf1c06f24cd204f19" /><Relationship Type="http://schemas.openxmlformats.org/officeDocument/2006/relationships/notesSlide" Target="/ppt/notesSlides/notesSlide7.xml" Id="Ra470aff2ec0f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8d59dfc5b422f" /><Relationship Type="http://schemas.openxmlformats.org/officeDocument/2006/relationships/notesSlide" Target="/ppt/notesSlides/notesSlide8.xml" Id="R6cd2d9ad9c3b42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ee9c4d1754047" /><Relationship Type="http://schemas.openxmlformats.org/officeDocument/2006/relationships/notesSlide" Target="/ppt/notesSlides/notesSlide9.xml" Id="Rbb030ea1603348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0a5990f784aa3" /><Relationship Type="http://schemas.openxmlformats.org/officeDocument/2006/relationships/notesSlide" Target="/ppt/notesSlides/notesSlide10.xml" Id="R4d2cc6a1a3ac4d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51ed1524e4a60" /><Relationship Type="http://schemas.openxmlformats.org/officeDocument/2006/relationships/notesSlide" Target="/ppt/notesSlides/notesSlide11.xml" Id="Ra5aeb0f9cc444b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807f033504606" /><Relationship Type="http://schemas.openxmlformats.org/officeDocument/2006/relationships/chart" Target="/ppt/slides/charts/chart2.xml" Id="R8a9ede0755024384" /><Relationship Type="http://schemas.openxmlformats.org/officeDocument/2006/relationships/notesSlide" Target="/ppt/notesSlides/notesSlide12.xml" Id="Rf68f8e3342f845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85be0b295428e" /><Relationship Type="http://schemas.openxmlformats.org/officeDocument/2006/relationships/chart" Target="/ppt/slides/charts/chart3.xml" Id="R9c751170d65743b6" /><Relationship Type="http://schemas.openxmlformats.org/officeDocument/2006/relationships/notesSlide" Target="/ppt/notesSlides/notesSlide13.xml" Id="R2d069bd2459b41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e647ab7dd4ebd" /><Relationship Type="http://schemas.openxmlformats.org/officeDocument/2006/relationships/notesSlide" Target="/ppt/notesSlides/notesSlide14.xml" Id="R2409ff5962d94f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65498535b4b84" /><Relationship Type="http://schemas.openxmlformats.org/officeDocument/2006/relationships/notesSlide" Target="/ppt/notesSlides/notesSlide15.xml" Id="R8dd76643f12c48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e7fce12f0441f" /><Relationship Type="http://schemas.openxmlformats.org/officeDocument/2006/relationships/notesSlide" Target="/ppt/notesSlides/notesSlide16.xml" Id="R8838ee54b7a74302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SAM — the three bounded services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233F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 xmlns:a="http://schemas.openxmlformats.org/drawingml/2006/main">
              <a:srgbClr val="1B3A63"/>
            </a:solidFill>
          </c:spPr>
          <c:dLbls>
            <c:numFmt formatCode="$#,##0&quot;M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10233F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0" i="0" u="none">
                  <a:solidFill>
                    <a:srgbClr val="10233F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46536B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GMV and net revenue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10233F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 xmlns:a="http://schemas.openxmlformats.org/drawingml/2006/main">
              <a:srgbClr val="DDE5EF"/>
            </a:solidFill>
          </c:spPr>
          <c:invertIfNegative val="0"/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 xmlns:a="http://schemas.openxmlformats.org/drawingml/2006/main">
              <a:srgbClr val="E5A13A"/>
            </a:solidFill>
            <a:ln xmlns:a="http://schemas.openxmlformats.org/drawingml/2006/main" w="50800">
              <a:solidFill>
                <a:srgbClr val="E5A13A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E5A13A"/>
              </a:solidFill>
              <a:ln xmlns:a="http://schemas.openxmlformats.org/drawingml/2006/main" w="9525">
                <a:solidFill>
                  <a:srgbClr val="E5A13A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46536B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4EA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GMV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748A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rPr>
                  <a:t>Net revenue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B87A17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  <c:lblAlgn val="ctr"/>
        <c:noMultiLvlLbl val="1"/>
      </c:cat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6536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 w="9525">
              <a:solidFill>
                <a:srgbClr val="F9F9F9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264961"/>
              </a:solidFill>
            </c:spPr>
          </c:dPt>
          <c:dPt>
            <c:idx val="1"/>
            <c:spPr>
              <a:solidFill xmlns:a="http://schemas.openxmlformats.org/drawingml/2006/main">
                <a:srgbClr val="407598"/>
              </a:solidFill>
            </c:spPr>
          </c:dPt>
          <c:dPt>
            <c:idx val="2"/>
            <c:spPr>
              <a:solidFill xmlns:a="http://schemas.openxmlformats.org/drawingml/2006/main">
                <a:srgbClr val="78A9BF"/>
              </a:solidFill>
            </c:spPr>
          </c:dPt>
          <c:dPt>
            <c:idx val="3"/>
            <c:spPr>
              <a:solidFill xmlns:a="http://schemas.openxmlformats.org/drawingml/2006/main">
                <a:srgbClr val="9CC7D8"/>
              </a:solidFill>
            </c:spPr>
          </c:dPt>
          <c:dPt>
            <c:idx val="4"/>
            <c:spPr>
              <a:solidFill xmlns:a="http://schemas.openxmlformats.org/drawingml/2006/main">
                <a:srgbClr val="386888"/>
              </a:solidFill>
            </c:spPr>
          </c:dPt>
          <c:dPt>
            <c:idx val="5"/>
            <c:spPr>
              <a:solidFill xmlns:a="http://schemas.openxmlformats.org/drawingml/2006/main">
                <a:srgbClr val="274A62"/>
              </a:solidFill>
            </c:spPr>
          </c:dPt>
          <c:dPt>
            <c:idx val="6"/>
            <c:spPr>
              <a:solidFill xmlns:a="http://schemas.openxmlformats.org/drawingml/2006/main">
                <a:srgbClr val="F0A45D"/>
              </a:solidFill>
            </c:spPr>
          </c:dPt>
          <c:dPt>
            <c:idx val="7"/>
            <c:spPr>
              <a:solidFill xmlns:a="http://schemas.openxmlformats.org/drawingml/2006/main">
                <a:srgbClr val="D77F2F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1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46536B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F30CE9-3E4E-4694-B718-284DDB8C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10820095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Nota</a:t>
            </a:r>
            <a:endParaRPr sz="7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97BEC3-506A-4BDC-80E3-86897AE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8778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i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Pricing time in the Québec notarial market.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83CA0C-2B87-4769-BF53-C209FE89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509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Québec abolished mandatory notary tariffs in 1991. Thirty-five years later, no price discovery mechanism has ever existed.</a:t>
            </a:r>
            <a:endParaRPr sz="145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Nota is that mechanism — a public calendar where the market prices urgency.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B69D359-FD60-4341-9153-D4F9A96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28346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504ECD-E209-4691-857A-F03AF36F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Pre-seed · $250,000 CAD · 12 months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 Paquet · anthonypaquet1508@gmail.com · August 2026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055444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FE5BBC-9587-4446-BC29-EC24B4CF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A deregulated market that never got a price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BBE00E-A4B4-4222-B92D-55B9DA4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Fees have been free-floating since 1991. Discovery still happens by phone call.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A65174-8D41-4A0F-A1B5-B6584B36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1991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C8A9B5-7425-4CC2-A71E-A596E3E9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Mandatory notarial tariffs abolished. Every notary has set their own fees ever since.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60C63D-C000-4341-8F4C-5F36F0F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~3,900</a:t>
            </a:r>
            <a:endParaRPr sz="4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0A0FE4-E784-4C8B-80FC-FF23300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Practising notaries in Québec, each with unsold gaps in their calendar.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6D3E03-CC5C-4C80-9E91-6D0B706B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~50%</a:t>
            </a:r>
            <a:endParaRPr sz="4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56BEF7-571A-45E6-850A-88DDD3E7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of Québec adults have no will. Among 18–34 year-olds, about 70%.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4F56448-0776-4042-A423-0203BBDF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91640"/>
            <a:ext cx="21945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$0</a:t>
            </a:r>
            <a:endParaRPr sz="4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C47099-2770-4091-8A78-88DB6F5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478024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spent by anyone, in 35 years, building the venue where these two meet.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803829F-9E01-44D5-8A71-DB7C3CDB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0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46BCF2F-3C72-40FA-B645-E034C04D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The gap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E98F94-7543-4F0F-9AB6-1F260482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2272"/>
            <a:ext cx="9875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who needs a signature next Tuesday cannot learn what next Tuesday costs.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notary with an empty Tuesday has nowhere to sell it.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4501B2-4C80-4A9B-BBAC-331EC77D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Real price dispersion. Real supply elasticity. Real demand urgency. No mechanism connecting any of it.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70076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D2B3BF-4DAD-4D8A-B4A0-E3C05C02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Two sides, both stuck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59BFE5-B67F-4CAA-844D-C5BE0F3A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Neither can find the other, and neither can price the thing that actually varies: the date.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BF9420-4C2F-4C0A-B390-8FA654BE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80096D-DD53-44EA-830F-E723FFC2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client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0CCA75-BDA2-427E-B2A9-6D3DADC2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Price discovery costs a sequence of phone calls during business hours.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Published ranges are wide — a will and mandate run 700–1,000 $ — and you learn where you land only after you call.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Urgency has no price. There is no way to pay to jump a three-week queue.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So the act does not happen. Half of Québec adults have no will.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6C4D00-BCCF-4485-B1F5-60E1FE8C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8C7445-BC71-4927-92E9-05A6D68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notary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E354AA-DA10-487B-8DB3-9E4EE7B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A hole in the calendar is unrecoverable inventory — it expires like an airline seat.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No channel exists to sell short-notice availability. A cancelled Thursday cannot be listed anywhere.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Client acquisition is referral and signage.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Buying leads is ineffective; sharing fees is prohibited by the Code de déontologie.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4D3E499-A805-4226-9C97-9606D278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Nota sells when, not what. Every alternative prices a document; Nota prices a date.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56314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73386A-4D82-4261-916C-96CB247B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mechanism: the market prices urgency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07DCCC-4FD2-40BA-90AB-D7C21B5E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The client posts a date and an amount. The tier — and the premium — derive from how close that date is.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0D6E8B-ABCE-4DA0-862A-230B81F8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41F202-3FCE-4981-B8BA-CECFCD1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93A7B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FE005D8-4F8B-46C6-A5B6-F9AE5AEE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CE9F0AE-54CB-49E0-B2DE-76710CCD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45920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15+ days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55183B-5371-4ACD-9B39-8735070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1.0× – 1.2×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102CFDD-4F29-4EE1-B5DB-CF1D42F7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42D0D63-3CFB-4887-AA18-8B0A2542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C93B5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1E0E96-E605-4DE7-A011-B3A3069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rapide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065C07-5415-45E5-8952-03B1D41D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95728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8–14 days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3C0214-ABA9-4D4D-9712-EC6E6520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1.2× – 1.5×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0806C7-3941-4E5A-AB25-643890AE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5536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2C7737E-7108-4B57-BB3C-90FE122C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788F7C5-7E92-4DCB-8340-307C2515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prioritaire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23463FC-BD15-467C-A217-31A2ADE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5536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4–7 days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581C88-4B38-4525-9DB7-1997E23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45536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1.6× – 2.2×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543E7B1-9B76-4033-8B24-7042FD0F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344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6E8132E-4DCB-40C4-B3B3-5DBE18F6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2802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82326DC-B6E6-44E3-BAF6-12D8E01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urgence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A839D45-35CE-4379-9662-480906ED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344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2–3 days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5536642-FA28-42CE-B3F2-D3C91510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5344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D2802A"/>
                </a:solidFill>
                <a:latin typeface="Cambria"/>
                <a:ea typeface="Cambria"/>
                <a:cs typeface="Cambria"/>
              </a:rPr>
              <a:t>2.5× – 4.0×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6D38D16-0354-4E82-B224-4CB0395E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5152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3D8B721-843C-410F-AD46-D250AF70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A8453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7F6913-711A-4D07-B77C-0D177219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extreme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C49B31C-E92A-4184-8296-B6A850E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515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0–1 day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D1C9E78-9E24-44FC-B61A-ED67CE9F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45152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A8453B"/>
                </a:solidFill>
                <a:latin typeface="Cambria"/>
                <a:ea typeface="Cambria"/>
                <a:cs typeface="Cambria"/>
              </a:rPr>
              <a:t>4.0× – 10.0×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C1CB76F-29A6-4AA8-A1BB-FACCE423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45920"/>
            <a:ext cx="4251960" cy="3749040"/>
          </a:xfrm>
          <a:prstGeom xmlns:a="http://schemas.openxmlformats.org/drawingml/2006/main" prst="roundRect">
            <a:avLst>
              <a:gd name="adj" fmla="val 2195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73720D6-D274-43A7-A141-C0A92CF5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Guardrails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ECBB024-630F-4C93-99A3-96B25CB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86000"/>
            <a:ext cx="3566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Floors. Every offer must clear a market-researched prix de départ per service.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Hard 10× cap. A real auction, not a panic tax.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Server-authoritative. The browser and the server load the same rules module, so the displayed price and the enforced price cannot drift.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Anonymity default-on, enforced server-side.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87D3266-BA1F-4961-8E99-8614A5D8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Three services at launch, each with a bounded intake a client can complete alone: testament + mandat (650 $) · procuration (295 $) · refinancement (2 000 $)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059144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230E49-2DC7-4B0B-A99B-5050BD4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This raise does not fund a build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D2A982-B984-4B06-92D5-A2F18366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The platform is written, tested and deployed. ~21,000 lines, built solo.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510780-8A63-41F8-A62F-3C785EF8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C44C07-BAD2-4AD2-B60B-20D94C61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Domain core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B0B019-6F2C-4BF2-B02D-286BCA33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Pure business rules — prices, tiers, cap, validation, dynamic pricing. Zero dependencies. Asserted by tests.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D16D5AD-A377-4F3C-B7FB-79394A29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D7FDBF-E04D-47D9-BEF9-2A1D0BA2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API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F54682-671C-42CB-9AC1-B43CBAF5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Lambda + single-table DynamoDB, hexagonal ports/adapters. Server revalidates every offer.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F29A621-2406-4338-81EB-731C5E2D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463608-D33C-4D75-85CD-55694083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Web app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847BED-2576-4B9D-9B9A-F3F97BB7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Public carnet, offer flow, dossier intake, Québec map, notary console. Zero runtime dependencies.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EAADA83-8BC5-4B58-A195-D7BC43A9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6FBDB65-B332-46CF-8A5F-FCF68693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Payments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D770E2-1BEF-4B76-A518-4BB3FB40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Stripe — card authorized at post, captured on completion, connected accounts, reconciliation.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C32794D-EBA1-4A38-8946-DA441A88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C546979-4B12-4636-81FA-6F6376E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Notary side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DC8CEBB-4E93-4F25-972E-12E83BBF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Auth, sign-up gate, lead-delivery preferences, ICS calendar feed, earnings roll-up.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2DE3E24-B6EC-4946-B294-86491408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AE31F9-2DEB-4F5A-8CC7-D53AF0C9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Ops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AAB020-1E50-4363-8547-2A7ED8D6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Admin console, transactional email + scheduled reminders, analytics with drift healing.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EB41EE-3DFA-442D-8CEC-47E1398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2E7289-0872-4057-8EE5-E118ED9A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Infrastructure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D90F0AA-889C-499C-8993-1D27999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Terraform: S3 + CloudFront OAC + IAM-authed Lambda + DynamoDB, live in ca-central-1. Idle cost ≈ $0.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2EFCEDB-9609-4788-AA2E-C666E599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056AF31-A758-4955-B82E-09B68681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Quality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04E0A1D-5509-427D-B221-E5B624F8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Unit, jsdom and Cucumber BDD suites. CI on every push. Seven architecture decision records.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2B3349B-0889-4F58-B536-54A6CFC7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Law 25 compliance is designed in, not bolted on: Canadian data residency, anonymity default-on, consent at collection.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83854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9BA09A-192D-4C37-864A-4DBB7508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Why now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873AA8-F4F3-49D8-A96F-552D32B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Five things converged, and none of them are under our control — which is the point.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EA9A961-8929-49FC-8218-09011A2B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682EFE-E0D7-47AB-9612-D0BFBBF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2067E5-1510-4636-8573-7451DE1E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2763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Remote acts became law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08D76D-6526-4E94-8052-B2EC84E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934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Bill 34 made the acte notarié technologique permanent in October 2023. The rails exist and are sanctioned. We are not betting on legislation.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D479D6B-0343-43F1-9583-206727A4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7D614F-E606-4D1C-8FD1-32545B09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690E387-3699-4188-BD82-6C21DC81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49631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35 years of blind pricing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064144-8864-413D-A9B5-50C62E79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7802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Fees free since 1991, no discovery mechanism ever built. The gap does not close on its own.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3460974-2D3C-48DD-AE46-296A680A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DE4A33-8933-423E-8331-AAF2D8FE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0EA7E33-29E1-4550-8F23-CE3233B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36499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renewal wall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B34F341-5907-46E3-8DA8-B3B3634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~1.2M Canadian fixed-rate mortgages renewing in 2025, driving volume into the highest-value service on the platform.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383FE1-BE79-4F97-AD31-45D29A5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47A35E-A331-4EDF-8AA0-9E0A9694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49C9D2F-DF20-42F8-9318-B391C46D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3367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wealth transfer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6E673B4-8245-4565-95DE-B2F37CAE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1538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The largest intergenerational transfer in Canadian history, against a population where half have no will.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18C7873-7243-4383-84F1-CD6F2BC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244084E-9252-4B7D-8BB1-5C5CEC5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A22E84-AA84-4F02-920F-BEDCB6FD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10235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Access-to-justice pressure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C35D9EF-A3CA-470D-99A9-B943DC9B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08406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Notary coverage is uneven across the regions — and "distance from an available notary" is a statutorily recognised ground for signing remotely.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18233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36677A-E4F3-47F7-9203-B84CEF4F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Market — bottom up, Québec only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A223BC-E0E8-4572-9699-39BCE6D2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Year 3 needs 3.7% of the addressable act volume. The plan does not require winning the market.</a:t>
            </a:r>
            <a:endParaRPr sz="1400"/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4360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c06f24cd204f19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4443747-9A90-4B3D-9627-0F320EF1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5120640" cy="3063240"/>
          </a:xfrm>
          <a:prstGeom xmlns:a="http://schemas.openxmlformats.org/drawingml/2006/main" prst="roundRect">
            <a:avLst>
              <a:gd name="adj" fmla="val 268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549E252-D492-4AF4-8CCE-0E746EAB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051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TAM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064BC3C-B7D7-460B-A172-8348F7E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8216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~$1.1–1.2B</a:t>
            </a:r>
            <a:endParaRPr sz="2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1F499AA-B0DA-4D74-BD25-1D3A977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0552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Annual professional fees billed by ~3,900 Québec notaries.</a:t>
            </a:r>
            <a:endParaRPr sz="11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097429F-F92A-4F7D-A473-E7E37ED5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9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SAM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D981153-690B-42F2-9A21-4B45E26E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6624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~$245M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B12455F-BD8A-48C3-A41C-FABD2F00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89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~300,000 acts/year across the three bounded services.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5A3DBDA-7627-4AB5-B873-FBB36DF7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SOM (Y3)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2087A5A-AC53-4CC7-8867-4D748F49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85032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11,000 acts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6C4307F-E668-45FB-8946-8C13A796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73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3.7% of SAM volume · $16.0M GMV · $1.6M net revenue.</a:t>
            </a:r>
            <a:endParaRPr sz="11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43C5F87-0E00-4740-8739-38913F77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D7F0AB9-96E1-45E5-A522-EBEA9AD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109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Beyond the three services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7F8D3DF-A135-4F03-8497-87F19542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285232"/>
            <a:ext cx="10012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Residential closings alone run ~90,000 transactions a year in Québec at 1,500–3,500 $ — a single category larger than the entire current SAM. Beyond Québec, the civil-law notariat spans ~90 states of the International Union of Notaries, all built on the same instrument. That is where a 100× claim actually lives.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991562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41D367-8E73-442D-9F54-2F0363D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Business model — and the constraint that shapes it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D76F3F-1BAC-4FC1-9933-449CC11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Québec's Code de déontologie forbids sharing a notary's professional fee with a non-notaire. That is a design input, not a footnote.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59DC2F-0145-402B-A6B0-EA9FCD1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FBEDEB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501FFF-F371-4996-888F-9550DC4F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A8453B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470F96D-1433-4794-B9F7-55AF2CEA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COMMISSION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DB2835-E735-40C7-AD96-E3D4A5C0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A2E26"/>
                </a:solidFill>
                <a:latin typeface="Cambria"/>
                <a:ea typeface="Cambria"/>
                <a:cs typeface="Cambria"/>
              </a:rPr>
              <a:t>Deducted from the notary's fee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E697CE-8E85-4E8D-8FD7-012C2FFF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Client pays 650 $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Notary receives 585 $  (90%)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6B3029"/>
                </a:solidFill>
                <a:latin typeface="Calibri"/>
                <a:ea typeface="Calibri"/>
                <a:cs typeface="Calibri"/>
              </a:rPr>
              <a:t>Nota keeps 65 $ out of the notary's honoraires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31EC61-008B-4D04-986B-322BE0C5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A8453B"/>
                </a:solidFill>
                <a:latin typeface="Calibri"/>
                <a:ea typeface="Calibri"/>
                <a:cs typeface="Calibri"/>
              </a:rPr>
              <a:t>Textbook fee-sharing. Exposes every notary on the platform to a disciplinary complaint.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C520F69-FE8A-40BD-8C2E-C081D819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E5EEF3"/>
          </a:solidFill>
          <a:ln xmlns:a="http://schemas.openxmlformats.org/drawingml/2006/main" w="9525">
            <a:solidFill>
              <a:srgbClr val="C5D8D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EAA964B-4B2B-4CFA-9ADC-0D01842E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407598"/>
          </a:solidFill>
          <a:ln xmlns:a="http://schemas.openxmlformats.org/drawingml/2006/main" w="9525">
            <a:solidFill>
              <a:srgbClr val="40759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FB4C98-23CC-4BFF-8960-0049741E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CLIENT-SIDE FEE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18D18EB-25E7-47F3-9146-723DA4B5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D5648"/>
                </a:solidFill>
                <a:latin typeface="Cambria"/>
                <a:ea typeface="Cambria"/>
                <a:cs typeface="Cambria"/>
              </a:rPr>
              <a:t>Charged on top, for Nota's own service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043F53-2DA3-4783-8075-3B4C159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Client pays 650 $ + 65 $ service fee = 715 $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Notary receives 650 $  (100%)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23524A"/>
                </a:solidFill>
                <a:latin typeface="Calibri"/>
                <a:ea typeface="Calibri"/>
                <a:cs typeface="Calibri"/>
              </a:rPr>
              <a:t>Nota is paid by the client for sourcing, dossier assembly and the transaction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F187987-C531-44EA-8187-2903327C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Identical unit economics. No share of any professional fee. Exposure disappears.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01F9861-F57E-489C-9DBA-E89B9DA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202E7F-01D9-4546-B93D-147D0F6A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10012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765685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8EEAC1-4A50-47E7-A498-DA2628B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Phase 1 — the price of time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451080-F1A0-4509-BA52-1998B50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Prove that a time-priced notarial marketplace clears, in one city, with real money.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DB73D03-F48F-48B4-B2F9-8379C18A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657600" cy="4114800"/>
          </a:xfrm>
          <a:prstGeom xmlns:a="http://schemas.openxmlformats.org/drawingml/2006/main" prst="roundRect">
            <a:avLst>
              <a:gd name="adj" fmla="val 2250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58C717-DED9-4EBA-AC3B-B94F3DEE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City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1D8A9B9-1A55-48A2-94C4-6B54C00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~850,000 people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~400 notaries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876B00-F4D8-4644-B865-169BB774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2926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Chosen over Montréal on purpose: small enough that a solo founder can meet a material share of local supply in person, dense enough to reach liquidity.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712493-7D8A-493E-93E1-19B7483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 i="1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Supply joins free, with no card. The only thing a notary risks by signing up is nothing.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CEDECCD-0CE2-4BEF-B0C4-6228E5F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BE218DE-C1A8-4D32-8D64-333C897F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45920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M1–2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EAED45-81DB-4F4D-87C2-4FD17DB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45920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Déontologie restructure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D61FF-38D0-4B3A-B84D-CE2FD0ED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45920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Client-side fee, billing refactor, written legal opinion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0A1266B-32B2-42B1-AFEF-9CD0AE4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45920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Opinion on file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4358247-9A5D-463D-8B92-C241AD40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70048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22AB4A-5ED6-4E0A-835A-112A4B9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0048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M1–3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E3745A-6D78-4302-A16D-80F312D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70048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Supply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0C35100-2028-4225-A5CD-7E80CF7A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670048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30 Québec City notaries recruited in person, free to join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3E0CCCB-73D6-4969-948A-F98208A9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670048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25+ notaries live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F4148B5-7DCB-4B4A-8433-FED6BC0B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73054F0-9FA4-4E84-8367-6A44E140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694176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M3–6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591004C-6B6C-466E-8387-0241385D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4176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Demand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BB2B407-145A-4820-8E49-E474724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94176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Carnet SEO, broker and planner referral partnerships, urgency-targeted paid search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9825865-9008-41C2-855E-C07A9B35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694176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Fill rate &gt; 45%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EC26C5B-ED2D-406A-A2FB-A5E7E9CB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718304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8BCB346-5ED1-4419-93B0-E22A8768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18304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M6–12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C09A8BA-C439-42B7-BDE5-D08DA6C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718304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Liquidity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57B10EF-157B-4D68-9D32-D30F8A0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18304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Tighten time-to-retain, publish the urgency curve, extend to Lévis and Saguenay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06A36B-4A02-4835-824A-41A1030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718304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2E7D6B"/>
                </a:solidFill>
                <a:latin typeface="Calibri"/>
                <a:ea typeface="Calibri"/>
                <a:cs typeface="Calibri"/>
              </a:rPr>
              <a:t>Fill rate &gt; 60%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8D0701D-F687-402D-935E-80AC0BA2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The asset Phase 1 produces is not revenue — it is the only dataset of realised price × days-to-date × act type in Québec. Nobody can reconstruct it without running the same market for the same year.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46684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8F63E3-460B-4974-8F73-733033A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Phase 2 — the act without the trip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7CBA83-34F7-4D06-94E0-E922906A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C0D8"/>
                </a:solidFill>
                <a:latin typeface="Calibri"/>
                <a:ea typeface="Calibri"/>
                <a:cs typeface="Calibri"/>
              </a:rPr>
              <a:t>The expansion is not saving the client a car trip. It is removing geography as a matching constraint.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078FDF6-64AC-420B-AF64-CC59035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1B3A63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CC42B2-324D-4AEB-B783-ACD66809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Today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77718EA-2FB4-4B11-95AC-BDBE06E9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39696"/>
            <a:ext cx="4480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9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client in Québec City is matched against ~400 notaries.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8F27168-6358-48FF-A555-1BE7E3F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B3D64"/>
          </a:solidFill>
          <a:ln xmlns:a="http://schemas.openxmlformats.org/drawingml/2006/main" w="9525">
            <a:solidFill>
              <a:srgbClr val="78A9B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62AF73-A1E6-4019-A8FC-E7708B3D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78A9BF"/>
                </a:solidFill>
                <a:latin typeface="Calibri"/>
                <a:ea typeface="Calibri"/>
                <a:cs typeface="Calibri"/>
              </a:rPr>
              <a:t>With remote matching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83BE17-8680-414B-8B58-8918A67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139696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6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same client is matched against ~3,900 — and a notary in Rimouski sells an empty Thursday to a client in Gatineau.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16E052F-7B6D-4C9D-9887-64697A9F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0820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The honest regulatory position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B9B537B-BCC7-479E-936F-CFD3F34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09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Remote signing is already legal and permanent in Québec — but under art. 46 it is exceptional: the request must come from a party, and the justifying circumstance must be specific to that party. Convenience does not qualify. The barrier is not the law's silence; it is that the justification burden and the disciplinary exposure sit entirely on the individual notary, who therefore defaults to "come in person".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0A189AC-8F8D-4F64-80D0-5A3BE7BC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A2C12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2D046E-5B5A-421E-B867-4F7AE5F7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32180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That is a product.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D858447-CB22-413C-AEE5-40D88BA9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6868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F0DCB8"/>
                </a:solidFill>
                <a:latin typeface="Calibri"/>
                <a:ea typeface="Calibri"/>
                <a:cs typeface="Calibri"/>
              </a:rPr>
              <a:t>Nota captures the party's request, classifies the qualifying circumstance, collects the evidence, and attaches a timestamped audit record to the dossier. The notary receives a file that is already defensible — a discretionary judgment call becomes a standard workflow. Phase 2 is designed to be fully valuable under the current statute; liberalisation is upside, not plan.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573138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10DEDB-F479-4221-B747-6748742D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Competition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E16EB5-EC02-4B0A-9676-9D8468E5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Every participant prices a document. Nota prices a date.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111AF2-9E3C-4080-AADE-2878BDD1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72768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Who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BA417B-6EF8-41AA-BE84-EA0C28F5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What they do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95D240-83E4-4FF3-9CB2-F1A480F8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72768"/>
            <a:ext cx="38221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Where Nota differs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F29381-1E18-47BD-9DAB-45457FE8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1952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7886A86-0E81-40AE-A840-78BF1AB9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1952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Notairo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5055BEB-50A8-42A8-BC07-50A8E67C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01952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Digital preparation of real-estate closings; final signature in person.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3CBA83-A054-4225-80B0-6C21A12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901952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Workflow software for one act type. Fixed pricing, no marketplace, no time-based discovery.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D2E790C-1774-4388-BC0A-DB8249C5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2BAE6C-D34C-4407-A2A5-FA36C507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Nolos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2FDBF9-9019-4B3E-92D3-967745F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761488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Online notarised wills, ~21 service points in Québec.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BACB06-1DD2-4E5B-A2CB-415F376F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61488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A distribution chain with fixed prices — not a market. No notary-side liquidity.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F1C69D1-0671-440E-9EF0-F218448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F22058-EB39-499E-904E-FFFAA6F7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2102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Neolegal / ScriptaLegal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3907678-89B2-44B3-8BDC-29B5C3B3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Online legal documents with notarial add-ons.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5FE882-F7EF-4DFF-B403-63C3D53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21024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Document-first and price-fixed. They do not sell notary availability.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788657-D091-4B87-B647-3FC98E8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76A9632-9F34-4D14-8BF3-2C3F3BDA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0560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Traditional practice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64C0BE2-6E45-4CD5-9E8D-3510CCD2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480560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Phone, referral, signage.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4D6C3C-F86C-4635-9A22-AE20AD4B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480560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The real competitor. Nota wins by pricing time, which the phone cannot do.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EF2E715-A4E4-4AB3-817B-C041F1C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0096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E32D3CC-962F-46A1-8E8D-8EF9B592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0096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US remote-notarisation platforms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504DCAC-90B7-478C-B6AB-DCF4B1B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340096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High-volume RON for common-law notaries public.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59E6265-E1ED-4D77-A4FA-879E947D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340096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Structurally cannot enter. A Québec notaire is a civil-law public officer, and their commission model is illegal here.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799BDF8-B6E4-4ABD-9E5F-7AC25E00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8200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744175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5B991E-BC76-4A21-83F3-BF20BCEF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Financial trajectory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2A0213-992C-47F2-AC9A-BC13ECC4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Year 1 is a proof-of-liquidity year, and the model says so rather than pretending otherwise.</a:t>
            </a:r>
            <a:endParaRPr sz="1400"/>
          </a:p>
        </p:txBody>
      </p:sp>
      <p:graphicFrame>
        <p:nvGraphicFramePr>
          <p:cNvPr id="50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21792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9ede0755024384"/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2544BD1-7F3F-4F98-A83A-AB338FC7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2763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DBC23C8-2A58-4398-911D-B6EA5D66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Y1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5B76449-84F5-41A8-917A-3AB9F6C1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Y2</a:t>
            </a:r>
            <a:endParaRPr sz="11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CA18B8F-A6B8-41E1-8305-47517CF4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Y3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6D52D5F-B8B6-41A9-88CC-C9D61BA2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2996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91E12C-FFD3-4167-9896-5DF69EE9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2996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Notaries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F1681A1-BD80-4D11-9468-D038B239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30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B5BA4D1-47DB-493C-B634-15F25FD0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220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5661375-044E-4964-9D75-CAAA562A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700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7999AE5-746C-4E74-93CF-35B6D927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230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DA88988-4CE8-4124-BD80-D6B2B5BE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3230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Fill rate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4DAB44F-9A07-40F0-866C-FAD6AEB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56%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80974F0-97C1-49D5-AA0F-48FB9155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57%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0968BDA-ABE0-4225-987A-E7276666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62%</a:t>
            </a:r>
            <a:endParaRPr sz="11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A1D80BC-0985-48C2-855E-D3E56B9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4640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D16E288-03B8-4A24-90A1-33AE9B74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Acts completed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7379D2C-F73F-42B9-BACA-2E469FC7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244</a:t>
            </a:r>
            <a:endParaRPr sz="11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368F73B-B220-4BEB-A957-392A4D5B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2,800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ACD2A2E-8600-4304-8CF0-6E5FB133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11,000</a:t>
            </a:r>
            <a:endParaRPr sz="11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6FE3E1E-5957-489A-A750-E6FCC4B6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6976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50BDC0A-05E8-4369-90C4-0836CB92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36976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GMV</a:t>
            </a:r>
            <a:endParaRPr sz="11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FA6488E4-F6EF-4809-AA8C-B5DAD831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$258K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905B7A5-4CCB-456C-92C0-DA6FAC9D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$3.22M</a:t>
            </a:r>
            <a:endParaRPr sz="11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613EE2C-937D-449C-803E-F75F716B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$15.95M</a:t>
            </a:r>
            <a:endParaRPr sz="11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B6D6B79-321B-4B44-A8B8-1F60C0BB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9312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15FA05F-A894-49C1-957E-0936F1D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63931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Net revenue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5B7DDBF-8DD2-4A6F-AED8-311D5602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$25.8K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7491DE4-5746-4CD5-86BD-75F8946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$322K</a:t>
            </a:r>
            <a:endParaRPr sz="11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824A484-A8AE-45DD-A112-F5ABE6C6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$1.60M</a:t>
            </a:r>
            <a:endParaRPr sz="11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085625E0-6E41-40D9-865B-0E52942D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164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D113FA6-4A0F-4153-B7D2-8D4CDDE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04164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Gross margin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3AA41F9-4AC3-43F1-8F2B-036D6DD4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89%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192CE60E-0DDC-4A1C-B1D7-A321CFDF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90%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F78892A-2EC0-46A1-A1CA-D3AAB3A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91%</a:t>
            </a:r>
            <a:endParaRPr sz="11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731653E6-D5F8-4343-B601-05629653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398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AB0D712-8184-411D-ABCA-B37A505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4398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Net income</a:t>
            </a:r>
            <a:endParaRPr sz="11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2F76A78E-BCA1-44AF-A618-4DB4412D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($227K)</a:t>
            </a:r>
            <a:endParaRPr sz="11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A145D00E-D078-47E9-A439-105B5C1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($430K)</a:t>
            </a:r>
            <a:endParaRPr sz="115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D3DC69B0-9A1E-45DA-986A-A1A28C05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33415C"/>
                </a:solidFill>
                <a:latin typeface="Calibri"/>
                <a:ea typeface="Calibri"/>
                <a:cs typeface="Calibri"/>
              </a:rPr>
              <a:t>($391K)</a:t>
            </a:r>
            <a:endParaRPr sz="115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56B6352F-3A6B-44BA-8277-61359D7A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41732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271649C9-4C4B-4FB4-8692-CE4DF79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Unit economics</a:t>
            </a:r>
            <a:endParaRPr sz="11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48E5E0E-908A-44CB-BC9F-2D79091A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413248"/>
            <a:ext cx="10012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86296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C2053C-17E8-4E11-AD9F-7A9D5BB8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Use of funds — $250,000 over 12 months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665020-3E53-468A-A6AB-00A98D06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Average burn ~$20,800/month. Legal is front-loaded on purpose: the déontologie opinion unblocks everything else.</a:t>
            </a:r>
            <a:endParaRPr sz="1400"/>
          </a:p>
        </p:txBody>
      </p:sp>
      <p:graphicFrame>
        <p:nvGraphicFramePr>
          <p:cNvPr id="41" name="Chart 0"/>
          <p:cNvGraphicFramePr/>
          <p:nvPr/>
        </p:nvGraphicFramePr>
        <p:xfrm>
          <a:off xmlns:a="http://schemas.openxmlformats.org/drawingml/2006/main" x="548640" y="1554480"/>
          <a:ext xmlns:a="http://schemas.openxmlformats.org/drawingml/2006/main" cx="539496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751170d65743b6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4D806B4-E0AD-4694-9E71-38BC87F6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7D2410A-5006-454D-8335-478F7661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691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Founder salary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183D339-D57E-4F5C-AB5C-B82893E4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$96,000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7D56BCC-76DE-4A44-B4CC-5E5391A5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691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8,000/mo. Below market — this round buys focus.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1612A45-DDFC-4609-8D0E-558A0417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B91534-E6C3-4586-9CD3-EBB74D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148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Client acquisition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6336EF1-6462-449A-83A2-FD04C89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48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$40,000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3FEEC7B-E053-40DF-9A21-7548CA95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148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Paid search, content, partnership build-out.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29DF473-B8F9-4F12-BAE3-4CFEF351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06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FBF8F6B-ED10-4B95-909B-E36170D8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606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Notary advisor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3D783FC-9AE4-41E3-9F48-DF9A6E46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06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C013F8B-7595-4D5A-8891-F06A0EE3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606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Part-time practising notary. Credibility and correctness.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58B6ECA-8DF5-434E-ADD9-FD918AE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78E30CE-FFBA-49A2-B4E8-25B287D8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0632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Design contract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1F844B2-4F4F-4233-A854-21F1D453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632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F964B7F-71DB-4836-BEE2-E3EC315A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0632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~3 months part-time front-end.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CED06E2-FD88-4502-850E-1DC4BA1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04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5D3DFEF-6731-46F8-864E-AB11A270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5204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Legal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182F1FA-EB88-45AE-A2E3-5BB0AB65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204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$20,000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60F1FA6-77DB-4542-A661-13C168A6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5204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Déontologie opinion, Chambre, incorporation, Law 25.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7CA0B6E-0C5D-4D5E-AA92-6D635DEF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77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2D557DB-2767-4ECD-B9F8-FF6DB80E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977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Contingency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CA0B8F6-72F4-45A7-8C93-DBDCD7DB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77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$17,000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1DD877-47B1-4629-B8AD-135281DA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977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~7%.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578DA60-5386-40AF-A9E6-E6810A26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34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B00C55C-343A-406A-A054-82F6ACC2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434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Notary acquisition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69CBE3B-6596-4118-B79E-260620D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34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$15,000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4365211-340F-47E0-9534-0BF7541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434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Field sales, congrès, travel.</a:t>
            </a:r>
            <a:endParaRPr sz="10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B16AC3E-C768-433E-B205-64CC9C38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B843C75-D80B-46BF-A92F-9CFC3C12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892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33F"/>
                </a:solidFill>
                <a:latin typeface="Calibri"/>
                <a:ea typeface="Calibri"/>
                <a:cs typeface="Calibri"/>
              </a:rPr>
              <a:t>Infra &amp; tooling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CAA3D3B-7B32-4085-8DCB-72850161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92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B87A17"/>
                </a:solidFill>
                <a:latin typeface="Calibri"/>
                <a:ea typeface="Calibri"/>
                <a:cs typeface="Calibri"/>
              </a:rPr>
              <a:t>$12,000</a:t>
            </a:r>
            <a:endParaRPr sz="12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5F428CC-FCBC-4017-9A6A-E5013FF1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892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Serverless keeps this small.</a:t>
            </a:r>
            <a:endParaRPr sz="10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EAADF79C-C6B0-4268-912F-F2E22722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486400"/>
            <a:ext cx="5376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i="1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Non-dilutive stacking: refundable SR&amp;ED and Québec R&amp;D wage credits are modelled at zero and treated as runway extension (~2–3 months), not budgeted revenue.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02686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C55545-922B-434D-9195-9738327C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What has to be true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E4F9F4-6E21-4B24-A525-6B732B89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6748A"/>
                </a:solidFill>
                <a:latin typeface="Calibri"/>
                <a:ea typeface="Calibri"/>
                <a:cs typeface="Calibri"/>
              </a:rPr>
              <a:t>Three assumptions carry the model. Each has a named falsification test — and all three resolve inside this round.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5601B78-56B3-4D06-9E3F-532C404E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F4E6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2BF2D57-5799-4560-988C-3304570F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19CAED-D1BF-43E0-993B-3F3C034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0CAAC7E-574C-4461-95E9-7475AE22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874520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Clients pay a premium for a date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45182B3-3D5D-4865-9DAC-D544742C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74520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Realised premium distribution by tier. If urgence and extreme bids do not clear above standard, the core thesis is wrong.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D3F18A7-189E-4DC9-A0FA-00C0E8D4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E9DD48-940D-4808-BCD8-697594F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6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44D077B-AA2E-4D49-8DC0-1298005C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A0EB9E9-2FC9-41BB-824A-C0F92B1F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5D05E6-9845-457A-A497-D0365741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4CF7EAA-A6AD-4ED6-BFB2-3C3C494A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264408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Notaries sell short-notice availability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ACB2678-6A8B-4206-9185-C1BDBAC7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Fill rate on the prioritaire and urgence tiers specifically, not blended.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C05DE4-8FB4-4F40-B17C-F8872CB4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A1049A9-AFE7-4F5D-8D2B-C47C39A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5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9F169A-BA94-4183-B5EE-E2ACB00D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1416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DDE5EF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0A1628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C167FF-14C1-43C3-A80B-5A88E7ED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A9FE61E-2AD7-4674-AF5E-DEE10371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6700432-3016-4315-8B06-0D11B012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654296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10233F"/>
                </a:solidFill>
                <a:latin typeface="Cambria"/>
                <a:ea typeface="Cambria"/>
                <a:cs typeface="Cambria"/>
              </a:rPr>
              <a:t>The client-side fee is déontologie-safe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FD4C123-583C-47C5-871D-60620DE3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654296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6536B"/>
                </a:solidFill>
                <a:latin typeface="Calibri"/>
                <a:ea typeface="Calibri"/>
                <a:cs typeface="Calibri"/>
              </a:rPr>
              <a:t>A written legal opinion from Québec counsel, with structured Chambre engagement.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3DA6ECE-4009-4F8D-B785-3AAA0DDF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7598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27D2459-C96E-4FB3-9B66-10DE406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 2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9C5E32B-7C82-46C3-8ADB-77FD0146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B87A17"/>
                </a:solidFill>
                <a:latin typeface="Cambria"/>
                <a:ea typeface="Cambria"/>
                <a:cs typeface="Cambria"/>
              </a:rPr>
              <a:t>That is the argument for the round size. $250,000 is enough to confirm or refute the entire thesis, and not a dollar is spent building something that has not been validated.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274911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C16C2F-36DE-4522-B4AD-F348320F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09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ask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7B2DCD-A658-4345-BAA7-95D626C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E5A13A"/>
                </a:solidFill>
                <a:latin typeface="Calibri"/>
                <a:ea typeface="Calibri"/>
                <a:cs typeface="Calibri"/>
              </a:rPr>
              <a:t>$250,000 CAD pre-seed · 12 months · SAFE or convertible note with an angel lead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59E096-679D-4C97-B67C-897772D3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2EACF3-4DB5-4B59-9138-2E1FFB8B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Legal footing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407C86-3895-48AF-9D64-70A1F9B7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 déontologie-clean structure with a written opinion on file — the largest risk in the business, retired first.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9DF9562-9232-410D-B5F2-BEC391F9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EB5E64-8631-46A9-8A90-C9EFA445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A working market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1BB77B-56DB-488D-9D30-6F8C1F8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30 notaries and functioning two-sided liquidity in Québec City.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876385-FD9C-495E-9536-FB64C76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676993-8601-46B8-9657-82E0A67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Proprietary data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0FF8C0E-769F-4D59-90BC-5FC5BE0D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244 completed acts and the first urgency price curve for the Québec notarial market. It does not otherwise exist.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D26F042-5EFB-4DDF-B9FC-6397F6F6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B3A63"/>
          </a:solidFill>
          <a:ln xmlns:a="http://schemas.openxmlformats.org/drawingml/2006/main" w="12700">
            <a:solidFill>
              <a:srgbClr val="27456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7ECC41F-0A7C-47AD-8C23-A0C5E2E8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5A13A"/>
                </a:solidFill>
                <a:latin typeface="Cambria"/>
                <a:ea typeface="Cambria"/>
                <a:cs typeface="Cambria"/>
              </a:rPr>
              <a:t>Phase 2 in reach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20C872-72DE-4366-A093-8F7FB3D1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The art. 46 compliance layer shipped, making remote signing routine where the law already allows it.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3DFB5E3-1E69-4288-B15D-06093A0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6048"/>
            <a:ext cx="2377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13A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8A117CF-5F93-42A5-B2E4-25ABA278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8595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Québec deregulated notary fees in 1991 and never built a market.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market is built. This funds finding out whether it clears.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371E61E-873C-4A59-BDB1-3D39C053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212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 Paquet</a:t>
            </a:r>
            <a:endParaRPr sz="1200"/>
          </a:p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9FB3CC"/>
                </a:solidFill>
                <a:latin typeface="Calibri"/>
                <a:ea typeface="Calibri"/>
                <a:cs typeface="Calibri"/>
              </a:rPr>
              <a:t>anthonypaquet1508@gmail.com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106706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49BB79-4469-4735-8A7D-A43BF498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A learning loop with the notary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80991-8428-4C3F-A08B-8F4D72F9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FBD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AFBDCA"/>
                </a:solidFill>
                <a:latin typeface="Helvetica Neue"/>
                <a:ea typeface="Helvetica Neue"/>
                <a:cs typeface="Helvetica Neue"/>
              </a:rPr>
              <a:t>Real user behavior and reviewed feedback make simple acts more useful over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735A1-1FEC-4F8D-9EC5-9C492C8A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8575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3D64"/>
          </a:solidFill>
          <a:ln xmlns:a="http://schemas.openxmlformats.org/drawingml/2006/main" w="9525">
            <a:solidFill>
              <a:srgbClr val="78A9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3ED1F-BA66-45C6-B32D-E0A9A51C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02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262D0-368C-483C-91F6-7F31E41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Usage, questions, corrections and completion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080F8-E1A8-41F4-84F3-BAEB2FDD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57350"/>
            <a:ext cx="28575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3D64"/>
          </a:solidFill>
          <a:ln xmlns:a="http://schemas.openxmlformats.org/drawingml/2006/main" w="9525">
            <a:solidFill>
              <a:srgbClr val="F0A4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BF7CE-9A44-488D-A49D-450B4954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02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A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0A45D"/>
                </a:solidFill>
                <a:latin typeface="Helvetica Neue"/>
                <a:ea typeface="Helvetica Neue"/>
                <a:cs typeface="Helvetica Neue"/>
              </a:rPr>
              <a:t>NOTARY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625B1-01CA-49CC-B44C-BACF52BF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Workflow review, edge cases and safe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BE07F-A1F7-4DAB-BF96-1A5BD75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8575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3D64"/>
          </a:solidFill>
          <a:ln xmlns:a="http://schemas.openxmlformats.org/drawingml/2006/main" w="9525">
            <a:solidFill>
              <a:srgbClr val="78A9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AC866-0E93-4EAF-A7C5-8DCADE2A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95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rPr>
              <a:t>MEASURED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49DC7-C72E-49FB-9C63-DC18F622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Review time, omissions, acceptance and completion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86E06-0F14-4A92-8701-5E7C41B0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76650"/>
            <a:ext cx="28575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3D64"/>
          </a:solidFill>
          <a:ln xmlns:a="http://schemas.openxmlformats.org/drawingml/2006/main" w="9525">
            <a:solidFill>
              <a:srgbClr val="78A9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F9A43-6462-42AA-9AB8-3B781575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95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rPr>
              <a:t>NOTA 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F486E-3A36-46AB-9007-E332691A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Versioned, act-specific preparation support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43300" y="2257425"/>
            <a:ext cx="5105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A9BF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077450" y="285750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A45D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2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543300" y="4276725"/>
            <a:ext cx="5105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A9BF"/>
            </a:solidFill>
            <a:prstDash val="solid"/>
            <a:head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114550" y="285750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A9B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17B43-FCEB-45CB-A469-38ECF43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95575"/>
            <a:ext cx="33147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9050">
            <a:solidFill>
              <a:srgbClr val="78A9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75F7A-9426-4B31-9A8A-8C24DBDF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rPr>
              <a:t>SHARED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32FA7-E052-466E-9425-7C36CE8B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99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Evaluate, review, improve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rot="16200000" flipH="1">
            <a:off x="3495675" y="2305050"/>
            <a:ext cx="990600" cy="8953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78A9BF"/>
            </a:solidFill>
            <a:prstDash val="dash"/>
          </a:ln>
        </p:spPr>
      </p:cxnSp>
      <p:cxnSp>
        <p:nvCxnSpPr>
          <p:cNvPr id="53" name=""/>
          <p:cNvCxnSpPr>
            <a:stCxn xmlns:a="http://schemas.openxmlformats.org/drawingml/2006/main" id="6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rot="5400000">
            <a:off x="7705725" y="2305050"/>
            <a:ext cx="990600" cy="8953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rgbClr val="F0A45D"/>
            </a:solidFill>
            <a:prstDash val="dash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E2D84-3472-43BC-BBE3-B88C444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FBD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AFBDCA"/>
                </a:solidFill>
                <a:latin typeface="Helvetica Neue"/>
                <a:ea typeface="Helvetica Neue"/>
                <a:cs typeface="Helvetica Neue"/>
              </a:rPr>
              <a:t>The notary remains the decision-maker. Every model update passes privacy, evaluation and rollback gates.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79FCD-8CCE-4879-ACB1-E8E08700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2197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3D64"/>
          </a:solidFill>
          <a:ln xmlns:a="http://schemas.openxmlformats.org/drawingml/2006/main" w="9525">
            <a:solidFill>
              <a:srgbClr val="F0A4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AC105-4417-4374-85D0-4FC83A73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A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0A45D"/>
                </a:solidFill>
                <a:latin typeface="Helvetica Neue"/>
                <a:ea typeface="Helvetica Neue"/>
                <a:cs typeface="Helvetica Neue"/>
              </a:rPr>
              <a:t>COLLABORATE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E4AA3-4C6B-4F90-8DA8-D980FE8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297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Structured feedback and evaluation may qualify for potential equity, subject to written terms and review.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ACC4A1-F191-45B8-BF82-64B9A0B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2197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3D64"/>
          </a:solidFill>
          <a:ln xmlns:a="http://schemas.openxmlformats.org/drawingml/2006/main" w="9525">
            <a:solidFill>
              <a:srgbClr val="78A9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C1AFD-042B-473A-B587-ED775772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721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A9BF"/>
                </a:solidFill>
                <a:latin typeface="Helvetica Neue"/>
                <a:ea typeface="Helvetica Neue"/>
                <a:cs typeface="Helvetica Neue"/>
              </a:rPr>
              <a:t>SUBSCRIBE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FD3C5-F51E-41D3-A6BC-11D0F0E1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864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4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F4F6F8"/>
                </a:solidFill>
                <a:latin typeface="Helvetica Neue"/>
                <a:ea typeface="Helvetica Neue"/>
                <a:cs typeface="Helvetica Neue"/>
              </a:rPr>
              <a:t>Monthly model access remains available without a direct feedback contribution.</a:t>
            </a:r>
          </a:p>
        </p:txBody>
      </p:sp>
    </p:spTree>
    <p:extLst>
      <p:ext uri="{BB962C8B-B14F-4D97-AF65-F5344CB8AC3E}">
        <p14:creationId xmlns:p14="http://schemas.microsoft.com/office/powerpoint/2010/main" val="822803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2026-09-10T05:36:16.8550000Z</dcterms:created>
  <dcterms:modified xsi:type="dcterms:W3CDTF">2026-09-10T05:36:16.8550000Z</dcterms:modified>
</coreProperties>
</file>