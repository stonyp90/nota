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2821c863df45a6" /><Relationship Type="http://schemas.openxmlformats.org/officeDocument/2006/relationships/extended-properties" Target="/docProps/app.xml" Id="Rf68f3867bf1b4720" /><Relationship Type="http://schemas.openxmlformats.org/officeDocument/2006/relationships/officeDocument" Target="/ppt/presentation.xml" Id="R70235578af094d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ed619223a34c20"/>
  </p:sldMasterIdLst>
  <p:notesMasterIdLst>
    <p:notesMasterId xmlns:r="http://schemas.openxmlformats.org/officeDocument/2006/relationships" r:id="R09cad40d6b8d48cc"/>
  </p:notesMasterIdLst>
  <p:sldIdLst>
    <p:sldId xmlns:r="http://schemas.openxmlformats.org/officeDocument/2006/relationships" id="256" r:id="R6d0998208fb44e0f"/>
    <p:sldId xmlns:r="http://schemas.openxmlformats.org/officeDocument/2006/relationships" id="257" r:id="Rd807d439c66f4a10"/>
    <p:sldId xmlns:r="http://schemas.openxmlformats.org/officeDocument/2006/relationships" id="258" r:id="R1f6a6652343e4946"/>
    <p:sldId xmlns:r="http://schemas.openxmlformats.org/officeDocument/2006/relationships" id="259" r:id="R2dff0e641651472b"/>
    <p:sldId xmlns:r="http://schemas.openxmlformats.org/officeDocument/2006/relationships" id="260" r:id="R0021e9ef67784948"/>
    <p:sldId xmlns:r="http://schemas.openxmlformats.org/officeDocument/2006/relationships" id="261" r:id="R142144024fdc4ea7"/>
    <p:sldId xmlns:r="http://schemas.openxmlformats.org/officeDocument/2006/relationships" id="262" r:id="R5cf779557ff44943"/>
    <p:sldId xmlns:r="http://schemas.openxmlformats.org/officeDocument/2006/relationships" id="263" r:id="Rde2e11dc327f459f"/>
    <p:sldId xmlns:r="http://schemas.openxmlformats.org/officeDocument/2006/relationships" id="264" r:id="R7c2956e3043e4070"/>
    <p:sldId xmlns:r="http://schemas.openxmlformats.org/officeDocument/2006/relationships" id="265" r:id="Rfc781133e7eb4034"/>
    <p:sldId xmlns:r="http://schemas.openxmlformats.org/officeDocument/2006/relationships" id="266" r:id="R65c0116264544539"/>
    <p:sldId xmlns:r="http://schemas.openxmlformats.org/officeDocument/2006/relationships" id="267" r:id="Rfdc2d0e298ee4ac5"/>
    <p:sldId xmlns:r="http://schemas.openxmlformats.org/officeDocument/2006/relationships" id="268" r:id="R4b0d2983ff814bf6"/>
    <p:sldId xmlns:r="http://schemas.openxmlformats.org/officeDocument/2006/relationships" id="269" r:id="R429baa6b810f488c"/>
    <p:sldId xmlns:r="http://schemas.openxmlformats.org/officeDocument/2006/relationships" id="270" r:id="R6229546dda014d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f6f7c1c36f4a4a" /><Relationship Type="http://schemas.openxmlformats.org/officeDocument/2006/relationships/slideMaster" Target="/ppt/slideMasters/slideMaster1.xml" Id="R77ed619223a34c20" /><Relationship Type="http://schemas.openxmlformats.org/officeDocument/2006/relationships/notesMaster" Target="/ppt/notesMasters/notesMaster1.xml" Id="R09cad40d6b8d48cc" /><Relationship Type="http://schemas.openxmlformats.org/officeDocument/2006/relationships/presProps" Target="/ppt/presProps.xml" Id="R8de680b294b44104" /><Relationship Type="http://schemas.openxmlformats.org/officeDocument/2006/relationships/viewProps" Target="/ppt/viewProps.xml" Id="Rf85fb2cc3407446e" /><Relationship Type="http://schemas.openxmlformats.org/officeDocument/2006/relationships/tableStyles" Target="/ppt/tableStyles.xml" Id="R41de2502465d4be9" /><Relationship Type="http://schemas.openxmlformats.org/officeDocument/2006/relationships/slide" Target="/ppt/slides/slide1.xml" Id="R6d0998208fb44e0f" /><Relationship Type="http://schemas.openxmlformats.org/officeDocument/2006/relationships/slide" Target="/ppt/slides/slide2.xml" Id="Rd807d439c66f4a10" /><Relationship Type="http://schemas.openxmlformats.org/officeDocument/2006/relationships/slide" Target="/ppt/slides/slide3.xml" Id="R1f6a6652343e4946" /><Relationship Type="http://schemas.openxmlformats.org/officeDocument/2006/relationships/slide" Target="/ppt/slides/slide4.xml" Id="R2dff0e641651472b" /><Relationship Type="http://schemas.openxmlformats.org/officeDocument/2006/relationships/slide" Target="/ppt/slides/slide5.xml" Id="R0021e9ef67784948" /><Relationship Type="http://schemas.openxmlformats.org/officeDocument/2006/relationships/slide" Target="/ppt/slides/slide6.xml" Id="R142144024fdc4ea7" /><Relationship Type="http://schemas.openxmlformats.org/officeDocument/2006/relationships/slide" Target="/ppt/slides/slide7.xml" Id="R5cf779557ff44943" /><Relationship Type="http://schemas.openxmlformats.org/officeDocument/2006/relationships/slide" Target="/ppt/slides/slide8.xml" Id="Rde2e11dc327f459f" /><Relationship Type="http://schemas.openxmlformats.org/officeDocument/2006/relationships/slide" Target="/ppt/slides/slide9.xml" Id="R7c2956e3043e4070" /><Relationship Type="http://schemas.openxmlformats.org/officeDocument/2006/relationships/slide" Target="/ppt/slides/slide10.xml" Id="Rfc781133e7eb4034" /><Relationship Type="http://schemas.openxmlformats.org/officeDocument/2006/relationships/slide" Target="/ppt/slides/slide11.xml" Id="R65c0116264544539" /><Relationship Type="http://schemas.openxmlformats.org/officeDocument/2006/relationships/slide" Target="/ppt/slides/slide12.xml" Id="Rfdc2d0e298ee4ac5" /><Relationship Type="http://schemas.openxmlformats.org/officeDocument/2006/relationships/slide" Target="/ppt/slides/slide13.xml" Id="R4b0d2983ff814bf6" /><Relationship Type="http://schemas.openxmlformats.org/officeDocument/2006/relationships/slide" Target="/ppt/slides/slide14.xml" Id="R429baa6b810f488c" /><Relationship Type="http://schemas.openxmlformats.org/officeDocument/2006/relationships/slide" Target="/ppt/slides/slide15.xml" Id="R6229546dda014d00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1B26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01B26"/>
                </a:solidFill>
                <a:latin typeface="Cambria"/>
              </a:rPr>
              <a:t>SAM — the three bounded services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act value ($M)</c:v>
                </c:pt>
              </c:strCache>
            </c:strRef>
          </c:tx>
          <c:spPr>
            <a:solidFill>
              <a:srgbClr val="386888"/>
            </a:solidFill>
            <a:effectLst/>
          </c:spPr>
          <c:invertIfNegative val="0"/>
          <c:dLbls>
            <c:numFmt formatCode="$#,##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1B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Wills + mandates
~200,000 acts</c:v>
                </c:pt>
                <c:pt idx="1">
                  <c:v>Refinancing
~50,000 acts</c:v>
                </c:pt>
                <c:pt idx="2">
                  <c:v>Procurations
~50,000 acts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</c:v>
                </c:pt>
                <c:pt idx="1">
                  <c:v>100</c:v>
                </c:pt>
                <c:pt idx="2">
                  <c:v>14.75</c:v>
                </c:pt>
              </c:numCache>
            </c:numRef>
          </c:val>
        </c:ser>
        <c:dLbls>
          <c:numFmt formatCode="$#,##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01B2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7C8D9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7759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7C8D9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1B26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01B26"/>
                </a:solidFill>
                <a:latin typeface="Cambria"/>
              </a:rPr>
              <a:t>GMV and net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($000)</c:v>
                </c:pt>
              </c:strCache>
            </c:strRef>
          </c:tx>
          <c:spPr>
            <a:solidFill>
              <a:srgbClr val="CBD8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Y1 2026-27</c:v>
                </c:pt>
                <c:pt idx="1">
                  <c:v>Y2 2027-28</c:v>
                </c:pt>
                <c:pt idx="2">
                  <c:v>Y3 2028-29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258</c:v>
                </c:pt>
                <c:pt idx="1">
                  <c:v>3220</c:v>
                </c:pt>
                <c:pt idx="2">
                  <c:v>15950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Net revenue ($000)</c:v>
                </c:pt>
              </c:strCache>
            </c:strRef>
          </c:tx>
          <c:spPr>
            <a:solidFill>
              <a:srgbClr val="407598"/>
            </a:solidFill>
            <a:ln w="50800" cap="flat">
              <a:solidFill>
                <a:srgbClr val="4075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407598"/>
              </a:solidFill>
              <a:ln w="9525" cap="flat">
                <a:solidFill>
                  <a:srgbClr val="407598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Y1 2026-27</c:v>
                </c:pt>
                <c:pt idx="1">
                  <c:v>Y2 2027-28</c:v>
                </c:pt>
                <c:pt idx="2">
                  <c:v>Y3 2028-29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</c:v>
                </c:pt>
                <c:pt idx="1">
                  <c:v>322</c:v>
                </c:pt>
                <c:pt idx="2">
                  <c:v>1595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C8D9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759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BF1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GMV ($000)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7C8D9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Net revenue ($000)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7C8D9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86888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C8D9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759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BFCFD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1B26"/>
              </a:solidFill>
              <a:effectLst/>
            </c:spPr>
          </c:dPt>
          <c:dPt>
            <c:idx val="1"/>
            <c:bubble3D val="0"/>
            <c:spPr>
              <a:solidFill>
                <a:srgbClr val="407598"/>
              </a:solidFill>
              <a:effectLst/>
            </c:spPr>
          </c:dPt>
          <c:dPt>
            <c:idx val="2"/>
            <c:bubble3D val="0"/>
            <c:spPr>
              <a:solidFill>
                <a:srgbClr val="386888"/>
              </a:solidFill>
              <a:effectLst/>
            </c:spPr>
          </c:dPt>
          <c:dPt>
            <c:idx val="3"/>
            <c:bubble3D val="0"/>
            <c:spPr>
              <a:solidFill>
                <a:srgbClr val="386888"/>
              </a:solidFill>
              <a:effectLst/>
            </c:spPr>
          </c:dPt>
          <c:dPt>
            <c:idx val="4"/>
            <c:bubble3D val="0"/>
            <c:spPr>
              <a:solidFill>
                <a:srgbClr val="386888"/>
              </a:solidFill>
              <a:effectLst/>
            </c:spPr>
          </c:dPt>
          <c:dPt>
            <c:idx val="5"/>
            <c:bubble3D val="0"/>
            <c:spPr>
              <a:solidFill>
                <a:srgbClr val="8FA5B3"/>
              </a:solidFill>
              <a:effectLst/>
            </c:spPr>
          </c:dPt>
          <c:dPt>
            <c:idx val="6"/>
            <c:bubble3D val="0"/>
            <c:spPr>
              <a:solidFill>
                <a:srgbClr val="386888"/>
              </a:solidFill>
              <a:effectLst/>
            </c:spPr>
          </c:dPt>
          <c:dPt>
            <c:idx val="7"/>
            <c:bubble3D val="0"/>
            <c:spPr>
              <a:solidFill>
                <a:srgbClr val="CBD8E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Founder salary</c:v>
                </c:pt>
                <c:pt idx="1">
                  <c:v>Client acquisition</c:v>
                </c:pt>
                <c:pt idx="2">
                  <c:v>Notary advisor</c:v>
                </c:pt>
                <c:pt idx="3">
                  <c:v>Design contract</c:v>
                </c:pt>
                <c:pt idx="4">
                  <c:v>Legal</c:v>
                </c:pt>
                <c:pt idx="5">
                  <c:v>Contingency</c:v>
                </c:pt>
                <c:pt idx="6">
                  <c:v>Notary acquisition</c:v>
                </c:pt>
                <c:pt idx="7">
                  <c:v>Infra &amp; tooling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96000</c:v>
                </c:pt>
                <c:pt idx="1">
                  <c:v>40000</c:v>
                </c:pt>
                <c:pt idx="2">
                  <c:v>25000</c:v>
                </c:pt>
                <c:pt idx="3">
                  <c:v>25000</c:v>
                </c:pt>
                <c:pt idx="4">
                  <c:v>20000</c:v>
                </c:pt>
                <c:pt idx="5">
                  <c:v>17000</c:v>
                </c:pt>
                <c:pt idx="6">
                  <c:v>15000</c:v>
                </c:pt>
                <c:pt idx="7">
                  <c:v>12000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759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3b4952ad7741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Nota Editorial">
      <a:dk1>
        <a:srgbClr val="0B1924"/>
      </a:dk1>
      <a:lt1>
        <a:srgbClr val="FBFCFD"/>
      </a:lt1>
      <a:dk2>
        <a:srgbClr val="274A62"/>
      </a:dk2>
      <a:lt2>
        <a:srgbClr val="EBF1F5"/>
      </a:lt2>
      <a:accent1>
        <a:srgbClr val="386888"/>
      </a:accent1>
      <a:accent2>
        <a:srgbClr val="407598"/>
      </a:accent2>
      <a:accent3>
        <a:srgbClr val="B87569"/>
      </a:accent3>
      <a:accent4>
        <a:srgbClr val="7D93A2"/>
      </a:accent4>
      <a:accent5>
        <a:srgbClr val="477593"/>
      </a:accent5>
      <a:accent6>
        <a:srgbClr val="274A62"/>
      </a:accent6>
      <a:hlink>
        <a:srgbClr val="386888"/>
      </a:hlink>
      <a:folHlink>
        <a:srgbClr val="274A6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Nota Editori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a44050bffc4020" /><Relationship Type="http://schemas.openxmlformats.org/officeDocument/2006/relationships/notesMaster" Target="/ppt/notesMasters/notesMaster1.xml" Id="Re358650a33a94c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08daa541b9432e" /><Relationship Type="http://schemas.openxmlformats.org/officeDocument/2006/relationships/notesMaster" Target="/ppt/notesMasters/notesMaster1.xml" Id="Re51af5d6a3b748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62015b6bac4d03" /><Relationship Type="http://schemas.openxmlformats.org/officeDocument/2006/relationships/notesMaster" Target="/ppt/notesMasters/notesMaster1.xml" Id="R306fa25d888f4b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17809c86ce48a4" /><Relationship Type="http://schemas.openxmlformats.org/officeDocument/2006/relationships/notesMaster" Target="/ppt/notesMasters/notesMaster1.xml" Id="Ra776f79985b041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599dd81fbb4aa8" /><Relationship Type="http://schemas.openxmlformats.org/officeDocument/2006/relationships/notesMaster" Target="/ppt/notesMasters/notesMaster1.xml" Id="R23335392c9874a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ae3a9dfe374812" /><Relationship Type="http://schemas.openxmlformats.org/officeDocument/2006/relationships/notesMaster" Target="/ppt/notesMasters/notesMaster1.xml" Id="Rd9b7da90462147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cc243cde634adf" /><Relationship Type="http://schemas.openxmlformats.org/officeDocument/2006/relationships/notesMaster" Target="/ppt/notesMasters/notesMaster1.xml" Id="Ra15f8e3691d441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e5ed4bddbd4cb0" /><Relationship Type="http://schemas.openxmlformats.org/officeDocument/2006/relationships/notesMaster" Target="/ppt/notesMasters/notesMaster1.xml" Id="R837ba7badf424b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4cb809dcdd4004" /><Relationship Type="http://schemas.openxmlformats.org/officeDocument/2006/relationships/notesMaster" Target="/ppt/notesMasters/notesMaster1.xml" Id="R49ff5e75c5ae4e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892ea8901b4f45" /><Relationship Type="http://schemas.openxmlformats.org/officeDocument/2006/relationships/notesMaster" Target="/ppt/notesMasters/notesMaster1.xml" Id="Rf68b847240934f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5946f61bea4df0" /><Relationship Type="http://schemas.openxmlformats.org/officeDocument/2006/relationships/notesMaster" Target="/ppt/notesMasters/notesMaster1.xml" Id="Ref65bd4410d144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a7c2f1425a4497" /><Relationship Type="http://schemas.openxmlformats.org/officeDocument/2006/relationships/notesMaster" Target="/ppt/notesMasters/notesMaster1.xml" Id="R74d3876aa32b4c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efa483f0064121" /><Relationship Type="http://schemas.openxmlformats.org/officeDocument/2006/relationships/notesMaster" Target="/ppt/notesMasters/notesMaster1.xml" Id="Rdbbb8909556041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c13a5d64cc4f96" /><Relationship Type="http://schemas.openxmlformats.org/officeDocument/2006/relationships/notesMaster" Target="/ppt/notesMasters/notesMaster1.xml" Id="R60bc1f9201c74c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fff36d61734eb0" /><Relationship Type="http://schemas.openxmlformats.org/officeDocument/2006/relationships/notesMaster" Target="/ppt/notesMasters/notesMaster1.xml" Id="Rc701b6b3f0114a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Québec deregulated notary fees in 1991 and never built a market. The product is already built and deployed. This round funds finding out whether it clears.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insight: deregulation without a market. Fees are legally free but structurally blind.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two-sided failure. The punchline is the last line: nobody sells time.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Tier is derived from days-to-date. Floors and the 10x cap live in the domain package and are asserted by tests.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pre-seed money funds the possibility that a team can build the thing. Here the thing is built. The money buys 12 months of undivided attention on distribution.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Bill 34 point is the most important: the legal rails already exist, which removes years and hundreds of thousands from Phase 2.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CNQ Registre des dispositions testamentaires (215,576 registrations 2017-18), CMHC renewal data, APCIQ 90,369 residential sales 2024.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direct about this in the room. The current code implements the commission model and flags itself. Fixing it before launch is milestone one.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metric governs Phase 1: fill rate. Below 40% the market is not clearing; above 60% the flywheel is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strategic core of the deck. Do not let it be heard as a regulatory bet — it is the opposite. The law already permits this; we remove the reason notaries decline.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US-platform row matters: it explains why a well-funded American entrant is not the threat people assume.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Y3 = 3.7% of addressable act volume. Series A trigger is exiting Y2 at a $300-500K ARR run-rate with province-wide liquidity proven.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Month 9-12 follow-on: IQ's Fonds Impulsion invests $250K-1M but requires a lead investor and an accelerator referral. Securing an angel lead here is the bridge.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Investors reward founders who name their own kill criteria. Lead with this if the room is skeptical.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founder point: the platform is built, tested and deployed. This buys twelve months of undivided attention on the parts code cannot solve.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5b4da76b74e2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a47da892394c60" /><Relationship Type="http://schemas.openxmlformats.org/officeDocument/2006/relationships/slideLayout" Target="/ppt/slideLayouts/slideLayout1.xml" Id="Re6c3cbf668ec457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c3cbf668ec457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079a2f46d4e99" /><Relationship Type="http://schemas.openxmlformats.org/officeDocument/2006/relationships/image" Target="/ppt/media/image.png" Id="R69ad7ab2259f4c84" /><Relationship Type="http://schemas.openxmlformats.org/officeDocument/2006/relationships/notesSlide" Target="/ppt/notesSlides/notesSlide1.xml" Id="R05745b4360554d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cf94fe8274b2b" /><Relationship Type="http://schemas.openxmlformats.org/officeDocument/2006/relationships/notesSlide" Target="/ppt/notesSlides/notesSlide2.xml" Id="R0cb8ec4ffe5048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a7fd7a1d8432b" /><Relationship Type="http://schemas.openxmlformats.org/officeDocument/2006/relationships/notesSlide" Target="/ppt/notesSlides/notesSlide3.xml" Id="R173f2c1a73594a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6f3fc85a84929" /><Relationship Type="http://schemas.openxmlformats.org/officeDocument/2006/relationships/notesSlide" Target="/ppt/notesSlides/notesSlide4.xml" Id="R00a663996ecf43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9466623694b5f" /><Relationship Type="http://schemas.openxmlformats.org/officeDocument/2006/relationships/notesSlide" Target="/ppt/notesSlides/notesSlide5.xml" Id="Rd45e8062457a49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0d33307d24603" /><Relationship Type="http://schemas.openxmlformats.org/officeDocument/2006/relationships/notesSlide" Target="/ppt/notesSlides/notesSlide6.xml" Id="Ra7b9d896005543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14e82e73f4ee3" /><Relationship Type="http://schemas.openxmlformats.org/officeDocument/2006/relationships/chart" Target="/ppt/charts/chart1.xml" Id="R17a92dafbd1d48fd" /><Relationship Type="http://schemas.openxmlformats.org/officeDocument/2006/relationships/notesSlide" Target="/ppt/notesSlides/notesSlide7.xml" Id="Rc1cb5338e0a443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07c33c5754736" /><Relationship Type="http://schemas.openxmlformats.org/officeDocument/2006/relationships/notesSlide" Target="/ppt/notesSlides/notesSlide8.xml" Id="R281d486c167347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eeb9fba274ba3" /><Relationship Type="http://schemas.openxmlformats.org/officeDocument/2006/relationships/notesSlide" Target="/ppt/notesSlides/notesSlide9.xml" Id="R10701b7d37ca42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bc2b50a5f4183" /><Relationship Type="http://schemas.openxmlformats.org/officeDocument/2006/relationships/notesSlide" Target="/ppt/notesSlides/notesSlide10.xml" Id="R1e96267de1dd4f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f36a19cf84cba" /><Relationship Type="http://schemas.openxmlformats.org/officeDocument/2006/relationships/notesSlide" Target="/ppt/notesSlides/notesSlide11.xml" Id="R4e038fdc5e2e4c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9bfde69384d7e" /><Relationship Type="http://schemas.openxmlformats.org/officeDocument/2006/relationships/chart" Target="/ppt/charts/chart2.xml" Id="Rf07888b051644442" /><Relationship Type="http://schemas.openxmlformats.org/officeDocument/2006/relationships/notesSlide" Target="/ppt/notesSlides/notesSlide12.xml" Id="R2c42aa0a4d3647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8845bced846e0" /><Relationship Type="http://schemas.openxmlformats.org/officeDocument/2006/relationships/chart" Target="/ppt/charts/chart3.xml" Id="R33c73de3a815437c" /><Relationship Type="http://schemas.openxmlformats.org/officeDocument/2006/relationships/notesSlide" Target="/ppt/notesSlides/notesSlide13.xml" Id="R8a23b94b92de4f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1241b8ff64a82" /><Relationship Type="http://schemas.openxmlformats.org/officeDocument/2006/relationships/notesSlide" Target="/ppt/notesSlides/notesSlide14.xml" Id="R9cf90c5290bb44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c4a0d8b54468d" /><Relationship Type="http://schemas.openxmlformats.org/officeDocument/2006/relationships/notesSlide" Target="/ppt/notesSlides/notesSlide15.xml" Id="R9a00c83077ca4609" /></Relationships>
</file>

<file path=ppt/slides/charts/chart1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SAM — the three bounded services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0" i="0" u="none">
              <a:solidFill>
                <a:srgbClr val="101B26"/>
              </a:solidFill>
              <a:latin typeface="Cambria"/>
              <a:ea typeface="Cambria"/>
              <a:cs typeface="Cambria"/>
            </a:defRPr>
          </a:pPr>
        </a:p>
      </c:tx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act value ($M)</c:v>
                </c:pt>
              </c:strCache>
            </c:strRef>
          </c:tx>
          <c:spPr>
            <a:solidFill xmlns:a="http://schemas.openxmlformats.org/drawingml/2006/main">
              <a:srgbClr val="386888"/>
            </a:solidFill>
          </c:spPr>
          <c:dLbls>
            <c:numFmt formatCode="$#,##0&quot;M&quot;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00" b="0" i="0" u="none">
                    <a:solidFill>
                      <a:srgbClr val="101B26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Wills + mandates
~200,000 acts</c:v>
                </c:pt>
                <c:pt idx="1">
                  <c:v>Refinancing
~50,000 acts</c:v>
                </c:pt>
                <c:pt idx="2">
                  <c:v>Procurations
~50,000 acts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</c:v>
                </c:pt>
                <c:pt idx="1">
                  <c:v>100</c:v>
                </c:pt>
                <c:pt idx="2">
                  <c:v>14.75</c:v>
                </c:pt>
              </c:numCache>
            </c:numRef>
          </c:val>
        </c:ser>
        <c:dLbls>
          <c:numFmt formatCode="$#,##0&quot;M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0" i="0" u="none">
                  <a:solidFill>
                    <a:srgbClr val="101B26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7C8D9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0" i="0" u="none">
                <a:solidFill>
                  <a:srgbClr val="477593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2"/>
        <c:crosses val="autoZero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xmlns:a="http://schemas.openxmlformats.org/drawingml/2006/main" w="12700">
            <a:solidFill>
              <a:srgbClr val="7C8D9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GMV and net revenue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0" i="0" u="none">
              <a:solidFill>
                <a:srgbClr val="101B26"/>
              </a:solidFill>
              <a:latin typeface="Cambria"/>
              <a:ea typeface="Cambria"/>
              <a:cs typeface="Cambria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($000)</c:v>
                </c:pt>
              </c:strCache>
            </c:strRef>
          </c:tx>
          <c:spPr>
            <a:solidFill xmlns:a="http://schemas.openxmlformats.org/drawingml/2006/main">
              <a:srgbClr val="CBD8E2"/>
            </a:solidFill>
          </c:spPr>
          <c:invertIfNegative val="0"/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Y1 2026-27</c:v>
                </c:pt>
                <c:pt idx="1">
                  <c:v>Y2 2027-28</c:v>
                </c:pt>
                <c:pt idx="2">
                  <c:v>Y3 2028-29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258</c:v>
                </c:pt>
                <c:pt idx="1">
                  <c:v>3220</c:v>
                </c:pt>
                <c:pt idx="2">
                  <c:v>15950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Net revenue ($000)</c:v>
                </c:pt>
              </c:strCache>
            </c:strRef>
          </c:tx>
          <c:spPr>
            <a:solidFill xmlns:a="http://schemas.openxmlformats.org/drawingml/2006/main">
              <a:srgbClr val="407598"/>
            </a:solidFill>
            <a:ln xmlns:a="http://schemas.openxmlformats.org/drawingml/2006/main" w="50800">
              <a:solidFill>
                <a:srgbClr val="407598"/>
              </a:solidFill>
              <a:prstDash val="solid"/>
            </a:ln>
          </c:spPr>
          <c:marker>
            <c:symbol val="circle"/>
            <c:size val="11"/>
            <c:spPr>
              <a:solidFill xmlns:a="http://schemas.openxmlformats.org/drawingml/2006/main">
                <a:srgbClr val="407598"/>
              </a:solidFill>
              <a:ln xmlns:a="http://schemas.openxmlformats.org/drawingml/2006/main" w="9525">
                <a:solidFill>
                  <a:srgbClr val="407598"/>
                </a:solidFill>
                <a:prstDash val="solid"/>
              </a:ln>
            </c:spPr>
          </c:marker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Y1 2026-27</c:v>
                </c:pt>
                <c:pt idx="1">
                  <c:v>Y2 2027-28</c:v>
                </c:pt>
                <c:pt idx="2">
                  <c:v>Y3 2028-29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</c:v>
                </c:pt>
                <c:pt idx="1">
                  <c:v>322</c:v>
                </c:pt>
                <c:pt idx="2">
                  <c:v>1595</c:v>
                </c:pt>
              </c:numCache>
            </c:numRef>
          </c:val>
          <c:smooth val="0"/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7C8D9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rgbClr val="477593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xmlns:a="http://schemas.openxmlformats.org/drawingml/2006/main" w="12700">
              <a:solidFill>
                <a:srgbClr val="EBF1F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pPr>
                  <a:buNone/>
                  <a:def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rPr>
                  <a:t>GMV ($000)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0" i="0" u="none">
                  <a:solidFill>
                    <a:srgbClr val="00000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7C8D9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pPr>
                  <a:buNone/>
                  <a:def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rPr>
                  <a:t>Net revenue ($000)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0" i="0" u="none">
                  <a:solidFill>
                    <a:srgbClr val="00000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7C8D9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386888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7C8D9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3"/>
        <c:crosses val="autoZero"/>
        <c:lblAlgn val="ctr"/>
        <c:noMultiLvlLbl val="1"/>
      </c:cat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47759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3.xml><?xml version="1.0" encoding="utf-8"?>
<c:chartSpace xmlns:c="http://schemas.openxmlformats.org/drawingml/2006/chart">
  <c:lang val="en-US"/>
  <c:roundedCorners val="1"/>
  <c:chart>
    <c:autoTitleDeleted val="1"/>
    <c:plotArea>
      <c:doughnutChart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 w="9525">
              <a:solidFill>
                <a:srgbClr val="FCFBF8"/>
              </a:solidFill>
              <a:prstDash val="solid"/>
            </a:ln>
          </c:spPr>
          <c:dPt>
            <c:idx val="0"/>
            <c:spPr>
              <a:solidFill xmlns:a="http://schemas.openxmlformats.org/drawingml/2006/main">
                <a:srgbClr val="101B26"/>
              </a:solidFill>
            </c:spPr>
          </c:dPt>
          <c:dPt>
            <c:idx val="1"/>
            <c:spPr>
              <a:solidFill xmlns:a="http://schemas.openxmlformats.org/drawingml/2006/main">
                <a:srgbClr val="407598"/>
              </a:solidFill>
            </c:spPr>
          </c:dPt>
          <c:dPt>
            <c:idx val="2"/>
            <c:spPr>
              <a:solidFill xmlns:a="http://schemas.openxmlformats.org/drawingml/2006/main">
                <a:srgbClr val="386888"/>
              </a:solidFill>
            </c:spPr>
          </c:dPt>
          <c:dPt>
            <c:idx val="3"/>
            <c:spPr>
              <a:solidFill xmlns:a="http://schemas.openxmlformats.org/drawingml/2006/main">
                <a:srgbClr val="386888"/>
              </a:solidFill>
            </c:spPr>
          </c:dPt>
          <c:dPt>
            <c:idx val="4"/>
            <c:spPr>
              <a:solidFill xmlns:a="http://schemas.openxmlformats.org/drawingml/2006/main">
                <a:srgbClr val="386888"/>
              </a:solidFill>
            </c:spPr>
          </c:dPt>
          <c:dPt>
            <c:idx val="5"/>
            <c:spPr>
              <a:solidFill xmlns:a="http://schemas.openxmlformats.org/drawingml/2006/main">
                <a:srgbClr val="8FA5B3"/>
              </a:solidFill>
            </c:spPr>
          </c:dPt>
          <c:dPt>
            <c:idx val="6"/>
            <c:spPr>
              <a:solidFill xmlns:a="http://schemas.openxmlformats.org/drawingml/2006/main">
                <a:srgbClr val="386888"/>
              </a:solidFill>
            </c:spPr>
          </c:dPt>
          <c:dPt>
            <c:idx val="7"/>
            <c:spPr>
              <a:solidFill xmlns:a="http://schemas.openxmlformats.org/drawingml/2006/main">
                <a:srgbClr val="CBD8E2"/>
              </a:solidFill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800" b="1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Founder salary</c:v>
                </c:pt>
                <c:pt idx="1">
                  <c:v>Client acquisition</c:v>
                </c:pt>
                <c:pt idx="2">
                  <c:v>Notary advisor</c:v>
                </c:pt>
                <c:pt idx="3">
                  <c:v>Design contract</c:v>
                </c:pt>
                <c:pt idx="4">
                  <c:v>Legal</c:v>
                </c:pt>
                <c:pt idx="5">
                  <c:v>Contingency</c:v>
                </c:pt>
                <c:pt idx="6">
                  <c:v>Notary acquisition</c:v>
                </c:pt>
                <c:pt idx="7">
                  <c:v>Infra &amp; tooling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96000</c:v>
                </c:pt>
                <c:pt idx="1">
                  <c:v>40000</c:v>
                </c:pt>
                <c:pt idx="2">
                  <c:v>25000</c:v>
                </c:pt>
                <c:pt idx="3">
                  <c:v>25000</c:v>
                </c:pt>
                <c:pt idx="4">
                  <c:v>20000</c:v>
                </c:pt>
                <c:pt idx="5">
                  <c:v>17000</c:v>
                </c:pt>
                <c:pt idx="6">
                  <c:v>15000</c:v>
                </c:pt>
                <c:pt idx="7">
                  <c:v>12000</c:v>
                </c:pt>
              </c:numCache>
            </c:numRef>
          </c:val>
        </c:ser>
        <c:firstSliceAng val="0"/>
        <c:holeSize val="52"/>
      </c:doughnutChart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47759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B494CD2-871E-471B-96BF-D451038C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10820095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Nota</a:t>
            </a:r>
            <a:endParaRPr sz="7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BD2B26-FBFB-483F-A32B-3B9EEE8E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8778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i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Pricing time in the Québec notarial market.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8F3D3EB-EE8A-419F-8667-90094688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95097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50">
                <a:solidFill>
                  <a:srgbClr val="C3D2E6"/>
                </a:solidFill>
                <a:latin typeface="Calibri"/>
                <a:ea typeface="Calibri"/>
                <a:cs typeface="Calibri"/>
              </a:rPr>
              <a:t>Québec abolished mandatory notary tariffs in 1991. Thirty-five years later, no price discovery mechanism has ever existed.</a:t>
            </a:r>
            <a:endParaRPr sz="1450"/>
          </a:p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50">
                <a:solidFill>
                  <a:srgbClr val="C3D2E6"/>
                </a:solidFill>
                <a:latin typeface="Calibri"/>
                <a:ea typeface="Calibri"/>
                <a:cs typeface="Calibri"/>
              </a:rPr>
              <a:t>Nota is that mechanism — a public calendar where the market prices urgency.</a:t>
            </a:r>
            <a:endParaRPr sz="14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D0768FD-781B-4D8A-9F5A-4FE76D6E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040"/>
            <a:ext cx="28346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59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1D88A40-AC7A-42FC-9EF8-8CDB7706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0640"/>
            <a:ext cx="7315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9EB6B2"/>
                </a:solidFill>
                <a:latin typeface="Calibri"/>
                <a:ea typeface="Calibri"/>
                <a:cs typeface="Calibri"/>
              </a:rPr>
              <a:t>Pre-seed · $250,000 CAD · 12 months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9EB6B2"/>
                </a:solidFill>
                <a:latin typeface="Calibri"/>
                <a:ea typeface="Calibri"/>
                <a:cs typeface="Calibri"/>
              </a:rPr>
              <a:t>Anthony Paquet · anthonypaquet1508@gmail.com · August 2026</a:t>
            </a:r>
            <a:endParaRPr sz="1250"/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d7ab2259f4c84"/>
          <a:stretch xmlns:a="http://schemas.openxmlformats.org/drawingml/2006/main"/>
        </p:blipFill>
        <p:spPr>
          <a:xfrm xmlns:a="http://schemas.openxmlformats.org/drawingml/2006/main">
            <a:off x="685800" y="1381125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</p:spTree>
    <p:extLst>
      <p:ext uri="{BB962C8B-B14F-4D97-AF65-F5344CB8AC3E}">
        <p14:creationId xmlns:p14="http://schemas.microsoft.com/office/powerpoint/2010/main" val="13875424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B2A5478-CA20-4B34-B9AC-DEC1FA14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A deregulated market that never got a price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CF38E0D-5A8A-470B-91DE-0C018A44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Fees have been free-floating since 1991. Discovery still happens by phone call.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5F8C8A0-2CB9-4B82-8469-6BE2B49D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1991</a:t>
            </a:r>
            <a:endParaRPr sz="4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77BD2CE-32E4-47CC-9976-5BFD07B5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Mandatory notarial tariffs abolished. Every notary has set their own fees ever since.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4902E7-48BF-4F84-9BDF-A336B99E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~3,900</a:t>
            </a:r>
            <a:endParaRPr sz="4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F4E55FD-42F9-4640-8631-49F609DB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Practising notaries in Québec, each with unsold gaps in their calendar.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52C3104-EFC6-4E70-87AB-6F8B9A2D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~50%</a:t>
            </a:r>
            <a:endParaRPr sz="4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89EE288-AABD-445A-900B-8D9C4358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of Québec adults have no will. Among 18–34 year-olds, about 70%.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1D3EAEC-7F89-49ED-BC57-92D450E8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691640"/>
            <a:ext cx="21945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$0</a:t>
            </a:r>
            <a:endParaRPr sz="4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67244F7-1178-412C-9F14-C2AB1426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478024"/>
            <a:ext cx="21945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spent by anyone, in 35 years, building the venue where these two meet.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067634F-8BB9-433B-8F04-E278DECF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095" cy="214884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386888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B1924">
                <a:alpha val="10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A2D1188-A7E0-4CFA-B525-86D47015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407598"/>
                </a:solidFill>
                <a:latin typeface="Calibri"/>
                <a:ea typeface="Calibri"/>
                <a:cs typeface="Calibri"/>
              </a:rPr>
              <a:t>The gap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F986F6B-5F42-4D21-8533-CE9D77AD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62272"/>
            <a:ext cx="9875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client who needs a signature next Tuesday cannot learn what next Tuesday costs.</a:t>
            </a:r>
            <a:endParaRPr sz="2100"/>
          </a:p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notary with an empty Tuesday has nowhere to sell it.</a:t>
            </a:r>
            <a:endParaRPr sz="2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F211CF1-415C-4AD6-86B0-58CA2B61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49240"/>
            <a:ext cx="9875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9EB6B2"/>
                </a:solidFill>
                <a:latin typeface="Calibri"/>
                <a:ea typeface="Calibri"/>
                <a:cs typeface="Calibri"/>
              </a:rPr>
              <a:t>Real price dispersion. Real supply elasticity. Real demand urgency. No mechanism connecting any of it.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5780876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23730F-9821-4415-B29F-40E78EA3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Two sides, both stuck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11B2EC4-D6A0-47D1-9748-E52A5224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Neither can find the other, and neither can price the thing that actually varies: the date.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7334231-D2AF-4F3A-9476-ACA36157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532120" cy="4206240"/>
          </a:xfrm>
          <a:prstGeom xmlns:a="http://schemas.openxmlformats.org/drawingml/2006/main" prst="roundRect">
            <a:avLst>
              <a:gd name="adj" fmla="val 195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CBD8E2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B1924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A3D0249-6A64-4C02-A892-91C02875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28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The client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5AC590-7ACB-4AC1-87EF-D6AAD2B5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286000"/>
            <a:ext cx="47548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Price discovery costs a sequence of phone calls during business hours.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Published ranges are wide — a will and mandate run 700–1,000 $ — and you learn where you land only after you call.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Urgency has no price. There is no way to pay to jump a three-week queue.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So the act does not happen. Half of Québec adults have no will.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7B62E03-028E-46BD-819D-7B76C349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5532120" cy="4206240"/>
          </a:xfrm>
          <a:prstGeom xmlns:a="http://schemas.openxmlformats.org/drawingml/2006/main" prst="roundRect">
            <a:avLst>
              <a:gd name="adj" fmla="val 195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CBD8E2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B1924">
                <a:alpha val="1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841A18F-6844-4DA0-AFD1-A788DAD1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828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The notary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99FC3E-5BCE-483C-93DF-C3FB49A3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286000"/>
            <a:ext cx="47548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A hole in the calendar is unrecoverable inventory — it expires like an airline seat.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No channel exists to sell short-notice availability. A cancelled Thursday cannot be listed anywhere.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Client acquisition is referral and signage.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Buying leads is ineffective; sharing fees is prohibited by the Code de déontologie.</a:t>
            </a:r>
            <a:endParaRPr sz="13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72F3979-557D-4FFF-91AB-2C9DB964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386888"/>
                </a:solidFill>
                <a:latin typeface="Cambria"/>
                <a:ea typeface="Cambria"/>
                <a:cs typeface="Cambria"/>
              </a:rPr>
              <a:t>Nota sells when, not what. Every alternative prices a document; Nota prices a date.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13857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E13032-8110-4833-8FFA-27BA8AEF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The mechanism: the market prices urgency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C4E9765-B85D-4D8F-9FC8-D7C6FBF5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The client posts a date and an amount. The tier — and the premium — derive from how close that date is.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963C25-7783-49B4-B073-1B7C1A65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CBD8E2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E0A10F4-C308-4EA9-9730-E696F2E5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792224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93A7B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DF6ABD4-0D40-4DD3-A80C-0112B7BA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792224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standard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FB149ED-B054-4B52-BFA3-10A43282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45920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15+ days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D561D1-F1A0-4DA5-BBDB-9B56B24D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45920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1.0× – 1.2×</a:t>
            </a:r>
            <a:endParaRPr sz="16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F3178F1-CA03-46CD-8151-ADFD9843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CBD8E2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D21A8F6-8793-452A-B8AF-81E3FC0E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542032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7C93B5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4E741D4-EF34-48BF-B44D-7F318500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542032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rapide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C645DA-5A63-4C5A-8CE8-5C8038C4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95728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8–14 days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C392E35-22EB-4F07-B45F-0C49E75A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395728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1.2× – 1.5×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E7567C7-E018-41FA-B9C2-F78B392A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5536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CBD8E2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F90084C-C1E9-4B31-B78B-6030581E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291840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40759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C88C36F-B6E9-4003-A4E0-00F28EF6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291840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prioritaire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7DDE060-ECA9-437A-9C6E-DE8835CE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5536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4–7 days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9816B6-31BD-4835-A5E4-E9DEDC13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145536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1.6× – 2.2×</a:t>
            </a:r>
            <a:endParaRPr sz="16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3631693-7433-432B-8C15-14E0C78A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344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CBD8E2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EAA8B59-295E-4A48-9339-82C8A0C6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041648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40759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398FCA4-A22C-4524-9D4E-7302F06F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041648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urgence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E5CC068-433A-43B7-894F-A5E36EE0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95344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2–3 days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76AA709-711F-4A61-B141-FD1EB840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895344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2.5× – 4.0×</a:t>
            </a:r>
            <a:endParaRPr sz="16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4B3058F-27C8-4E80-9BB7-6348B786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5152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CBD8E2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78A04D1-087D-4446-8529-B0CB9DE3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791456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B87569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9944136-31D9-42FA-951E-0979981E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791456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extreme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0C3C686-B266-4AB2-A041-1CDDD770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45152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0–1 day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AABEFFB-CCD4-4C01-8587-0DDE0676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645152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B87569"/>
                </a:solidFill>
                <a:latin typeface="Cambria"/>
                <a:ea typeface="Cambria"/>
                <a:cs typeface="Cambria"/>
              </a:rPr>
              <a:t>4.0× – 10.0×</a:t>
            </a:r>
            <a:endParaRPr sz="16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23EC69D-24EC-4011-A380-C7A9B8E7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645920"/>
            <a:ext cx="4251960" cy="3749040"/>
          </a:xfrm>
          <a:prstGeom xmlns:a="http://schemas.openxmlformats.org/drawingml/2006/main" prst="roundRect">
            <a:avLst>
              <a:gd name="adj" fmla="val 2195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386888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B1924">
                <a:alpha val="10000"/>
              </a:srgbClr>
            </a:outerShdw>
          </a:effectLst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8C9346B-7FBD-49EA-952C-EBE7DA6A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7452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407598"/>
                </a:solidFill>
                <a:latin typeface="Calibri"/>
                <a:ea typeface="Calibri"/>
                <a:cs typeface="Calibri"/>
              </a:rPr>
              <a:t>Guardrails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EFB6BEB1-6766-4269-BFD5-802A66A4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286000"/>
            <a:ext cx="356616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Floors. Every offer must clear a market-researched prix de départ per service.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Hard 10× cap. A real auction, not a panic tax.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Server-authoritative. The browser and the server load the same rules module, so the displayed price and the enforced price cannot drift.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Anonymity default-on, enforced server-side.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353A26C-00D3-40F8-A5CC-4847F86E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784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Three services at launch, each with a bounded intake a client can complete alone: testament + mandat (650 $) · procuration (295 $) · refinancement (2 000 $)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318475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B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E44E74C-59DB-495A-B611-9448D3D5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This raise does not fund a build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1A192E-7BA6-4D41-83C4-F8E5CF74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EB6B2"/>
                </a:solidFill>
                <a:latin typeface="Calibri"/>
                <a:ea typeface="Calibri"/>
                <a:cs typeface="Calibri"/>
              </a:rPr>
              <a:t>The platform is written, tested and deployed. ~21,000 lines, built solo.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3ADC87C-8731-40A3-8296-45BC1E17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274A6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D453C8F-AF2B-4850-9FCC-3D80C5B3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Domain core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317B3FD-02D2-49B7-BB74-B04A8834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EBF1F5"/>
                </a:solidFill>
                <a:latin typeface="Calibri"/>
                <a:ea typeface="Calibri"/>
                <a:cs typeface="Calibri"/>
              </a:rPr>
              <a:t>Pure business rules — prices, tiers, cap, validation, dynamic pricing. Zero dependencies. Asserted by tests.</a:t>
            </a:r>
            <a:endParaRPr sz="11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3A123D6-F437-4BC6-A04C-7B5ED971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274A62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EBF1D8-0C68-432E-B575-D7D19B31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API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C4C4579-2E76-42FC-A8C3-76267A6D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EBF1F5"/>
                </a:solidFill>
                <a:latin typeface="Calibri"/>
                <a:ea typeface="Calibri"/>
                <a:cs typeface="Calibri"/>
              </a:rPr>
              <a:t>Lambda + single-table DynamoDB, hexagonal ports/adapters. Server revalidates every offer.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21E461-8130-4D8B-8A7C-C28199BD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274A6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E5B5BB8-F04F-43B8-ACA4-63DC2B73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Web app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28D7B52-1010-4786-8D84-EBFE47B2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EBF1F5"/>
                </a:solidFill>
                <a:latin typeface="Calibri"/>
                <a:ea typeface="Calibri"/>
                <a:cs typeface="Calibri"/>
              </a:rPr>
              <a:t>Public carnet, offer flow, dossier intake, Québec map, notary console. Zero runtime dependencies.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6EE6B94-776E-4F40-B3EF-0340BC2D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274A62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AC7AD35-1573-46B9-9942-0AA0C237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Payments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D3F3504-1FEE-4C17-9D14-3AE35718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EBF1F5"/>
                </a:solidFill>
                <a:latin typeface="Calibri"/>
                <a:ea typeface="Calibri"/>
                <a:cs typeface="Calibri"/>
              </a:rPr>
              <a:t>Stripe — card authorized at post, captured on completion, connected accounts, reconciliation.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E62D331-F2BD-4E08-8371-8CC68751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274A62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1C2F251-349E-40C9-B1F8-EA8F75B8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Notary side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4F6D997-0B2C-41F1-A549-58828DD1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EBF1F5"/>
                </a:solidFill>
                <a:latin typeface="Calibri"/>
                <a:ea typeface="Calibri"/>
                <a:cs typeface="Calibri"/>
              </a:rPr>
              <a:t>Auth, sign-up gate, lead-delivery preferences, ICS calendar feed, earnings roll-up.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B6EF8F3-9AC9-4734-ADDD-39029865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274A62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427306E-E02B-4842-9084-F1D0D1C4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Ops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E00FC5B-2BA8-444C-839D-F678D0A5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EBF1F5"/>
                </a:solidFill>
                <a:latin typeface="Calibri"/>
                <a:ea typeface="Calibri"/>
                <a:cs typeface="Calibri"/>
              </a:rPr>
              <a:t>Admin console, transactional email + scheduled reminders, analytics with drift healing.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B5AA585-6CD3-4ACC-943B-3308E03B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274A62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C86B43D-4315-4017-9DBF-CAF484F3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Infrastructure</a:t>
            </a:r>
            <a:endParaRPr sz="15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2C8594D-496B-4FA2-92FC-BF3D658D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EBF1F5"/>
                </a:solidFill>
                <a:latin typeface="Calibri"/>
                <a:ea typeface="Calibri"/>
                <a:cs typeface="Calibri"/>
              </a:rPr>
              <a:t>Terraform: S3 + CloudFront OAC + IAM-authed Lambda + DynamoDB, live in ca-central-1. Idle cost ≈ $0.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E8C4DD1-332D-4F4D-ADC3-CB20CDCD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274A62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F712352-62A0-4CDE-911F-761D93C6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Quality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25F8365-8450-42CC-83AE-8175406C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EBF1F5"/>
                </a:solidFill>
                <a:latin typeface="Calibri"/>
                <a:ea typeface="Calibri"/>
                <a:cs typeface="Calibri"/>
              </a:rPr>
              <a:t>Unit, jsdom and Cucumber BDD suites. CI on every push. Seven architecture decision records.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52A193E-1411-475F-ADDB-B7AC43C9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8FA6C4"/>
                </a:solidFill>
                <a:latin typeface="Calibri"/>
                <a:ea typeface="Calibri"/>
                <a:cs typeface="Calibri"/>
              </a:rPr>
              <a:t>Law 25 compliance is designed in, not bolted on: Canadian data residency, anonymity default-on, consent at collection.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53849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5468B6E-59E4-466D-BC59-6101E188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Why now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C5D319-60A0-44DD-86A8-FE245F2E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Five things converged, and none of them are under our control — which is the point.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DC04C75-F0A5-4151-B42B-469109C5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2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59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3E20BF9-4626-4108-97F0-EA4DE6D8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24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D552EC7-AF17-4419-8B22-97D1EA2C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62763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Remote acts became law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97B72B1-80A0-4562-B515-D58942F7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0934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Bill 34 made the acte notarié technologique permanent in October 2023. The rails exist and are sanctioned. We are not betting on legislation.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4C6C03B-97D6-4986-974D-0CE47CDD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117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D0D2A5B-DD6F-43A9-9972-83325F35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117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0C6F238-1A6D-4EAD-9990-904FF4DF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49631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35 years of blind pricing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3A37115-E841-40D9-BDED-4A9DB2D6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47802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Fees free since 1991, no discovery mechanism ever built. The gap does not close on its own.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87C4938-F596-4D5B-82B2-CCB7BD5F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85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02F8F4D-62B2-4194-8D97-7925687F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85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69D9CE0-BEAD-45C7-8B8D-1D6F7142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36499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The renewal wall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FA055FD-D9EA-4E59-A087-63258BD7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34670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~1.2M Canadian fixed-rate mortgages renewing in 2025, driving volume into the highest-value service on the platform.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36564D1-2611-4CD7-B0B8-0B6BE16C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853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24ED02C-31B6-4BBD-8CDB-A041EE1F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853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5F665B9-3D40-4ACC-BFD4-373DEC9D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23367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The wealth transfer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D3AA1F5-A379-4575-8652-DE96826F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21538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The largest intergenerational transfer in Canadian history, against a population where half have no will.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C26B42B-7246-4F46-80A0-B60C1921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721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3055FCA-E143-4180-ACBE-26E66486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721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507474-E27C-4E2D-8676-4CCDA61E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510235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Access-to-justice pressure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4696B9F-4CD1-4435-B4F3-630C425F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508406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Notary coverage is uneven across the regions — and "distance from an available notary" is a statutorily recognised ground for signing remotely.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6080358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3B6472-3581-484B-A7ED-AEC67637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Market — bottom up, Québec only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7F77C5A-2375-4613-8199-7A1B597C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Year 3 needs 3.7% of the addressable act volume. The plan does not require winning the market.</a:t>
            </a:r>
            <a:endParaRPr sz="1400"/>
          </a:p>
        </p:txBody>
      </p:sp>
      <p:graphicFrame>
        <p:nvGraphicFramePr>
          <p:cNvPr id="21" name="Chart 0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5943600" cy="3063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a92dafbd1d48fd"/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0B740AA-41A1-45E9-B958-E4CC4C49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600200"/>
            <a:ext cx="5120640" cy="3063240"/>
          </a:xfrm>
          <a:prstGeom xmlns:a="http://schemas.openxmlformats.org/drawingml/2006/main" prst="roundRect">
            <a:avLst>
              <a:gd name="adj" fmla="val 268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CBD8E2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B1924">
                <a:alpha val="10000"/>
              </a:srgbClr>
            </a:outerShdw>
          </a:effectLst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8004ED6-570D-44C0-9E3B-51380DB4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1051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TAM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3945CB6-C4E1-4088-8B18-CF0A220E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28216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~$1.1–1.2B</a:t>
            </a:r>
            <a:endParaRPr sz="2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A51CE93-156B-4961-A586-F1F71ABE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30552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Annual professional fees billed by ~3,900 Québec notaries.</a:t>
            </a:r>
            <a:endParaRPr sz="11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9B3FCE2-13E0-4196-A76F-252B46A7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89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SAM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5AEE8A-B022-4D46-B6C9-64F5009A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6624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~$245M</a:t>
            </a:r>
            <a:endParaRPr sz="2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F468F9C-18C3-4A44-9F00-4E6C4B87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8960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~300,000 acts/year across the three bounded services.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025D08E-1CCA-42FB-AAE4-C12E2E1A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67328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SOM (Y3)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4C038ED-9FDA-40A2-9819-FF6AC4A4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85032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11,000 acts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0EF0FD1-90BA-4363-9BA5-B1D6E753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87368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3.7% of SAM volume · $16.0M GMV · $1.6M net revenue.</a:t>
            </a:r>
            <a:endParaRPr sz="11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8509B76-8C27-4CBF-8677-41C13F86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632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CBD8E2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B1924">
                <a:alpha val="10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9032C45-6BB2-43AA-932A-26B4AFE1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01091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Beyond the three services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3A60398-4FC2-4ED0-B85D-FE627D49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285232"/>
            <a:ext cx="10012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Residential closings alone run ~90,000 transactions a year in Québec at 1,500–3,500 $ — a single category larger than the entire current SAM. Beyond Québec, the civil-law notariat spans ~90 states of the International Union of Notaries, all built on the same instrument. That is where a 100× claim actually lives.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763845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AF90444-B08B-4CB4-A33A-39FEFEEF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Business model — and the constraint that shapes it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0FEE68-3330-44D7-A8F2-11C89988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Québec's Code de déontologie forbids sharing a notary's professional fee with a non-notaire. That is a design input, not a footnote.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6E4215-54EE-4E71-A007-524A6EA8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5532120" cy="3108960"/>
          </a:xfrm>
          <a:prstGeom xmlns:a="http://schemas.openxmlformats.org/drawingml/2006/main" prst="roundRect">
            <a:avLst>
              <a:gd name="adj" fmla="val 2647"/>
            </a:avLst>
          </a:prstGeom>
          <a:solidFill xmlns:a="http://schemas.openxmlformats.org/drawingml/2006/main">
            <a:srgbClr val="F6E6E2"/>
          </a:solidFill>
          <a:ln xmlns:a="http://schemas.openxmlformats.org/drawingml/2006/main" w="12700">
            <a:solidFill>
              <a:srgbClr val="CBD8E2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B1924">
                <a:alpha val="1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9AD34D2-48EB-434B-A22C-D3F44A8E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920240"/>
            <a:ext cx="182880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87569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F8870CC-AFA0-40B5-BCFE-692B8E00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920240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COMMISSION</a:t>
            </a:r>
            <a:endParaRPr sz="1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506E5B0-14DF-4616-BC2F-510B60E7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331720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8E5B53"/>
                </a:solidFill>
                <a:latin typeface="Cambria"/>
                <a:ea typeface="Cambria"/>
                <a:cs typeface="Cambria"/>
              </a:rPr>
              <a:t>Deducted from the notary's fee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1B6A89F-2C66-4C31-864A-7F936B6A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724912"/>
            <a:ext cx="47548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8E5B53"/>
                </a:solidFill>
                <a:latin typeface="Calibri"/>
                <a:ea typeface="Calibri"/>
                <a:cs typeface="Calibri"/>
              </a:rPr>
              <a:t>Client pays 650 $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8E5B53"/>
                </a:solidFill>
                <a:latin typeface="Calibri"/>
                <a:ea typeface="Calibri"/>
                <a:cs typeface="Calibri"/>
              </a:rPr>
              <a:t>Notary receives 585 $  (90%)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8E5B53"/>
                </a:solidFill>
                <a:latin typeface="Calibri"/>
                <a:ea typeface="Calibri"/>
                <a:cs typeface="Calibri"/>
              </a:rPr>
              <a:t>Nota keeps 65 $ out of the notary's honoraires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C62CAA5-75E5-4821-82A3-B83D1203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7764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 b="1">
                <a:solidFill>
                  <a:srgbClr val="B87569"/>
                </a:solidFill>
                <a:latin typeface="Calibri"/>
                <a:ea typeface="Calibri"/>
                <a:cs typeface="Calibri"/>
              </a:rPr>
              <a:t>Textbook fee-sharing. Exposes every notary on the platform to a disciplinary complaint.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AD8EDAF-D2A4-4395-BC7B-A11AE0BB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5532120" cy="3108960"/>
          </a:xfrm>
          <a:prstGeom xmlns:a="http://schemas.openxmlformats.org/drawingml/2006/main" prst="roundRect">
            <a:avLst>
              <a:gd name="adj" fmla="val 2647"/>
            </a:avLst>
          </a:prstGeom>
          <a:solidFill xmlns:a="http://schemas.openxmlformats.org/drawingml/2006/main">
            <a:srgbClr val="E9F1F5"/>
          </a:solidFill>
          <a:ln xmlns:a="http://schemas.openxmlformats.org/drawingml/2006/main" w="12700">
            <a:solidFill>
              <a:srgbClr val="CBD8E2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B1924">
                <a:alpha val="10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8F1FB9F-6CD1-4C0E-AE41-C6CFC01D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920240"/>
            <a:ext cx="237744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39950E2-5BEA-4A5E-806E-2BD17FFB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920240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CLIENT-SIDE FEE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31AD957-6CC6-474C-BE0D-ABD9DE1D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331720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74A62"/>
                </a:solidFill>
                <a:latin typeface="Cambria"/>
                <a:ea typeface="Cambria"/>
                <a:cs typeface="Cambria"/>
              </a:rPr>
              <a:t>Charged on top, for Nota's own service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491DED7-53DB-479C-A7C5-14C784D5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724912"/>
            <a:ext cx="47548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Client pays 650 $ + 65 $ service fee = 715 $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Notary receives 650 $  (100%)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Nota is paid by the client for sourcing, dossier assembly and the transaction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2814C0D-7CC9-468A-BEB8-A44D017C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397764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 b="1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Identical unit economics. No share of any professional fee. Exposure disappears.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18627D4-233F-4320-9C7D-4954B817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3480"/>
            <a:ext cx="10820095" cy="109728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386888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B1924">
                <a:alpha val="10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3DCD023-9423-4D83-9083-80CDA22D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38928"/>
            <a:ext cx="100126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A US or rest-of-Canada entrant will not know this constraint exists. $20,000 of this round buys a written déontologie opinion and structured engagement with the Chambre before the first live act — which is both the largest risk retired and a genuine competitive asset.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9018925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E84FD03-9756-4DE3-9833-EA32B4D7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Phase 1 — the price of time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406806-5B56-4C5C-941F-6DBE4B86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Prove that a time-priced notarial marketplace clears, in one city, with real money.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AB0AE43-55B7-422A-B7F9-8CE1C9FD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3657600" cy="4114800"/>
          </a:xfrm>
          <a:prstGeom xmlns:a="http://schemas.openxmlformats.org/drawingml/2006/main" prst="roundRect">
            <a:avLst>
              <a:gd name="adj" fmla="val 2250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386888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B1924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20A79DE-5622-4753-A9F9-F7A121A2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2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Québec City</a:t>
            </a:r>
            <a:endParaRPr sz="2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BBF6B84-0361-4137-910D-8D993169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286000"/>
            <a:ext cx="2926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407598"/>
                </a:solidFill>
                <a:latin typeface="Calibri"/>
                <a:ea typeface="Calibri"/>
                <a:cs typeface="Calibri"/>
              </a:rPr>
              <a:t>~850,000 people</a:t>
            </a:r>
            <a:endParaRPr sz="1400"/>
          </a:p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407598"/>
                </a:solidFill>
                <a:latin typeface="Calibri"/>
                <a:ea typeface="Calibri"/>
                <a:cs typeface="Calibri"/>
              </a:rPr>
              <a:t>~400 notaries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6BCF301-69E5-4389-A82C-F1CB4BFF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17520"/>
            <a:ext cx="29260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EBF1F5"/>
                </a:solidFill>
                <a:latin typeface="Calibri"/>
                <a:ea typeface="Calibri"/>
                <a:cs typeface="Calibri"/>
              </a:rPr>
              <a:t>Chosen over Montréal on purpose: small enough that a solo founder can meet a material share of local supply in person, dense enough to reach liquidity.</a:t>
            </a:r>
            <a:endParaRPr sz="12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1BC3EAE-63E9-433D-A3F2-5056EFA9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43400"/>
            <a:ext cx="29260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 i="1">
                <a:solidFill>
                  <a:srgbClr val="407598"/>
                </a:solidFill>
                <a:latin typeface="Calibri"/>
                <a:ea typeface="Calibri"/>
                <a:cs typeface="Calibri"/>
              </a:rPr>
              <a:t>Supply joins free, with no card. The only thing a notary risks by signing up is nothing.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BA27219-C468-4D89-A1A2-E07DCACF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45920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CBD8E2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6E0F45A-2A3C-45EF-AA9D-CCA15587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645920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86888"/>
                </a:solidFill>
                <a:latin typeface="Cambria"/>
                <a:ea typeface="Cambria"/>
                <a:cs typeface="Cambria"/>
              </a:rPr>
              <a:t>M1–2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CB53A3C-91CC-43F5-9243-933B70A7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645920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B26"/>
                </a:solidFill>
                <a:latin typeface="Calibri"/>
                <a:ea typeface="Calibri"/>
                <a:cs typeface="Calibri"/>
              </a:rPr>
              <a:t>Déontologie restructure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322F6A8-B919-4EB3-9787-62DD30DE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645920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Client-side fee, billing refactor, written legal opinion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A8EF487-3A2C-43B2-8DC5-4EB7E6BF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645920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Opinion on file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8136464-06A2-4939-9ED9-80C0569B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70048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8E2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A5F0577-5F66-4EA8-8F9E-5AD4CF1F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70048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86888"/>
                </a:solidFill>
                <a:latin typeface="Cambria"/>
                <a:ea typeface="Cambria"/>
                <a:cs typeface="Cambria"/>
              </a:rPr>
              <a:t>M1–3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27F2DD8-4F60-445C-B8FD-2D7A48ED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70048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B26"/>
                </a:solidFill>
                <a:latin typeface="Calibri"/>
                <a:ea typeface="Calibri"/>
                <a:cs typeface="Calibri"/>
              </a:rPr>
              <a:t>Supply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FD3DD23-2397-46A7-8E21-3063DAD7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670048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30 Québec City notaries recruited in person, free to join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B975996-6608-43F6-ACCF-B167977C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2670048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25+ notaries live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3FD29C0-C5A6-453E-907D-E412A26F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694176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CBD8E2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7275E99-E621-4C78-874A-E3271450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694176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86888"/>
                </a:solidFill>
                <a:latin typeface="Cambria"/>
                <a:ea typeface="Cambria"/>
                <a:cs typeface="Cambria"/>
              </a:rPr>
              <a:t>M3–6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971CA81-BA52-44EC-B7CC-2F0E672E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694176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B26"/>
                </a:solidFill>
                <a:latin typeface="Calibri"/>
                <a:ea typeface="Calibri"/>
                <a:cs typeface="Calibri"/>
              </a:rPr>
              <a:t>Demand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4C512CE-50B3-41C3-971C-3E47926F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694176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Carnet SEO, broker and planner referral partnerships, urgency-targeted paid search</a:t>
            </a:r>
            <a:endParaRPr sz="11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1052CE4-4EDF-4E6B-99A9-0590B1AF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3694176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Fill rate &gt; 45%</a:t>
            </a:r>
            <a:endParaRPr sz="1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3F20024-727E-41C3-BE98-CD536C41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718304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8E2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1A961CB-2B44-4851-9F11-530F4524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718304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86888"/>
                </a:solidFill>
                <a:latin typeface="Cambria"/>
                <a:ea typeface="Cambria"/>
                <a:cs typeface="Cambria"/>
              </a:rPr>
              <a:t>M6–12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3A4A60C-5D1E-477C-B507-623C2481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718304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B26"/>
                </a:solidFill>
                <a:latin typeface="Calibri"/>
                <a:ea typeface="Calibri"/>
                <a:cs typeface="Calibri"/>
              </a:rPr>
              <a:t>Liquidity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4DA8FB3-E3CC-443D-AFFF-517E637F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718304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Tighten time-to-retain, publish the urgency curve, extend to Lévis and Saguenay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424E9C1-67B5-417D-9604-4BFEFFE8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4718304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Fill rate &gt; 60%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3430B7A-D638-4359-AA94-1569622C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386888"/>
                </a:solidFill>
                <a:latin typeface="Cambria"/>
                <a:ea typeface="Cambria"/>
                <a:cs typeface="Cambria"/>
              </a:rPr>
              <a:t>The asset Phase 1 produces is not revenue — it is the only dataset of realised price × days-to-date × act type in Québec. Nobody can reconstruct it without running the same market for the same year.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5298055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B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764C07-5CB4-4CF1-BFA5-6A3C8606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Phase 2 — the act without the trip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DDAA9FF-8331-476A-BA2B-56E01935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EB6B2"/>
                </a:solidFill>
                <a:latin typeface="Calibri"/>
                <a:ea typeface="Calibri"/>
                <a:cs typeface="Calibri"/>
              </a:rPr>
              <a:t>The expansion is not saving the client a car trip. It is removing geography as a matching constraint.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AAE207C-AEFA-49D6-B997-8A83983A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7632"/>
            <a:ext cx="53492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386888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B1924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5224293-F2B8-443D-9525-879077BB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810512"/>
            <a:ext cx="4480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8FA6C4"/>
                </a:solidFill>
                <a:latin typeface="Calibri"/>
                <a:ea typeface="Calibri"/>
                <a:cs typeface="Calibri"/>
              </a:rPr>
              <a:t>Today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1963E8E-9FBD-4B45-8D05-1F44DB2F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139696"/>
            <a:ext cx="44805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9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client in Québec City is matched against ~400 notaries.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4BFFFE6-57E3-4E99-B5B6-EDCFF3E2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627632"/>
            <a:ext cx="53492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274A62"/>
          </a:solidFill>
          <a:ln xmlns:a="http://schemas.openxmlformats.org/drawingml/2006/main" w="12700">
            <a:solidFill>
              <a:srgbClr val="CBD8E2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B1924">
                <a:alpha val="1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DFB1AB7-9081-4005-A8BF-D5F76CF4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1810512"/>
            <a:ext cx="4480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7D93A2"/>
                </a:solidFill>
                <a:latin typeface="Calibri"/>
                <a:ea typeface="Calibri"/>
                <a:cs typeface="Calibri"/>
              </a:rPr>
              <a:t>With remote matching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3929555-5D58-4966-81A4-66C9018D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139696"/>
            <a:ext cx="448056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6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same client is matched against ~3,900 — and a notary in Rimouski sells an empty Thursday to a client in Gatineau.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65116F0-66DD-45B7-9A85-14FF30F3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4760"/>
            <a:ext cx="108200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407598"/>
                </a:solidFill>
                <a:latin typeface="Calibri"/>
                <a:ea typeface="Calibri"/>
                <a:cs typeface="Calibri"/>
              </a:rPr>
              <a:t>The honest regulatory position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0C7B250-A0E3-4E36-A3D0-7B2E98E8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095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00">
                <a:solidFill>
                  <a:srgbClr val="EBF1F5"/>
                </a:solidFill>
                <a:latin typeface="Calibri"/>
                <a:ea typeface="Calibri"/>
                <a:cs typeface="Calibri"/>
              </a:rPr>
              <a:t>Remote signing is already legal and permanent in Québec — but under art. 46 it is exceptional: the request must come from a party, and the justifying circumstance must be specific to that party. Convenience does not qualify. The barrier is not the law's silence; it is that the justification burden and the disciplinary exposure sit entirely on the individual notary, who therefore defaults to "come in person".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7CD9285-38F3-49BA-AEC6-FF4D8299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636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C3547"/>
          </a:solidFill>
          <a:ln xmlns:a="http://schemas.openxmlformats.org/drawingml/2006/main" w="12700">
            <a:solidFill>
              <a:srgbClr val="CBD8E2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B1924">
                <a:alpha val="10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00582EC-4DAC-4D12-A030-4893014D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321808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That is a product.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BD59CDB-6243-49F0-B9C1-70DC85C9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303520"/>
            <a:ext cx="86868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8FB8D0"/>
                </a:solidFill>
                <a:latin typeface="Calibri"/>
                <a:ea typeface="Calibri"/>
                <a:cs typeface="Calibri"/>
              </a:rPr>
              <a:t>Nota captures the party's request, classifies the qualifying circumstance, collects the evidence, and attaches a timestamped audit record to the dossier. The notary receives a file that is already defensible — a discretionary judgment call becomes a standard workflow. Phase 2 is designed to be fully valuable under the current statute; liberalisation is upside, not plan.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4256070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41D043D-CD23-409D-A984-F9722411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Competition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87E1243-B26A-493E-A499-23AA63A8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Every participant prices a document. Nota prices a date.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F0B0D7E-B3B0-4D7E-AC75-183A5A2A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72768"/>
            <a:ext cx="2651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Who</a:t>
            </a:r>
            <a:endParaRPr sz="10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BAF8D9E-54E3-4317-B228-819B52F1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57276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What they do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DDF056C-5BF5-4277-B11C-B577ECBA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572768"/>
            <a:ext cx="38221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Where Nota differs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7DCD9AD-CE19-46F2-8746-0B894D17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1952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CBD8E2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A6ABD8A-008B-4FA7-ABB4-9A4D6ACA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01952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1B26"/>
                </a:solidFill>
                <a:latin typeface="Calibri"/>
                <a:ea typeface="Calibri"/>
                <a:cs typeface="Calibri"/>
              </a:rPr>
              <a:t>Notairo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8FCC01-1A1B-41EB-9310-1E6FFF60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01952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Digital preparation of real-estate closings; final signature in person.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A136F63-AA0A-451E-9746-3B8F1DAE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901952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Workflow software for one act type. Fixed pricing, no marketplace, no time-based discovery.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13F25F5-BCD8-4B29-9E6A-9C131827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1488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8E2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DEC7879-C979-4BA8-982B-0A46209E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61488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1B26"/>
                </a:solidFill>
                <a:latin typeface="Calibri"/>
                <a:ea typeface="Calibri"/>
                <a:cs typeface="Calibri"/>
              </a:rPr>
              <a:t>Nolos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F9D05D2-BFAB-4319-927F-94CFA233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761488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Online notarised wills, ~21 service points in Québec.</a:t>
            </a:r>
            <a:endParaRPr sz="11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8617FD6-2DAA-4EF6-B407-258A99A8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761488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A distribution chain with fixed prices — not a market. No notary-side liquidity.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AEAFFE9-7648-4A75-BE98-E1A20777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1024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CBD8E2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FDE9103-4E04-4B5A-B7AC-B895E920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21024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1B26"/>
                </a:solidFill>
                <a:latin typeface="Calibri"/>
                <a:ea typeface="Calibri"/>
                <a:cs typeface="Calibri"/>
              </a:rPr>
              <a:t>Neolegal / ScriptaLegal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E676BEE-9F31-444D-96AC-5A650518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Online legal documents with notarial add-ons.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05440FB-2BF8-44CC-B547-3F751247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621024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Document-first and price-fixed. They do not sell notary availability.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95DDF69-6015-431F-92BE-A213610D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0560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8E2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21BC196-7C25-4D4D-A143-9B43E09B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80560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1B26"/>
                </a:solidFill>
                <a:latin typeface="Calibri"/>
                <a:ea typeface="Calibri"/>
                <a:cs typeface="Calibri"/>
              </a:rPr>
              <a:t>Traditional practice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9AA595D-7634-49E1-9B61-1397E87C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480560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Phone, referral, signage.</a:t>
            </a:r>
            <a:endParaRPr sz="11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A67FC84-58E0-478C-B07E-419B3916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480560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The real competitor. Nota wins by pricing time, which the phone cannot do.</a:t>
            </a:r>
            <a:endParaRPr sz="11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916E1A4-9657-47B0-BB1D-81116EA8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0096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CBD8E2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0BCF015-7F54-4633-84CD-99DDF390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40096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1B26"/>
                </a:solidFill>
                <a:latin typeface="Calibri"/>
                <a:ea typeface="Calibri"/>
                <a:cs typeface="Calibri"/>
              </a:rPr>
              <a:t>US remote-notarisation platforms</a:t>
            </a:r>
            <a:endParaRPr sz="12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965B75E-1AAD-4CE8-AAEA-E1367EED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340096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High-volume RON for common-law notaries public.</a:t>
            </a:r>
            <a:endParaRPr sz="11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22B6790-4204-4A0B-B6D0-7E9B1242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5340096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Structurally cannot enter. A Québec notaire is a civil-law public officer, and their commission model is illegal here.</a:t>
            </a:r>
            <a:endParaRPr sz="11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BD25039-7294-4E03-9E7B-EC9F95BD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3640"/>
            <a:ext cx="1082009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Defensibility, honestly ranked: the urgency price curve (requires running the market to obtain) · the notary network (slow, in-person) · the déontologie-safe structure with an opinion on file · the art. 46 compliance layer. None are patents. All are years.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0968317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0DAE951-E4CA-44ED-8795-7135FB26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Financial trajectory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6DAC1F8-E823-4DCA-B755-FCBAAD3B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Year 1 is a proof-of-liquidity year, and the model says so rather than pretending otherwise.</a:t>
            </a:r>
            <a:endParaRPr sz="1400"/>
          </a:p>
        </p:txBody>
      </p:sp>
      <p:graphicFrame>
        <p:nvGraphicFramePr>
          <p:cNvPr id="50" name="Chart 0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6217920" cy="3200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7888b051644442"/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387C956-A19E-446E-8F8E-7588B159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627632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1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C58EF8D-8795-4CA1-B877-ADA8E12B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Y1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75B7D88-8C60-4133-A872-2DDCB83F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Y2</a:t>
            </a:r>
            <a:endParaRPr sz="11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3C5CC0B-A7FE-4E2C-A968-250B9011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Y3</a:t>
            </a:r>
            <a:endParaRPr sz="11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B4D333B-B6D1-4537-830D-467EF60F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29968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34C9879-1024-455F-84D9-ADD40DD3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029968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Notaries</a:t>
            </a:r>
            <a:endParaRPr sz="11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D91294C-91D4-4923-BBFC-AE656467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30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0954734-E6EA-43B9-BDF5-D0CF7229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220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C908B7E-7BCD-4E97-BA09-2CE245C4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700</a:t>
            </a:r>
            <a:endParaRPr sz="11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24F677E-DE16-4BFC-8EB6-DECEB5F5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32304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96B858B-029E-4756-A94E-250B2672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432304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Fill rate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5BC7109-C81E-46B2-AEC6-3E80410F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56%</a:t>
            </a:r>
            <a:endParaRPr sz="11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0482F42-633F-49FA-A524-6402F647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57%</a:t>
            </a:r>
            <a:endParaRPr sz="11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1B3199E-0740-4E83-9DDD-1C1E6C2B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62%</a:t>
            </a:r>
            <a:endParaRPr sz="11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0F5B410-3337-43AA-956B-86DEC62C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34640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6B4727B-D83D-4D97-ABE0-10FC93A3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834640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Acts completed</a:t>
            </a:r>
            <a:endParaRPr sz="11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37A5F91-C8DB-4DFB-A603-F73FB367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244</a:t>
            </a:r>
            <a:endParaRPr sz="11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3A1F184-9BA2-4229-B472-7B80A7F8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2,800</a:t>
            </a:r>
            <a:endParaRPr sz="11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465A06D-43A0-47F0-A9C5-8CA8E0AC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11,000</a:t>
            </a:r>
            <a:endParaRPr sz="11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4BBACC1D-EC1B-479D-8579-93C1FFFC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36976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998945E-3AE8-4984-9CF3-CA23B79B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236976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GMV</a:t>
            </a:r>
            <a:endParaRPr sz="11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E405EE9D-EF12-48A1-BD95-A86B3241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$258K</a:t>
            </a:r>
            <a:endParaRPr sz="11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C455A3E-1D80-47E7-BBAD-5D1384B0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$3.22M</a:t>
            </a:r>
            <a:endParaRPr sz="11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138DD462-D676-419D-ABB1-6C03BACE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$15.95M</a:t>
            </a:r>
            <a:endParaRPr sz="11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86CECAE7-BC78-4432-9E73-27E03562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9312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870975A-1F9D-4B13-8235-67F2DBA8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639312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Net revenue</a:t>
            </a:r>
            <a:endParaRPr sz="11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DCE735B9-95BC-4C80-A2EA-17DDB61E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$25.8K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FE2BA36-58F0-4FA8-8F2A-1CB4AE59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$322K</a:t>
            </a:r>
            <a:endParaRPr sz="11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9991AC05-B53D-42F0-B27D-40A751DC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$1.60M</a:t>
            </a:r>
            <a:endParaRPr sz="11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9DFBEA72-B42B-49BC-A1A2-516766F3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41648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29AB6E43-7FAC-4B49-8A30-0C6113FE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041648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Gross margin</a:t>
            </a:r>
            <a:endParaRPr sz="115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48F0E54F-428E-4166-AF28-C9F1B3FB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89%</a:t>
            </a:r>
            <a:endParaRPr sz="11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19BF42FF-5873-4B24-BC62-01BA0BFD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90%</a:t>
            </a:r>
            <a:endParaRPr sz="11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7109BA98-7190-448B-8FEA-28330284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91%</a:t>
            </a:r>
            <a:endParaRPr sz="115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7B00F2BF-BF88-4672-B84D-714BEB4F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43984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DE675C51-A9D8-4A94-84EB-E8D428D1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443984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Net income</a:t>
            </a:r>
            <a:endParaRPr sz="115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DC6A4706-0868-4BAE-AFBA-6D4FE392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($227K)</a:t>
            </a:r>
            <a:endParaRPr sz="115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F6360CF7-1941-4511-95A4-AEDDC518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($430K)</a:t>
            </a:r>
            <a:endParaRPr sz="115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7CF24AFD-F891-444E-8720-D17C6967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274A62"/>
                </a:solidFill>
                <a:latin typeface="Calibri"/>
                <a:ea typeface="Calibri"/>
                <a:cs typeface="Calibri"/>
              </a:rPr>
              <a:t>($391K)</a:t>
            </a:r>
            <a:endParaRPr sz="1150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272F4B37-2ED1-4008-8BFC-2233F903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3480"/>
            <a:ext cx="10820095" cy="141732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CBD8E2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B1924">
                <a:alpha val="10000"/>
              </a:srgbClr>
            </a:outerShdw>
          </a:effectLst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0950063C-2318-4B19-A081-B302A3C7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38928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Unit economics</a:t>
            </a:r>
            <a:endParaRPr sz="11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C786C726-C983-4E57-8186-AF7479A2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413248"/>
            <a:ext cx="10012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Gross profit per act rises $94 → $133 as the act catalogue widens. Client CAC falls $164 → $40 as carnet SEO and zero-CAC referral channels compound, turning a ($70) Y1 contribution into +$93 by Y3. On the supply side, a notary costs ~$500 to recruit and returns ~$2,071 a year — LTV/CAC ≈ 12×, payback inside five acts. Cumulative capital to Y3: ~$1.05M.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5813282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32BDB10-E2E5-434C-9877-E2D65848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Use of funds — $250,000 over 12 months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18EA01F-557A-43C4-AC92-9E5D56CC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Average burn ~$20,800/month. Legal is front-loaded on purpose: the déontologie opinion unblocks everything else.</a:t>
            </a:r>
            <a:endParaRPr sz="1400"/>
          </a:p>
        </p:txBody>
      </p:sp>
      <p:graphicFrame>
        <p:nvGraphicFramePr>
          <p:cNvPr id="41" name="Chart 0"/>
          <p:cNvGraphicFramePr/>
          <p:nvPr/>
        </p:nvGraphicFramePr>
        <p:xfrm>
          <a:off xmlns:a="http://schemas.openxmlformats.org/drawingml/2006/main" x="548640" y="1554480"/>
          <a:ext xmlns:a="http://schemas.openxmlformats.org/drawingml/2006/main" cx="5394960" cy="39319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c73de3a815437c"/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2A748A2-14D6-4DFA-B303-C593B352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6916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6BD25CB-9256-484B-B017-09D94B70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16916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1B26"/>
                </a:solidFill>
                <a:latin typeface="Calibri"/>
                <a:ea typeface="Calibri"/>
                <a:cs typeface="Calibri"/>
              </a:rPr>
              <a:t>Founder salary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CE71C6-D75C-4D6D-9816-52C10B42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916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$96,000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A70E1BF-EDD0-4025-B74A-C58A20C6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16916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8,000/mo. Below market — this round buys focus.</a:t>
            </a:r>
            <a:endParaRPr sz="10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76EFDF9-E71F-4319-BA2D-23D89963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488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DB59FE4-35A8-4FC9-829C-3D3F6619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1488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1B26"/>
                </a:solidFill>
                <a:latin typeface="Calibri"/>
                <a:ea typeface="Calibri"/>
                <a:cs typeface="Calibri"/>
              </a:rPr>
              <a:t>Client acquisition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69CDC66-B6BF-4340-9F30-0D793AB6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1488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$40,000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468E6D-1B32-4F80-B2D2-997B2E45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21488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Paid search, content, partnership build-out.</a:t>
            </a:r>
            <a:endParaRPr sz="10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B827631-71E1-4E3E-AACC-C7C55A0E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060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BF852B-74FD-42C8-B9DA-8B354A90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6060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1B26"/>
                </a:solidFill>
                <a:latin typeface="Calibri"/>
                <a:ea typeface="Calibri"/>
                <a:cs typeface="Calibri"/>
              </a:rPr>
              <a:t>Notary advisor</a:t>
            </a:r>
            <a:endParaRPr sz="1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446DE83-4DF2-4233-B9B8-57BAE175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6060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$25,000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9C0F723-5F1B-4153-989B-A722D2A2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26060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Part-time practising notary. Credibility and correctness.</a:t>
            </a:r>
            <a:endParaRPr sz="10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53F60B1-36D3-4AC3-97F1-1F2E3192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632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EBD97C2-8F4F-41F8-93E1-7C624680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0632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1B26"/>
                </a:solidFill>
                <a:latin typeface="Calibri"/>
                <a:ea typeface="Calibri"/>
                <a:cs typeface="Calibri"/>
              </a:rPr>
              <a:t>Design contract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D725218-D7BA-49AC-BF32-AF2C4E48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0632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$25,000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99E299A-0772-4D4F-AC75-FD8347F2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0632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~3 months part-time front-end.</a:t>
            </a:r>
            <a:endParaRPr sz="10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2D40147-A4B2-414B-B621-388429B0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5204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92ABC6D-0B30-4475-93ED-897693A0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5204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1B26"/>
                </a:solidFill>
                <a:latin typeface="Calibri"/>
                <a:ea typeface="Calibri"/>
                <a:cs typeface="Calibri"/>
              </a:rPr>
              <a:t>Legal</a:t>
            </a:r>
            <a:endParaRPr sz="1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1AA3F6C-C2DE-461F-8164-71F263FF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5204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$20,000</a:t>
            </a:r>
            <a:endParaRPr sz="12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7E688BFE-8573-4366-8E6F-E6B4F0CC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5204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Déontologie opinion, Chambre, incorporation, Law 25.</a:t>
            </a:r>
            <a:endParaRPr sz="10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11149A72-ABE4-44A8-935E-1892556B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9776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781D1F4-CF95-4665-AD30-AC02397F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9776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1B26"/>
                </a:solidFill>
                <a:latin typeface="Calibri"/>
                <a:ea typeface="Calibri"/>
                <a:cs typeface="Calibri"/>
              </a:rPr>
              <a:t>Contingency</a:t>
            </a:r>
            <a:endParaRPr sz="12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376B87-4CDE-47ED-A6F9-3C470EE2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9776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$17,000</a:t>
            </a:r>
            <a:endParaRPr sz="12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6A6926C-899D-4E26-AE08-6552F8D5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9776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~7%.</a:t>
            </a:r>
            <a:endParaRPr sz="10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10EB37F6-4955-4118-B0DB-591A0490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4348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F69A0F7-97B6-44DD-AC71-C4ED06F3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44348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1B26"/>
                </a:solidFill>
                <a:latin typeface="Calibri"/>
                <a:ea typeface="Calibri"/>
                <a:cs typeface="Calibri"/>
              </a:rPr>
              <a:t>Notary acquisition</a:t>
            </a:r>
            <a:endParaRPr sz="12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3E980A2-1B12-4E5D-BB74-6549ECAB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4348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$15,000</a:t>
            </a:r>
            <a:endParaRPr sz="12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822FFEA-C4F5-499E-975E-D67EFB39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44348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Field sales, congrès, travel.</a:t>
            </a:r>
            <a:endParaRPr sz="10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D88C539-594E-467A-B3BF-CA4010C2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920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3EF12F8C-BCA4-4579-9B1C-CD017290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48920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1B26"/>
                </a:solidFill>
                <a:latin typeface="Calibri"/>
                <a:ea typeface="Calibri"/>
                <a:cs typeface="Calibri"/>
              </a:rPr>
              <a:t>Infra &amp; tooling</a:t>
            </a:r>
            <a:endParaRPr sz="12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84BD6FC5-CA71-4143-99A3-44B1AB5F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8920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86888"/>
                </a:solidFill>
                <a:latin typeface="Calibri"/>
                <a:ea typeface="Calibri"/>
                <a:cs typeface="Calibri"/>
              </a:rPr>
              <a:t>$12,000</a:t>
            </a:r>
            <a:endParaRPr sz="12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C07332C1-3544-499C-B444-7BEDE857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48920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Serverless keeps this small.</a:t>
            </a:r>
            <a:endParaRPr sz="10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6F62E397-FEE6-42E7-ABEF-BD138BB5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486400"/>
            <a:ext cx="53766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 i="1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Non-dilutive stacking: refundable SR&amp;ED and Québec R&amp;D wage credits are modelled at zero and treated as runway extension (~2–3 months), not budgeted revenue.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922232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7C5859A-97B0-403C-9298-BDF13804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What has to be true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FFB5160-11C8-4379-90AA-E9E9F7C4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Three assumptions carry the model. Each has a named falsification test — and all three resolve inside this round.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170300C-FD7B-465B-93E4-FC0B6D99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BF1F5"/>
          </a:solidFill>
          <a:ln xmlns:a="http://schemas.openxmlformats.org/drawingml/2006/main" w="12700">
            <a:solidFill>
              <a:srgbClr val="CBD8E2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B1924">
                <a:alpha val="1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0E26FFD-371F-4FA6-8C67-C4ED0BB7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122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59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EA54B87-5EE3-483E-8FAF-BD6FE7EB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1226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86E5E81-C80B-4018-92DC-5F0A17AD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874520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Clients pay a premium for a date</a:t>
            </a:r>
            <a:endParaRPr sz="17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A9C69A2-9CFE-40C0-9E1A-099166F3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74520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Realised premium distribution by tier. If urgence and extreme bids do not clear above standard, the core thesis is wrong.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89BA298-B37C-4635-9F29-3AB882BC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121408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0759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152B2CF-4F7E-489F-BC0A-B621D27C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121408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 6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ED6CDE8-4547-49A0-876C-8065D26D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1528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CBD8E2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B1924">
                <a:alpha val="10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AE1A835-8728-4B8B-8EFE-8D86CDCD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5021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903C721-300D-4428-B8CB-E2DABFBE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50215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66FF7D3-043E-498A-AB0B-B4EB5DA3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264408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Notaries sell short-notice availability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78FEE8A-2107-4548-AEF2-BC76B885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Fill rate on the prioritaire and urgence tiers specifically, not blended.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BF6BE4B-ED56-45B9-86A2-F3BB83E8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511296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B0AFC1D-A51A-4A31-A37B-082FF1A7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511296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 5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1445B3F-A3A3-4D85-9F68-FEAE661A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1416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700">
            <a:solidFill>
              <a:srgbClr val="CBD8E2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B1924">
                <a:alpha val="10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948D37A-D2D9-480A-8600-2ED86151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920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8CCB30F-60A4-45FD-B395-FA9E3E52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920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F103735-79C5-4DCD-A5E6-98E38B3C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654296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101B26"/>
                </a:solidFill>
                <a:latin typeface="Cambria"/>
                <a:ea typeface="Cambria"/>
                <a:cs typeface="Cambria"/>
              </a:rPr>
              <a:t>The client-side fee is déontologie-safe</a:t>
            </a:r>
            <a:endParaRPr sz="1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EEE9BA4-B0DC-4A8E-8E32-A549873A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654296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77593"/>
                </a:solidFill>
                <a:latin typeface="Calibri"/>
                <a:ea typeface="Calibri"/>
                <a:cs typeface="Calibri"/>
              </a:rPr>
              <a:t>A written legal opinion from Québec counsel, with structured Chambre engagement.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1E995B0-FB46-44C9-9F4D-3F04442E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4901184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766FD60-886B-4D9F-A130-D51297B3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4901184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 2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4EAB494-3A7A-4E50-9957-9E26A0EC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386888"/>
                </a:solidFill>
                <a:latin typeface="Cambria"/>
                <a:ea typeface="Cambria"/>
                <a:cs typeface="Cambria"/>
              </a:rPr>
              <a:t>That is the argument for the round size. $250,000 is enough to confirm or refute the entire thesis, and not a dollar is spent building something that has not been validated.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2475156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B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35D59A-DC8C-4F0B-874C-B92F2D8B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09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ask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214F802-EB26-41BA-AAA5-E114A9B0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407598"/>
                </a:solidFill>
                <a:latin typeface="Calibri"/>
                <a:ea typeface="Calibri"/>
                <a:cs typeface="Calibri"/>
              </a:rPr>
              <a:t>$250,000 CAD pre-seed · 12 months · SAFE or convertible note with an angel lead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B288133-16A0-4162-A05F-EE659907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274A6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7621D0D-ED42-4C68-A8A0-AD2C826B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3055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Legal footing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46B033-E097-46C4-80DF-5DDBBE04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5059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EBF1F5"/>
                </a:solidFill>
                <a:latin typeface="Calibri"/>
                <a:ea typeface="Calibri"/>
                <a:cs typeface="Calibri"/>
              </a:rPr>
              <a:t>A déontologie-clean structure with a written opinion on file — the largest risk in the business, retired first.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5918E61-87C4-430A-A6C4-05719B8D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6596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274A62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167C487-F626-4AA8-8649-346DF1F7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13055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A working market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BA9BF15-18AC-4C96-A2B4-4448E285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45059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EBF1F5"/>
                </a:solidFill>
                <a:latin typeface="Calibri"/>
                <a:ea typeface="Calibri"/>
                <a:cs typeface="Calibri"/>
              </a:rPr>
              <a:t>30 notaries and functioning two-sided liquidity in Québec City.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F9E3062-0043-444A-B473-20DFC6FC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328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274A6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E29D5C8-9192-4858-A8A5-B791DD12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4787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Proprietary data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7CDD90F-E769-4210-9109-5389CC14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6791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EBF1F5"/>
                </a:solidFill>
                <a:latin typeface="Calibri"/>
                <a:ea typeface="Calibri"/>
                <a:cs typeface="Calibri"/>
              </a:rPr>
              <a:t>244 completed acts and the first urgency price curve for the Québec notarial market. It does not otherwise exist.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65B309E-CEFF-429F-8B40-10A8BC62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8328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274A62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86D1CB3-4624-461C-B67C-B57362DE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54787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407598"/>
                </a:solidFill>
                <a:latin typeface="Cambria"/>
                <a:ea typeface="Cambria"/>
                <a:cs typeface="Cambria"/>
              </a:rPr>
              <a:t>Phase 2 in reach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EE94F9D-9CCA-484D-8E25-7449DDC1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86791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EBF1F5"/>
                </a:solidFill>
                <a:latin typeface="Calibri"/>
                <a:ea typeface="Calibri"/>
                <a:cs typeface="Calibri"/>
              </a:rPr>
              <a:t>The art. 46 compliance layer shipped, making remote signing routine where the law already allows it.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18CC930-88E0-4FB7-818A-91D09682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6048"/>
            <a:ext cx="23774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59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66124C4-FF1A-4173-BB02-90BF49CA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928"/>
            <a:ext cx="85953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Québec deregulated notary fees in 1991 and never built a market.</a:t>
            </a:r>
            <a:endParaRPr sz="2100"/>
          </a:p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market is built. This funds finding out whether it clears.</a:t>
            </a:r>
            <a:endParaRPr sz="2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53AC81D-3421-4A81-BCE3-57A4696F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5212080"/>
            <a:ext cx="2377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800"/>
              </a:lnSpc>
              <a:buNone/>
            </a:pPr>
            <a:r>
              <a:rPr sz="1200">
                <a:solidFill>
                  <a:srgbClr val="9EB6B2"/>
                </a:solidFill>
                <a:latin typeface="Calibri"/>
                <a:ea typeface="Calibri"/>
                <a:cs typeface="Calibri"/>
              </a:rPr>
              <a:t>Anthony Paquet</a:t>
            </a:r>
            <a:endParaRPr sz="1200"/>
          </a:p>
          <a:p xmlns:a="http://schemas.openxmlformats.org/drawingml/2006/main">
            <a:pPr marL="0" indent="0" algn="r">
              <a:lnSpc>
                <a:spcPts val="1800"/>
              </a:lnSpc>
              <a:buNone/>
            </a:pPr>
            <a:r>
              <a:rPr sz="1200">
                <a:solidFill>
                  <a:srgbClr val="9EB6B2"/>
                </a:solidFill>
                <a:latin typeface="Calibri"/>
                <a:ea typeface="Calibri"/>
                <a:cs typeface="Calibri"/>
              </a:rPr>
              <a:t>anthonypaquet1508@gmail.com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368036349"/>
      </p:ext>
    </p:extLst>
  </p:cSld>
</p:sld>
</file>

<file path=ppt/theme/theme1.xml><?xml version="1.0" encoding="utf-8"?>
<a:theme xmlns:a="http://schemas.openxmlformats.org/drawingml/2006/main" name="Office Theme">
  <a:themeElements>
    <a:clrScheme name="Nota Editorial">
      <a:dk1>
        <a:srgbClr val="0B1924"/>
      </a:dk1>
      <a:lt1>
        <a:srgbClr val="FBFCFD"/>
      </a:lt1>
      <a:dk2>
        <a:srgbClr val="274A62"/>
      </a:dk2>
      <a:lt2>
        <a:srgbClr val="EBF1F5"/>
      </a:lt2>
      <a:accent1>
        <a:srgbClr val="386888"/>
      </a:accent1>
      <a:accent2>
        <a:srgbClr val="407598"/>
      </a:accent2>
      <a:accent3>
        <a:srgbClr val="B87569"/>
      </a:accent3>
      <a:accent4>
        <a:srgbClr val="7D93A2"/>
      </a:accent4>
      <a:accent5>
        <a:srgbClr val="477593"/>
      </a:accent5>
      <a:accent6>
        <a:srgbClr val="274A62"/>
      </a:accent6>
      <a:hlink>
        <a:srgbClr val="386888"/>
      </a:hlink>
      <a:folHlink>
        <a:srgbClr val="274A6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Nota Editori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2026-09-09T17:19:46.1700000Z</dcterms:created>
  <dcterms:modified xsi:type="dcterms:W3CDTF">2026-09-09T17:19:46.1700000Z</dcterms:modified>
</coreProperties>
</file>