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ab321d26ce4889" /><Relationship Type="http://schemas.openxmlformats.org/officeDocument/2006/relationships/extended-properties" Target="/docProps/app.xml" Id="R79da2757c0204a1c" /><Relationship Type="http://schemas.openxmlformats.org/officeDocument/2006/relationships/officeDocument" Target="/ppt/presentation.xml" Id="R3c3f11031ea747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21bf2349b4370"/>
  </p:sldMasterIdLst>
  <p:notesMasterIdLst>
    <p:notesMasterId xmlns:r="http://schemas.openxmlformats.org/officeDocument/2006/relationships" r:id="R0c4ac96f9b4145de"/>
  </p:notesMasterIdLst>
  <p:sldIdLst>
    <p:sldId xmlns:r="http://schemas.openxmlformats.org/officeDocument/2006/relationships" id="256" r:id="R13bfe60441734caf"/>
    <p:sldId xmlns:r="http://schemas.openxmlformats.org/officeDocument/2006/relationships" id="257" r:id="Rcfeaf5b9d9314a59"/>
    <p:sldId xmlns:r="http://schemas.openxmlformats.org/officeDocument/2006/relationships" id="258" r:id="R5770331c471b4288"/>
    <p:sldId xmlns:r="http://schemas.openxmlformats.org/officeDocument/2006/relationships" id="259" r:id="Rf7d5256fbc3442cd"/>
    <p:sldId xmlns:r="http://schemas.openxmlformats.org/officeDocument/2006/relationships" id="260" r:id="Rf6d295bb04c24ba4"/>
    <p:sldId xmlns:r="http://schemas.openxmlformats.org/officeDocument/2006/relationships" id="261" r:id="R9463e82b67924226"/>
    <p:sldId xmlns:r="http://schemas.openxmlformats.org/officeDocument/2006/relationships" id="262" r:id="R23b14af2067f4252"/>
    <p:sldId xmlns:r="http://schemas.openxmlformats.org/officeDocument/2006/relationships" id="263" r:id="Red1324fcb6354651"/>
    <p:sldId xmlns:r="http://schemas.openxmlformats.org/officeDocument/2006/relationships" id="264" r:id="Ra132c4654f0a45c8"/>
    <p:sldId xmlns:r="http://schemas.openxmlformats.org/officeDocument/2006/relationships" id="265" r:id="R4e919973d0004af0"/>
    <p:sldId xmlns:r="http://schemas.openxmlformats.org/officeDocument/2006/relationships" id="266" r:id="Rabeea0db722647ce"/>
    <p:sldId xmlns:r="http://schemas.openxmlformats.org/officeDocument/2006/relationships" id="267" r:id="Rd79e85c6eb5e431f"/>
    <p:sldId xmlns:r="http://schemas.openxmlformats.org/officeDocument/2006/relationships" id="268" r:id="Re794bd5e2be64862"/>
    <p:sldId xmlns:r="http://schemas.openxmlformats.org/officeDocument/2006/relationships" id="269" r:id="R5b57c9cc1c1f4a1e"/>
    <p:sldId xmlns:r="http://schemas.openxmlformats.org/officeDocument/2006/relationships" id="270" r:id="Rbc7692d7c5b746de"/>
    <p:sldId xmlns:r="http://schemas.openxmlformats.org/officeDocument/2006/relationships" id="271" r:id="R19028e584f634a3d"/>
    <p:sldId xmlns:r="http://schemas.openxmlformats.org/officeDocument/2006/relationships" id="272" r:id="Rc7017b30f7ec49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cf93765144cc2" /><Relationship Type="http://schemas.openxmlformats.org/officeDocument/2006/relationships/slideMaster" Target="/ppt/slideMasters/slideMaster1.xml" Id="R98221bf2349b4370" /><Relationship Type="http://schemas.openxmlformats.org/officeDocument/2006/relationships/notesMaster" Target="/ppt/notesMasters/notesMaster1.xml" Id="R0c4ac96f9b4145de" /><Relationship Type="http://schemas.openxmlformats.org/officeDocument/2006/relationships/presProps" Target="/ppt/presProps.xml" Id="R5327f8f21d7a4784" /><Relationship Type="http://schemas.openxmlformats.org/officeDocument/2006/relationships/viewProps" Target="/ppt/viewProps.xml" Id="Rd21f5a3b3eac4a91" /><Relationship Type="http://schemas.openxmlformats.org/officeDocument/2006/relationships/tableStyles" Target="/ppt/tableStyles.xml" Id="Ra9865e14c57c4d6b" /><Relationship Type="http://schemas.openxmlformats.org/officeDocument/2006/relationships/slide" Target="/ppt/slides/slide1.xml" Id="R13bfe60441734caf" /><Relationship Type="http://schemas.openxmlformats.org/officeDocument/2006/relationships/slide" Target="/ppt/slides/slide2.xml" Id="Rcfeaf5b9d9314a59" /><Relationship Type="http://schemas.openxmlformats.org/officeDocument/2006/relationships/slide" Target="/ppt/slides/slide3.xml" Id="R5770331c471b4288" /><Relationship Type="http://schemas.openxmlformats.org/officeDocument/2006/relationships/slide" Target="/ppt/slides/slide4.xml" Id="Rf7d5256fbc3442cd" /><Relationship Type="http://schemas.openxmlformats.org/officeDocument/2006/relationships/slide" Target="/ppt/slides/slide5.xml" Id="Rf6d295bb04c24ba4" /><Relationship Type="http://schemas.openxmlformats.org/officeDocument/2006/relationships/slide" Target="/ppt/slides/slide6.xml" Id="R9463e82b67924226" /><Relationship Type="http://schemas.openxmlformats.org/officeDocument/2006/relationships/slide" Target="/ppt/slides/slide7.xml" Id="R23b14af2067f4252" /><Relationship Type="http://schemas.openxmlformats.org/officeDocument/2006/relationships/slide" Target="/ppt/slides/slide8.xml" Id="Red1324fcb6354651" /><Relationship Type="http://schemas.openxmlformats.org/officeDocument/2006/relationships/slide" Target="/ppt/slides/slide9.xml" Id="Ra132c4654f0a45c8" /><Relationship Type="http://schemas.openxmlformats.org/officeDocument/2006/relationships/slide" Target="/ppt/slides/slide10.xml" Id="R4e919973d0004af0" /><Relationship Type="http://schemas.openxmlformats.org/officeDocument/2006/relationships/slide" Target="/ppt/slides/slide11.xml" Id="Rabeea0db722647ce" /><Relationship Type="http://schemas.openxmlformats.org/officeDocument/2006/relationships/slide" Target="/ppt/slides/slide12.xml" Id="Rd79e85c6eb5e431f" /><Relationship Type="http://schemas.openxmlformats.org/officeDocument/2006/relationships/slide" Target="/ppt/slides/slide13.xml" Id="Re794bd5e2be64862" /><Relationship Type="http://schemas.openxmlformats.org/officeDocument/2006/relationships/slide" Target="/ppt/slides/slide14.xml" Id="R5b57c9cc1c1f4a1e" /><Relationship Type="http://schemas.openxmlformats.org/officeDocument/2006/relationships/slide" Target="/ppt/slides/slide15.xml" Id="Rbc7692d7c5b746de" /><Relationship Type="http://schemas.openxmlformats.org/officeDocument/2006/relationships/slide" Target="/ppt/slides/slide16.xml" Id="R19028e584f634a3d" /><Relationship Type="http://schemas.openxmlformats.org/officeDocument/2006/relationships/slide" Target="/ppt/slides/slide17.xml" Id="Rc7017b30f7ec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fb276388641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1a5267a2b745bd" /><Relationship Type="http://schemas.openxmlformats.org/officeDocument/2006/relationships/notesMaster" Target="/ppt/notesMasters/notesMaster1.xml" Id="R28f48919047140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9fc4305d474dd0" /><Relationship Type="http://schemas.openxmlformats.org/officeDocument/2006/relationships/notesMaster" Target="/ppt/notesMasters/notesMaster1.xml" Id="R93b8567d183f4b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9a2f00bf940e6" /><Relationship Type="http://schemas.openxmlformats.org/officeDocument/2006/relationships/notesMaster" Target="/ppt/notesMasters/notesMaster1.xml" Id="Rd5f6d59469124d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9ec430c6584133" /><Relationship Type="http://schemas.openxmlformats.org/officeDocument/2006/relationships/notesMaster" Target="/ppt/notesMasters/notesMaster1.xml" Id="R704889a5036f40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b2e85876e40de" /><Relationship Type="http://schemas.openxmlformats.org/officeDocument/2006/relationships/notesMaster" Target="/ppt/notesMasters/notesMaster1.xml" Id="R5cd33c6f0fbe47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ad33150bce498f" /><Relationship Type="http://schemas.openxmlformats.org/officeDocument/2006/relationships/notesMaster" Target="/ppt/notesMasters/notesMaster1.xml" Id="Rc84cc102badc44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a6cb06dbf4437c" /><Relationship Type="http://schemas.openxmlformats.org/officeDocument/2006/relationships/notesMaster" Target="/ppt/notesMasters/notesMaster1.xml" Id="R41848c1fd22344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5a82b269244da4" /><Relationship Type="http://schemas.openxmlformats.org/officeDocument/2006/relationships/notesMaster" Target="/ppt/notesMasters/notesMaster1.xml" Id="Rf5340c1821b741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39c237fc7d45b4" /><Relationship Type="http://schemas.openxmlformats.org/officeDocument/2006/relationships/notesMaster" Target="/ppt/notesMasters/notesMaster1.xml" Id="R838cb5a639fb49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0f7a225db64ac1" /><Relationship Type="http://schemas.openxmlformats.org/officeDocument/2006/relationships/notesMaster" Target="/ppt/notesMasters/notesMaster1.xml" Id="R757de09b89ed41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f792ca86f8497c" /><Relationship Type="http://schemas.openxmlformats.org/officeDocument/2006/relationships/notesMaster" Target="/ppt/notesMasters/notesMaster1.xml" Id="R2336c5d6875946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01419ccd1c47ed" /><Relationship Type="http://schemas.openxmlformats.org/officeDocument/2006/relationships/notesMaster" Target="/ppt/notesMasters/notesMaster1.xml" Id="R3ce1de04623648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f41b3160664bf0" /><Relationship Type="http://schemas.openxmlformats.org/officeDocument/2006/relationships/notesMaster" Target="/ppt/notesMasters/notesMaster1.xml" Id="R11f8b408ccf94c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4bac0f97ed403e" /><Relationship Type="http://schemas.openxmlformats.org/officeDocument/2006/relationships/notesMaster" Target="/ppt/notesMasters/notesMaster1.xml" Id="R97c4c726be2540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c940fd5f104024" /><Relationship Type="http://schemas.openxmlformats.org/officeDocument/2006/relationships/notesMaster" Target="/ppt/notesMasters/notesMaster1.xml" Id="Rbcf06b2d28d94e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189dd3efdf41ff" /><Relationship Type="http://schemas.openxmlformats.org/officeDocument/2006/relationships/notesMaster" Target="/ppt/notesMasters/notesMaster1.xml" Id="R1f0818f29eea48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70d994e36943cd" /><Relationship Type="http://schemas.openxmlformats.org/officeDocument/2006/relationships/notesMaster" Target="/ppt/notesMasters/notesMaster1.xml" Id="R8546ea67691b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Québec deregulated notary fees in 1991 and never built a market. The product is already built and deployed. This round funds finding out whether it clears.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insight: deregulation without a market. Fees are legally free but structurally blind.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two-sided failure. The punchline is the last line: nobody sells time.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is derived from days-to-date. Floors and the 10x cap live in the domain package and are asserted by tests.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pre-seed money funds the possibility that a team can build the thing. Here the thing is built. The money buys 12 months of undivided attention on distribution.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Bill 34 point is the most important: the legal rails already exist, which removes years and hundreds of thousands from Phase 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CNQ Registre des dispositions testamentaires (215,576 registrations 2017-18), CMHC renewal data, APCIQ 90,369 residential sales 2024.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direct about this in the room. The current code implements the commission model and flags itself. Fixing it before launch is milestone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metric governs Phase 1: fill rate. Below 40% the market is not clearing; above 60% the flywheel is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strategic core of the deck. Do not let it be heard as a regulatory bet — it is the opposite. The law already permits this; we remove the reason notaries decline.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US-platform row matters: it explains why a well-funded American entrant is not the threat people assume.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Y3 = 3.7% of addressable act volume. Series A trigger is exiting Y2 at a $300-500K ARR run-rate with province-wide liquidity proven.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 9-12 follow-on: IQ's Fonds Impulsion invests $250K-1M but requires a lead investor and an accelerator referral. Securing an angel lead here is the bridge.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Investors reward founders who name their own kill criteria. Lead with this if the room is skeptical.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founder point: the platform is built, tested and deployed. This buys twelve months of undivided attention on the parts code cannot solve.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docs/business-plan.md sections 3, 7, 10 and 14; docs/secure-signing-plan.md; docs/decisions/0008-free-commission-marketplace.md. The slide states operating commitments and launch gates, not a legal opinion or certification of compliance. Current Québec statutes, professional rules and jurisprudence require review with Québec counsel and a practising notary before each service goes live. Reviewed 2026-09-09.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7b69a8589429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a921c0a0dc4980" /><Relationship Type="http://schemas.openxmlformats.org/officeDocument/2006/relationships/slideLayout" Target="/ppt/slideLayouts/slideLayout1.xml" Id="R2b4d50a57ec6414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4d50a57ec6414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4ccd0faa44549" /><Relationship Type="http://schemas.openxmlformats.org/officeDocument/2006/relationships/notesSlide" Target="/ppt/notesSlides/notesSlide1.xml" Id="R73b48155da094c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cfe3cd1114ef3" /><Relationship Type="http://schemas.openxmlformats.org/officeDocument/2006/relationships/notesSlide" Target="/ppt/notesSlides/notesSlide2.xml" Id="Rf0f503dbd3394e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ff3c344ff49be" /><Relationship Type="http://schemas.openxmlformats.org/officeDocument/2006/relationships/notesSlide" Target="/ppt/notesSlides/notesSlide3.xml" Id="R5305ceff614b4e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7ee7d346f425e" /><Relationship Type="http://schemas.openxmlformats.org/officeDocument/2006/relationships/notesSlide" Target="/ppt/notesSlides/notesSlide4.xml" Id="R60690212289e47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a8cbeb9d7449e" /><Relationship Type="http://schemas.openxmlformats.org/officeDocument/2006/relationships/notesSlide" Target="/ppt/notesSlides/notesSlide5.xml" Id="R2f2b5f69fdce46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63c08795d4828" /><Relationship Type="http://schemas.openxmlformats.org/officeDocument/2006/relationships/notesSlide" Target="/ppt/notesSlides/notesSlide6.xml" Id="Rbd78f1cb729243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d8408b35b41c9" /><Relationship Type="http://schemas.openxmlformats.org/officeDocument/2006/relationships/chart" Target="/ppt/slides/charts/chart1.xml" Id="Raab427a0c7584be2" /><Relationship Type="http://schemas.openxmlformats.org/officeDocument/2006/relationships/notesSlide" Target="/ppt/notesSlides/notesSlide7.xml" Id="R5d014c19b64446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e39e6bd274c77" /><Relationship Type="http://schemas.openxmlformats.org/officeDocument/2006/relationships/notesSlide" Target="/ppt/notesSlides/notesSlide8.xml" Id="R573b9a1eb14442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352ccf45b4905" /><Relationship Type="http://schemas.openxmlformats.org/officeDocument/2006/relationships/notesSlide" Target="/ppt/notesSlides/notesSlide9.xml" Id="R3fe8f826afcc4d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2616566da4580" /><Relationship Type="http://schemas.openxmlformats.org/officeDocument/2006/relationships/notesSlide" Target="/ppt/notesSlides/notesSlide10.xml" Id="Rbfc3ecda9aad43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0481cf51541dc" /><Relationship Type="http://schemas.openxmlformats.org/officeDocument/2006/relationships/notesSlide" Target="/ppt/notesSlides/notesSlide11.xml" Id="R4a596e52694f44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03c18a0b74ff9" /><Relationship Type="http://schemas.openxmlformats.org/officeDocument/2006/relationships/chart" Target="/ppt/slides/charts/chart2.xml" Id="Re1aabbb76fc44089" /><Relationship Type="http://schemas.openxmlformats.org/officeDocument/2006/relationships/notesSlide" Target="/ppt/notesSlides/notesSlide12.xml" Id="R4133663d4eea4d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71153c1484792" /><Relationship Type="http://schemas.openxmlformats.org/officeDocument/2006/relationships/chart" Target="/ppt/slides/charts/chart3.xml" Id="Rae494ff9ca044e81" /><Relationship Type="http://schemas.openxmlformats.org/officeDocument/2006/relationships/notesSlide" Target="/ppt/notesSlides/notesSlide13.xml" Id="Rc7f27e0ba77b42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bfa4326a642ab" /><Relationship Type="http://schemas.openxmlformats.org/officeDocument/2006/relationships/notesSlide" Target="/ppt/notesSlides/notesSlide14.xml" Id="R62f3bc1eace94f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5c35f343d400c" /><Relationship Type="http://schemas.openxmlformats.org/officeDocument/2006/relationships/notesSlide" Target="/ppt/notesSlides/notesSlide15.xml" Id="Rdefff5385b8e40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a9f9b29b144a5" /><Relationship Type="http://schemas.openxmlformats.org/officeDocument/2006/relationships/notesSlide" Target="/ppt/notesSlides/notesSlide16.xml" Id="R22a7f37108dc4c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faab2b4d64da1" /><Relationship Type="http://schemas.openxmlformats.org/officeDocument/2006/relationships/notesSlide" Target="/ppt/notesSlides/notesSlide17.xml" Id="R23b02751a0db4021" 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SAM — the three bounded services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DDEAF2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act value ($M)</c:v>
                </c:pt>
              </c:strCache>
            </c:strRef>
          </c:tx>
          <c:spPr>
            <a:solidFill xmlns:a="http://schemas.openxmlformats.org/drawingml/2006/main">
              <a:srgbClr val="1D4772"/>
            </a:solidFill>
          </c:spPr>
          <c:dLbls>
            <c:numFmt formatCode="$#,##0&quot;M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>
                    <a:solidFill>
                      <a:srgbClr val="DDEAF2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Wills + mandates
~200,000 acts</c:v>
                </c:pt>
                <c:pt idx="1">
                  <c:v>Refinancing
~50,000 acts</c:v>
                </c:pt>
                <c:pt idx="2">
                  <c:v>Procurations
~50,000 acts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100</c:v>
                </c:pt>
                <c:pt idx="2">
                  <c:v>14.75</c:v>
                </c:pt>
              </c:numCache>
            </c:numRef>
          </c:val>
        </c:ser>
        <c:dLbls>
          <c:numFmt formatCode="$#,##0&quot;M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0" i="0" u="none">
                  <a:solidFill>
                    <a:srgbClr val="DDEAF2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9EB3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AEBECD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xmlns:a="http://schemas.openxmlformats.org/drawingml/2006/main" w="12700">
            <a:solidFill>
              <a:srgbClr val="9EB3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GMV and net revenue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>
              <a:solidFill>
                <a:srgbClr val="DDEAF2"/>
              </a:solidFill>
              <a:latin typeface="Cambria"/>
              <a:ea typeface="Cambria"/>
              <a:cs typeface="Cambria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GMV ($000)</c:v>
                </c:pt>
              </c:strCache>
            </c:strRef>
          </c:tx>
          <c:spPr>
            <a:solidFill xmlns:a="http://schemas.openxmlformats.org/drawingml/2006/main">
              <a:srgbClr val="DDE5EF"/>
            </a:solidFill>
          </c:spPr>
          <c:invertIfNegative val="0"/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DDEAF2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3220</c:v>
                </c:pt>
                <c:pt idx="2">
                  <c:v>15950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DDEAF2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($000)</c:v>
                </c:pt>
              </c:strCache>
            </c:strRef>
          </c:tx>
          <c:spPr>
            <a:solidFill xmlns:a="http://schemas.openxmlformats.org/drawingml/2006/main">
              <a:srgbClr val="F0A45D"/>
            </a:solidFill>
            <a:ln xmlns:a="http://schemas.openxmlformats.org/drawingml/2006/main" w="50800">
              <a:solidFill>
                <a:srgbClr val="F0A45D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F0A45D"/>
              </a:solidFill>
              <a:ln xmlns:a="http://schemas.openxmlformats.org/drawingml/2006/main" w="9525">
                <a:solidFill>
                  <a:srgbClr val="F0A45D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DDEAF2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Y1 2026-27</c:v>
                </c:pt>
                <c:pt idx="1">
                  <c:v>Y2 2027-28</c:v>
                </c:pt>
                <c:pt idx="2">
                  <c:v>Y3 2028-29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322</c:v>
                </c:pt>
                <c:pt idx="2">
                  <c:v>1595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DDEAF2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9EB3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AEBECD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4EA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DDEAF2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DDEAF2"/>
                    </a:solidFill>
                    <a:latin typeface="Calibri"/>
                    <a:ea typeface="Calibri"/>
                    <a:cs typeface="Calibri"/>
                  </a:rPr>
                  <a:t>GMV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DDEAF2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9EB3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AEBECD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pPr>
                  <a:buNone/>
                  <a:defRPr sz="1000" b="0" i="0" u="none">
                    <a:solidFill>
                      <a:srgbClr val="DDEAF2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sz="1000" b="0" i="0" u="none">
                    <a:solidFill>
                      <a:srgbClr val="DDEAF2"/>
                    </a:solidFill>
                    <a:latin typeface="Calibri"/>
                    <a:ea typeface="Calibri"/>
                    <a:cs typeface="Calibri"/>
                  </a:rPr>
                  <a:t>Net revenue ($000)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0" i="0" u="none">
                  <a:solidFill>
                    <a:srgbClr val="DDEAF2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9EB3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B87A17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9EB3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  <c:lblAlgn val="ctr"/>
        <c:noMultiLvlLbl val="1"/>
      </c:cat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AEBEC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chart>
    <c:autoTitleDeleted val="1"/>
    <c:plotArea>
      <c:doughnutChart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 w="9525">
              <a:solidFill>
                <a:srgbClr val="122744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DDEAF2"/>
              </a:solidFill>
            </c:spPr>
          </c:dPt>
          <c:dPt>
            <c:idx val="1"/>
            <c:spPr>
              <a:solidFill xmlns:a="http://schemas.openxmlformats.org/drawingml/2006/main">
                <a:srgbClr val="F0A45D"/>
              </a:solidFill>
            </c:spPr>
          </c:dPt>
          <c:dPt>
            <c:idx val="2"/>
            <c:spPr>
              <a:solidFill xmlns:a="http://schemas.openxmlformats.org/drawingml/2006/main">
                <a:srgbClr val="1D4772"/>
              </a:solidFill>
            </c:spPr>
          </c:dPt>
          <c:dPt>
            <c:idx val="3"/>
            <c:spPr>
              <a:solidFill xmlns:a="http://schemas.openxmlformats.org/drawingml/2006/main">
                <a:srgbClr val="4E6E96"/>
              </a:solidFill>
            </c:spPr>
          </c:dPt>
          <c:dPt>
            <c:idx val="4"/>
            <c:spPr>
              <a:solidFill xmlns:a="http://schemas.openxmlformats.org/drawingml/2006/main">
                <a:srgbClr val="2E7D6B"/>
              </a:solidFill>
            </c:spPr>
          </c:dPt>
          <c:dPt>
            <c:idx val="5"/>
            <c:spPr>
              <a:solidFill xmlns:a="http://schemas.openxmlformats.org/drawingml/2006/main">
                <a:srgbClr val="9AAABF"/>
              </a:solidFill>
            </c:spPr>
          </c:dPt>
          <c:dPt>
            <c:idx val="6"/>
            <c:spPr>
              <a:solidFill xmlns:a="http://schemas.openxmlformats.org/drawingml/2006/main">
                <a:srgbClr val="B87A17"/>
              </a:solidFill>
            </c:spPr>
          </c:dPt>
          <c:dPt>
            <c:idx val="7"/>
            <c:spPr>
              <a:solidFill xmlns:a="http://schemas.openxmlformats.org/drawingml/2006/main">
                <a:srgbClr val="C3CEDC"/>
              </a:solidFill>
            </c:spPr>
          </c:dPt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DDEAF2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DDEAF2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DDEAF2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DDEAF2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DDEAF2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DDEAF2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DDEAF2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rgbClr val="DDEAF2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1" i="0" u="none">
                    <a:solidFill>
                      <a:srgbClr val="DDEAF2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Founder salary</c:v>
                </c:pt>
                <c:pt idx="1">
                  <c:v>Client acquisition</c:v>
                </c:pt>
                <c:pt idx="2">
                  <c:v>Notary advisor</c:v>
                </c:pt>
                <c:pt idx="3">
                  <c:v>Design contract</c:v>
                </c:pt>
                <c:pt idx="4">
                  <c:v>Legal</c:v>
                </c:pt>
                <c:pt idx="5">
                  <c:v>Contingency</c:v>
                </c:pt>
                <c:pt idx="6">
                  <c:v>Notary acquisition</c:v>
                </c:pt>
                <c:pt idx="7">
                  <c:v>Infra &amp; tooling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96000</c:v>
                </c:pt>
                <c:pt idx="1">
                  <c:v>40000</c:v>
                </c:pt>
                <c:pt idx="2">
                  <c:v>25000</c:v>
                </c:pt>
                <c:pt idx="3">
                  <c:v>25000</c:v>
                </c:pt>
                <c:pt idx="4">
                  <c:v>20000</c:v>
                </c:pt>
                <c:pt idx="5">
                  <c:v>17000</c:v>
                </c:pt>
                <c:pt idx="6">
                  <c:v>15000</c:v>
                </c:pt>
                <c:pt idx="7">
                  <c:v>12000</c:v>
                </c:pt>
              </c:numCache>
            </c:numRef>
          </c:val>
        </c:ser>
        <c:firstSliceAng val="0"/>
        <c:holeSize val="52"/>
      </c:doughnutChart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solidFill>
                <a:srgbClr val="AEBEC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0B4DCA-78AB-4A6B-B4B6-1EF0E375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10820095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Nota</a:t>
            </a:r>
            <a:endParaRPr sz="7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B31E29-AE34-4D26-8BA9-4240CCE5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8778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i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A date-priced network that compounds supply, demand and trust.</a:t>
            </a:r>
            <a:endParaRPr sz="2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32FB9D6-5FD5-4EEA-88FB-153954A7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9509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Québec abolished mandatory notary tariffs in 1991. Thirty-five years later, no price discovery mechanism has ever existed.</a:t>
            </a:r>
            <a:endParaRPr sz="145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50">
                <a:solidFill>
                  <a:srgbClr val="C3D2E6"/>
                </a:solidFill>
                <a:latin typeface="Calibri"/>
                <a:ea typeface="Calibri"/>
                <a:cs typeface="Calibri"/>
              </a:rPr>
              <a:t>Nota is that mechanism — a public calendar where the market prices urgency.</a:t>
            </a:r>
            <a:endParaRPr sz="14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C1E515-9E04-4730-9940-7F9A9018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28346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5D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8078C4-0092-4EC5-A676-4C2B683A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7315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AEBECD"/>
                </a:solidFill>
                <a:latin typeface="Calibri"/>
                <a:ea typeface="Calibri"/>
                <a:cs typeface="Calibri"/>
              </a:rPr>
              <a:t>Pre-seed · $250,000 CAD · 12 months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AEBECD"/>
                </a:solidFill>
                <a:latin typeface="Calibri"/>
                <a:ea typeface="Calibri"/>
                <a:cs typeface="Calibri"/>
              </a:rPr>
              <a:t>info@gonota.ca · Nota Québec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12622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864D8A-828F-44AD-AE59-D5923F6D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A deregulated market that never got a price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C4492D-B1BE-4726-B9AC-B0DF36A2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Fees have been free-floating since 1991. Discovery still happens by phone call.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B12BE08-9312-4571-8AE7-D8B41877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1991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B81BEF-F5AB-43DD-8698-0350CF47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Mandatory notarial tariffs abolished. Every notary has set their own fees ever since.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2219CE-2C81-4B99-A340-B82CB88B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~3,900</a:t>
            </a:r>
            <a:endParaRPr sz="4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C43506A-1C01-42BB-9A0C-66B43BEB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Practising notaries in Québec, each with unsold gaps in their calendar.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A20EC2E-128A-4D31-A752-943A0010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91640"/>
            <a:ext cx="27432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~50%</a:t>
            </a:r>
            <a:endParaRPr sz="4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FC93103-7289-4571-86DD-E859FD74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78024"/>
            <a:ext cx="27432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of Québec adults have no will. Among 18–34 year-olds, about 70%.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A82FA3-FC85-4089-A8C1-40514817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691640"/>
            <a:ext cx="21945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$0</a:t>
            </a:r>
            <a:endParaRPr sz="4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8BFE7B2-6DB8-48D3-99AF-5290EF83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478024"/>
            <a:ext cx="21945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spent by anyone, in 35 years, building the venue where these two meet.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9FA2B39-F995-4F5B-8398-534DB4CC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095" cy="214884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7858747-1376-4790-AE32-A4B79F3D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The gap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CBC5AA2-D248-482C-8161-678BD09C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2272"/>
            <a:ext cx="9875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A client who needs a signature next Tuesday cannot learn what next Tuesday costs.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A notary with an empty Tuesday has nowhere to sell it.</a:t>
            </a:r>
            <a:endParaRPr sz="2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5C3F717-659C-4C69-8AF4-7943D837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9240"/>
            <a:ext cx="9875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EBECD"/>
                </a:solidFill>
                <a:latin typeface="Calibri"/>
                <a:ea typeface="Calibri"/>
                <a:cs typeface="Calibri"/>
              </a:rPr>
              <a:t>Real price dispersion. Real supply elasticity. Real demand urgency. No mechanism connecting any of it.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16901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3941C6-BF3C-433C-A6D5-D5E3CEAF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Two sides, both stuck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DD239A-510A-4D61-A7EA-CF866691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Neither can find the other, and neither can price the thing that actually varies: the date.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1BA79A-66EF-482A-8F13-FB5B8FD6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D9A8188-C6E1-43CC-AB0B-8B0836C5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The client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7EE876-25A6-4521-99E0-B1F0776B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Price discovery costs a sequence of phone calls during business hours.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Published ranges are wide — a will and mandate run 700–1,000 $ — and you learn where you land only after you call.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Urgency has no price. There is no way to pay to jump a three-week queue.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So the act does not happen. Half of Québec adults have no will.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1532D27-E022-43A1-A36C-9654F2D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532120" cy="4206240"/>
          </a:xfrm>
          <a:prstGeom xmlns:a="http://schemas.openxmlformats.org/drawingml/2006/main" prst="roundRect">
            <a:avLst>
              <a:gd name="adj" fmla="val 195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C916105-4B24-46F1-B2A0-6B6C0E4A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82880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The notary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7990CBF-9342-4D05-B505-6EEFC8D0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860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A hole in the calendar is unrecoverable inventory — it expires like an airline seat.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 channel exists to sell short-notice availability. A cancelled Thursday cannot be listed anywhere.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Client acquisition is referral and signage.</a:t>
            </a:r>
            <a:endParaRPr sz="1350"/>
          </a:p>
          <a:p xmlns:a="http://schemas.openxmlformats.org/drawingml/2006/main"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sz="13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Buying leads is ineffective; sharing fees is prohibited by the Code de déontologie.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1F9F63B-9E4C-4133-B73E-EF1E5FC7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Nota sells when, not what. Every alternative prices a document; Nota prices a date.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92102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007BCC6-FCF4-4AF8-836B-F1D2729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The mechanism: the market prices urgency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6446C4-A594-4641-912F-EDC05BEA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The client posts a date and an amount. The tier — and the premium — derive from how close that date is.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B09FE4-208F-47F0-A5C2-3EA81F24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A698262-EB8E-400E-829C-E0C2194B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0E208D7-00D1-4FD7-9348-5CF340EB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92224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standard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3D37FA0-D868-4908-9D37-B4450EC4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45920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15+ days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4CD9D6-B22B-4C83-AA23-2D8656FB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1.0× – 1.2×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72CA2E3-0029-4500-95CD-36C6E79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45500DF-4522-4563-9D1C-3E94DA9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D00EFD-3B9E-4489-804F-8A5BE27A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542032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rapide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18E9E1-07F3-4EFC-9421-DCB832F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95728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8–14 days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579606-7F01-4851-919A-A8C3702D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95728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1.2× – 1.5×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585869F-7E19-4D0A-958D-870D7D9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5536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1E9266F-856D-4F44-99A4-43ECC704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0A45D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B87487A-4DA6-49D8-BDA9-1DB9B092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291840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prioritaire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A260A8-1151-4358-BDCA-5A99B1E4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5536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4–7 days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B442B8E-2F63-4E78-9259-E258531B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45536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1.6× – 2.2×</a:t>
            </a:r>
            <a:endParaRPr sz="16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1386644-A573-4F6E-9E34-C228F592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344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2680513-EF68-4FF1-B03E-F4F5E566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0A45D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81CB7B1-77C8-4D36-AACB-3D8108B2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041648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urgence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EE8431B-CED3-430D-9032-FCCD7D6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95344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2–3 days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277EF4F-7944-460B-8929-9276A468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895344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2.5× – 4.0×</a:t>
            </a:r>
            <a:endParaRPr sz="16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88A1D35-8700-47BE-81DE-D409FADE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5152"/>
            <a:ext cx="6766560" cy="658368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A79D7DA-CD32-4D02-BE74-E9357B5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0A45D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9910A8A-0A14-41B5-87BA-802D936A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791456"/>
            <a:ext cx="148132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extreme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9C5CD05-E7A8-4348-A3F7-2076F546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45152"/>
            <a:ext cx="20116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0–1 day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43152BF-3B61-4BF2-B847-736D89C7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645152"/>
            <a:ext cx="2651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6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4.0× – 10.0×</a:t>
            </a:r>
            <a:endParaRPr sz="16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CCFFF06-8C01-42FF-99CF-F16113B5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645920"/>
            <a:ext cx="4251960" cy="3749040"/>
          </a:xfrm>
          <a:prstGeom xmlns:a="http://schemas.openxmlformats.org/drawingml/2006/main" prst="roundRect">
            <a:avLst>
              <a:gd name="adj" fmla="val 2195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4DD2228-D354-4208-8347-BB2A7BDE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87452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5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Guardrails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90C5A3F-A9A8-40F1-8315-85253031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286000"/>
            <a:ext cx="35661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Floors. Every offer must clear a market-researched prix de départ per service.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Hard 10× cap. A real auction, not a panic tax.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Server-authoritative. The browser and the server load the same rules module, so the displayed price and the enforced price cannot drift.</a:t>
            </a:r>
            <a:endParaRPr sz="120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sz="12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Anonymity default-on, enforced server-side.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D33818-B0FE-4176-AD84-6832F300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Three services at launch, each with a bounded intake a client can complete alone: testament + mandat (650 $) · procuration (295 $) · refinancement (2 000 $)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31641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D78CBA-E084-4D6C-ACE2-C98D95F4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Built to measure outcomes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2273AE-BF15-4C0F-B787-B81DE418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EBECD"/>
                </a:solidFill>
                <a:latin typeface="Calibri"/>
                <a:ea typeface="Calibri"/>
                <a:cs typeface="Calibri"/>
              </a:rPr>
              <a:t>The product is deployed. This round buys distribution, liquidity and proof.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8354EF-CA12-4E65-A230-12C27BBC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DFE8AE-C55D-42E8-BC15-D0E17F98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Domain core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543DFC-6F62-41CC-9238-627ECD6A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Pure business rules — prices, tiers, cap, validation, dynamic pricing. Zero dependencies. Asserted by tests.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3D302A2-4AC2-4C15-8A3B-2E145E5F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787CEAC-856B-483F-B1F0-56F421EC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API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E7AA8F-A1C6-4674-B95E-99B39494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Lambda + single-table DynamoDB, hexagonal ports/adapters. Server revalidates every offer.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924AD29-5DEF-4E60-8E60-69279655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39A203-2B98-401F-BBC9-F3903F42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Web app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FD95BA-1A41-4D92-AD02-5197B50F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Public carnet, offer flow, dossier intake, Québec map, notary console. Zero runtime dependencies.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86AE8E7-18A8-4E5F-A3CA-70BC601D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157276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5DB71F-F211-40F8-AE9A-CD28A9BF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177393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Payments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7DAEC1-DCEC-44CF-AB9B-957CDF24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212140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Stripe — card authorized at post, captured on completion, connected accounts, reconciliation.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0DD6A2A-3AF8-4E44-A25B-04ADB9FB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A26A4FD-C907-45B7-8722-A9C698C4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Notary side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15A3F10-F8B4-4C6C-8809-C535241F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Auth, sign-up gate, lead-delivery preferences, ICS calendar feed, earnings roll-up.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A59FF98-268E-448F-8121-89450EE8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C38CD2E-A18A-497D-B795-E21A6A82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Ops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3383949-6699-4D7A-94CD-43FF6296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Admin console, transactional email + scheduled reminders, analytics with drift healing.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E6272AE-7AC8-4EC1-906F-A5756DE6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C386C7A-A8AB-4D42-9142-98A5FBA8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Infrastructure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9E1DD4C-C955-4A2A-94C5-AD8194EB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Terraform: S3 + CloudFront OAC + IAM-authed Lambda + DynamoDB, live in ca-central-1. Idle cost ≈ $0.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E472BCA-BF5D-4A26-AC95-79EB77C2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3721608"/>
            <a:ext cx="2670048" cy="1938528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9D89EAF-0DC7-4088-BBFD-1D000FF6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3922776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Quality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A9E3EE9-0B2C-4A58-9093-86C13584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616" y="4270248"/>
            <a:ext cx="2194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1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Unit, jsdom and Cucumber BDD suites. CI on every push. Seven architecture decision records.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5C87D9D-FAE6-45AB-874A-E0B38B7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AEBECD"/>
                </a:solidFill>
                <a:latin typeface="Calibri"/>
                <a:ea typeface="Calibri"/>
                <a:cs typeface="Calibri"/>
              </a:rPr>
              <a:t>Law 25 compliance is designed in, not bolted on: Canadian data residency, anonymity default-on, consent at collection.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657633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61D6B5-CAC7-4693-9834-9756A264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Why this market opens now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310BB4-700B-47C4-A999-8922F02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Law, demand and distribution align around a measurable wedge.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F5381E5-6F10-4435-BBB9-934129ED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5D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F93D9C-D40F-4D44-9B6E-8700E80D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2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3266EF-DCD6-4757-AFD4-5E3C0D6C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62763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Remote acts became law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442A05D-547A-40CB-94E3-B662F116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934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Bill 34 made the acte notarié technologique permanent in October 2023. The rails exist and are sanctioned. We are not betting on legislation.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E2E0771-9B98-4291-927E-4493E276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FA8160E-D936-4F9F-92F9-36263032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17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2F1304-959D-4AF8-9FAC-E5B6EB96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49631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35 years of blind pricing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8ABAC3-2A2F-44A5-A542-41C501F4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47802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Fees free since 1991, no discovery mechanism ever built. The gap does not close on its own.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37D092F-24DD-4DFD-9126-7A79A464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19083D-9EEB-4358-A936-C2318BAD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85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03B4506-D10C-47E4-8D3D-92E5F9C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36499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The renewal wall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DF2A75-3BC1-41C1-8995-57C0E230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34670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~1.2M Canadian fixed-rate mortgages renewing in 2025, driving volume into the highest-value service on the platform.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EB25A60-C0A0-4287-A46A-45FEDA62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7355D02-51A2-449C-8C45-E261B904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853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96EE4E0-B498-4DC0-A337-517FBAE9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23367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The wealth transfer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CA1E036-C3EB-4567-86C1-B42AC6D1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1538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The largest intergenerational transfer in Canadian history, against a population where half have no will.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6A536F9-1CF2-42FF-AB28-62926D30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99BAE7B-9B3C-492F-8A06-4041937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721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E9F007-E36E-4772-8A1F-4F8BCA9E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510235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Access-to-justice pressure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7A0C4F9-C91E-4528-A4E8-5EA036F1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084064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Notary coverage is uneven across the regions — and "distance from an available notary" is a statutorily recognised ground for signing remotely.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136081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2F8BD5-53CB-48A8-B0B8-3A2E1A67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Market ladder — Québec, Canada, global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46A8C5-FEFD-45E4-8A96-00AA9A40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Start in Québec. Earn expansion with measured liquidity.</a:t>
            </a:r>
            <a:endParaRPr sz="1400"/>
          </a:p>
        </p:txBody>
      </p:sp>
      <p:graphicFrame>
        <p:nvGraphicFramePr>
          <p:cNvPr id="21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5943600" cy="3063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b427a0c7584be2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A52EF90-02D9-4BF1-A0FB-9728D7B6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5120640" cy="3063240"/>
          </a:xfrm>
          <a:prstGeom xmlns:a="http://schemas.openxmlformats.org/drawingml/2006/main" prst="roundRect">
            <a:avLst>
              <a:gd name="adj" fmla="val 268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1629913-03DD-4D06-82EE-235EE712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1051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TAM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58B0F2C-D646-446E-BEBC-09B85D72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8216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~$1.1–1.2B</a:t>
            </a:r>
            <a:endParaRPr sz="2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70EC13C-1A79-45E3-A0BB-D4E4736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0552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Annual professional fees billed by ~3,900 Québec notaries.</a:t>
            </a:r>
            <a:endParaRPr sz="11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CFE1508-BB4E-4C4D-A2D8-7B5587E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9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SAM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8A8607D-DBB4-41D2-87E6-F1904B9E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6624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~$245M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50CDDB6-77AD-4CB7-A4ED-F1642CB1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8960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~300,000 acts/year across the three bounded services.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AB47F53-AB8F-4B7E-9A51-DBB691F4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732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SOM (Y3)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420C9B3-F2BD-439F-A044-387675E2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85032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11,000 acts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2AB7356-3BC4-4000-9EB9-1467F3FD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8736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3.7% of SAM volume · $16.0M GMV · $1.6M net revenue.</a:t>
            </a:r>
            <a:endParaRPr sz="11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FE91866-1197-4E98-AF49-93523ECB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32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B85D5E2-96A0-4096-B1C4-01E97776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01091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Canada and the civil-law world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CD12A57-AF7F-49DA-BFE4-DDDC1521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285232"/>
            <a:ext cx="100126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Québec is the wedge: ~$1.1–1.2B in annual notarial fees. Canada adds adjacent provincial markets after local proof. The civil-law notariat spans ~90 jurisdictions — a long-term option, not a Year 1 assumption.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663346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481DCF-836C-49C4-85F7-B2633D79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Business model — and the constraint that shapes it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3C399F-8E4F-4612-BD49-F0B5B01D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Québec's Code de déontologie forbids sharing a notary's professional fee with a non-notaire. That is a design input, not a footnote.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AE32425-DBB0-4696-B47F-2943EA54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0C58A64-87E7-4F73-B177-C39AD9B0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0A45D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145D86-9F34-45E0-8D75-EE712419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92024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COMMISSION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E829C3B-D49A-47B5-9975-4901F834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78978"/>
                </a:solidFill>
                <a:latin typeface="Cambria"/>
                <a:ea typeface="Cambria"/>
                <a:cs typeface="Cambria"/>
              </a:rPr>
              <a:t>Deducted from the notary's fee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E3F06F7-211A-4E98-A64F-7DA6BE7B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E78978"/>
                </a:solidFill>
                <a:latin typeface="Calibri"/>
                <a:ea typeface="Calibri"/>
                <a:cs typeface="Calibri"/>
              </a:rPr>
              <a:t>Client pays 650 $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E78978"/>
                </a:solidFill>
                <a:latin typeface="Calibri"/>
                <a:ea typeface="Calibri"/>
                <a:cs typeface="Calibri"/>
              </a:rPr>
              <a:t>Notary receives 585 $  (90%)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E78978"/>
                </a:solidFill>
                <a:latin typeface="Calibri"/>
                <a:ea typeface="Calibri"/>
                <a:cs typeface="Calibri"/>
              </a:rPr>
              <a:t>Nota keeps 65 $ out of the notary's honoraires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CCB632-5141-44F2-B74E-01F4EC11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Textbook fee-sharing. Exposes every notary on the platform to a disciplinary complaint.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C2E54AB-B354-4E77-92D7-59FB0494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5532120" cy="3108960"/>
          </a:xfrm>
          <a:prstGeom xmlns:a="http://schemas.openxmlformats.org/drawingml/2006/main" prst="roundRect">
            <a:avLst>
              <a:gd name="adj" fmla="val 264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AF85B09-14B8-40BC-ABE3-0E52FB4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2B09DC-38A2-44E5-827D-3E4CDE27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2024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CLIENT-SIDE FEE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62F89B-DB9F-4255-B384-2225331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331720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Charged on top, for Nota's own service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458AFA2-4F43-4B6A-850B-F3A6488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724912"/>
            <a:ext cx="47548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Client pays 650 $ + 65 $ service fee = 715 $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Notary receives 650 $  (100%)</a:t>
            </a:r>
            <a:endParaRPr sz="13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Nota is paid by the client for sourcing, dossier assembly and the transaction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6F3496-0B84-4F2F-ADC3-C5D9BB3B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97764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 b="1">
                <a:solidFill>
                  <a:srgbClr val="78A9BF"/>
                </a:solidFill>
                <a:latin typeface="Calibri"/>
                <a:ea typeface="Calibri"/>
                <a:cs typeface="Calibri"/>
              </a:rPr>
              <a:t>Identical unit economics. No share of any professional fee. Exposure disappears.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FE4CFE9-F477-4AF9-B6D0-9BDD8E79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09728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EC0822-D7EC-45A7-BA8C-7CE0CAD8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100126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D5E1F0"/>
                </a:solidFill>
                <a:latin typeface="Calibri"/>
                <a:ea typeface="Calibri"/>
                <a:cs typeface="Calibri"/>
              </a:rPr>
              <a:t>A US or rest-of-Canada entrant will not know this constraint exists. $20,000 of this round buys a written déontologie opinion and structured engagement with the Chambre before the first live act — which is both the largest risk retired and a genuine competitive asset.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599273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2C11EF8-BA5E-4147-8326-143BBAFA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Phase 1 — prove Québec City liquidity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7FC3D4-23B1-482E-92EC-560358BF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A focused launch turns partner distribution into measurable demand.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7AB7205-8D7B-444B-977F-F8001CD2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3657600" cy="4114800"/>
          </a:xfrm>
          <a:prstGeom xmlns:a="http://schemas.openxmlformats.org/drawingml/2006/main" prst="roundRect">
            <a:avLst>
              <a:gd name="adj" fmla="val 2250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E30013-F3DC-493C-B779-F5E45316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Québec City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4B6BA1B-5E85-436A-9E06-4BE2377A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86000"/>
            <a:ext cx="2926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~850,000 people</a:t>
            </a:r>
            <a:endParaRPr sz="1400"/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~400 notaries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6751813-D1FF-43AC-A438-6C572BC5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29260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Chosen over Montréal on purpose: small enough that a solo founder can meet a material share of local supply in person, dense enough to reach liquidity.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4BA8DAD-4474-4134-8968-B3922311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4340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 i="1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Supply joins free, with no card. The only thing a notary risks by signing up is nothing.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B187C2B-D521-44B4-97A3-D7FE7321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45920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3BB76E-C29E-4957-8CED-73EED8AE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45920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M1–2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659D1E-020A-436D-B56B-CCA9462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645920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Déontologie restructure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0506A1E-51B5-45AA-A4C7-9D908CFD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645920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Client-side fee, billing refactor, written legal opinion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B619802-F624-48EF-B837-75DD3629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645920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78A9BF"/>
                </a:solidFill>
                <a:latin typeface="Calibri"/>
                <a:ea typeface="Calibri"/>
                <a:cs typeface="Calibri"/>
              </a:rPr>
              <a:t>Opinion on file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41E73A5-0158-42EB-BDCD-317E7FB2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70048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5FDF43-F957-4735-9576-69F5A1D3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70048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M1–3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338A9BE-745C-49BD-AC35-197F43BF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70048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Supply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3BAA9A2-8FE3-47EB-86DB-F8EA237A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670048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30 Québec City notaries recruited in person, free to join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1283A38-A144-4BDA-B2C0-39C10671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670048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78A9BF"/>
                </a:solidFill>
                <a:latin typeface="Calibri"/>
                <a:ea typeface="Calibri"/>
                <a:cs typeface="Calibri"/>
              </a:rPr>
              <a:t>25+ notaries live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7420955-33A1-4F19-81D8-657958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4176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05DAE27-B484-40F5-A0F1-E3208C12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694176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M3–6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0BC3F67-A8EB-4A8F-801B-65B33CF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694176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Demand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77DFF98-5AB5-425B-870C-DC72BC1C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94176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Partner referral links, SEO and intent search; rewards follow approved, disclosed terms.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01B0291-A21E-4CC5-9CFC-EB89DD45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3694176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78A9BF"/>
                </a:solidFill>
                <a:latin typeface="Calibri"/>
                <a:ea typeface="Calibri"/>
                <a:cs typeface="Calibri"/>
              </a:rPr>
              <a:t>Fill rate &gt; 45%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AEA2F09-FC4D-4B89-9C67-90F464C0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718304"/>
            <a:ext cx="6885432" cy="932688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01D636D-14E4-4288-8DA9-0B6F7B44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18304"/>
            <a:ext cx="749808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M6–12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164E673-672A-431D-BD7E-F7BE5EDC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718304"/>
            <a:ext cx="16916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Liquidity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7204C2D-289B-4A8F-961D-CC4D06D7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718304"/>
            <a:ext cx="278892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Tighten time-to-retain, publish the urgency curve, extend to Lévis and Saguenay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FDC6276-CDD7-4AC5-A28A-EC3ABF3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4718304"/>
            <a:ext cx="1170432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500"/>
              </a:lnSpc>
              <a:buNone/>
            </a:pPr>
            <a:r>
              <a:rPr sz="1100" b="1">
                <a:solidFill>
                  <a:srgbClr val="78A9BF"/>
                </a:solidFill>
                <a:latin typeface="Calibri"/>
                <a:ea typeface="Calibri"/>
                <a:cs typeface="Calibri"/>
              </a:rPr>
              <a:t>Fill rate &gt; 60%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307B700-A84F-4FCC-B6F2-2EAE73E8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The asset is realised price × days-to-date × act type — evidence for the next market.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96355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B19FBB-1037-4B05-9562-2858A3F8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Phase 2 — monetize capacity with proprietary models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3B62ED-2D03-48A4-848F-B13EB25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EBECD"/>
                </a:solidFill>
                <a:latin typeface="Calibri"/>
                <a:ea typeface="Calibri"/>
                <a:cs typeface="Calibri"/>
              </a:rPr>
              <a:t>More throughput for notaries, more supply for the market and future software revenue for Nota.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E2D4BBD-3A42-426A-BE17-D735F734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F4F6CF-CFD1-4003-9022-37171CE4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AEBECD"/>
                </a:solidFill>
                <a:latin typeface="Calibri"/>
                <a:ea typeface="Calibri"/>
                <a:cs typeface="Calibri"/>
              </a:rPr>
              <a:t>Today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CBA7BD-C913-4CAD-80BB-7FA47EB1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139696"/>
            <a:ext cx="44805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900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A client in Québec City is matched against ~400 notaries.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BA2333B-78DC-4468-8650-C36E1C8F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27632"/>
            <a:ext cx="5349240" cy="196596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6BAA58-6A8C-4967-A2C3-E857F3E3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810512"/>
            <a:ext cx="4480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78A9BF"/>
                </a:solidFill>
                <a:latin typeface="Calibri"/>
                <a:ea typeface="Calibri"/>
                <a:cs typeface="Calibri"/>
              </a:rPr>
              <a:t>With a province-wide network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47C44FC-988D-410C-AB36-CEE6BCC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139696"/>
            <a:ext cx="44805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600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The same client is matched against ~3,900 — and a notary in Rimouski sells an empty Thursday to a client in Gatineau.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0A73CC2-3FDD-440C-8384-CF7FCEE1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108200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4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Automation and compliance boundary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F5E08B5-F310-45A3-AB60-190AA136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095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Target: automate up to 80% of repeatable intake, document checks and dossier assembly. The 80% is a measurable hypothesis by act type; consent, capacity, legality and signing readiness remain with the notary.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97EE178-012F-4888-A88C-3D40A716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636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242A32B-92A1-4F07-A8F3-3394EBF8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321808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Future monetization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77FB3E6-3088-46D1-AC16-D4E1239D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03520"/>
            <a:ext cx="86868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F0DCB8"/>
                </a:solidFill>
                <a:latin typeface="Calibri"/>
                <a:ea typeface="Calibri"/>
                <a:cs typeface="Calibri"/>
              </a:rPr>
              <a:t>Models automate up to 80% of preparation. Notaries serve more demand and earn more. Nota restores capacity without replacing them.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34199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30250A-C4B4-4981-9003-8E1DEB4C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Competition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C9521B-16E3-4210-A911-629D8728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Every participant prices a document. Nota prices a date.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B14F9C-18C3-4B1C-A5CC-2C1B134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72768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Who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B47AA6-F9ED-4D9F-A4CF-0C664B8E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57276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What they do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7A1F90B-04C3-49D3-BC16-9347CE22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72768"/>
            <a:ext cx="38221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2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Where Nota differs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0ABBF52-7B25-4A9C-89C3-C8CA213D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1952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1D6535E-4B0B-43EC-89A5-5F8DEEB1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1952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Notairo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003A01-C2ED-463C-A1B8-07A4A884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01952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Digital preparation of real-estate closings; final signature in person.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D877B1-B556-458F-9F1B-44E41852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901952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Workflow software for one act type. Fixed pricing, no marketplace, no time-based discovery.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5F3F4E0-0059-4ABA-959F-CCEC25E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2927794-B993-4788-BA9F-ECA35776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61488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Nolos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0CA3AE-407F-42E1-A4D0-E9597E0D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761488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Online notarised wills, ~21 service points in Québec.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380B3B0-4722-44F5-B6BD-2E3B7916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761488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A distribution chain with fixed prices — not a market. No notary-side liquidity.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70F78A8-3828-49CE-89CF-3547B7B7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1024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033C91D-2758-48C0-AE9B-0B9624C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21024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Neolegal / ScriptaLegal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3DFA112-0897-4C32-B320-B86EFBA8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Online legal documents with notarial add-ons.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851C735-52EC-45F3-B686-CDC1BF7E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621024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Document-first and price-fixed. They do not sell notary availability.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0CF276F-3375-43F0-8747-4EE9B1E1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D09DD0-D276-4A9D-BF18-F8168047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80560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Traditional practice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F1E3E65-0BB4-4D92-9787-A6609389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480560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Phone, referral, signage.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F0FEEC-6D8A-48D8-AF76-55AF5548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480560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The real competitor. Nota wins by pricing time, which the phone cannot do.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48A2E9A-E38D-4E75-8ABC-A76EBD4F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0096"/>
            <a:ext cx="10820095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EE80AC5-5C67-41C7-8323-B745E779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40096"/>
            <a:ext cx="23774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US remote-notarisation platforms</a:t>
            </a:r>
            <a:endParaRPr sz="12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A3562EE-5BFC-45B8-9791-44E5E261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340096"/>
            <a:ext cx="36576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High-volume RON for common-law notaries public.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5AF84AE-38C2-49BA-8207-AC513C87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5340096"/>
            <a:ext cx="38221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Structurally cannot enter. A Québec notaire is a civil-law public officer, and their commission model is illegal here.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079C755-8E60-4710-B64B-40C1972C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3640"/>
            <a:ext cx="1082009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Defensibility, honestly ranked: the urgency price curve (requires running the market to obtain) · the notary network (slow, in-person) · the déontologie-safe structure with an opinion on file · the art. 46 compliance layer. None are patents. All are years.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20569996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AD01376-678B-4C0A-BE2D-7ADE200D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Financial trajectory — when capital compounds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72BA09-C6EF-4567-BE52-0839A401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The model shows the gates, cost to reach them and sensitivity.</a:t>
            </a:r>
            <a:endParaRPr sz="1400"/>
          </a:p>
        </p:txBody>
      </p:sp>
      <p:graphicFrame>
        <p:nvGraphicFramePr>
          <p:cNvPr id="50" name="Chart 0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6217920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aabbb76fc44089"/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F9B098-6D7C-454B-A962-C5D6C167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62763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 sz="11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A1A0D52-1B06-40DE-B6A0-AFAB6A25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Y1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1DF92CF-CEAF-465C-83C0-2000ABEF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Y2</a:t>
            </a:r>
            <a:endParaRPr sz="11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ED600BD-38B4-4734-A438-76C235B9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162763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Y3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2BE9880-EC5F-4E2D-A999-1EFAE3E8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2996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80AA25C-CFCC-407C-9997-82E9698E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2996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Notaries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9294E81-6018-4095-A6BA-B1B5D843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30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CCD97B6-6062-4BC1-9899-380EA2A1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220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C99A8A1-5BEF-4A59-BBCC-FDE557F4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02996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700</a:t>
            </a:r>
            <a:endParaRPr sz="11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887B7AE-907C-464A-BFE3-9F892587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230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8AF2033-3AFB-44F9-A5F8-907BF3A6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3230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Fill rate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91AA136-5BFF-4E2A-9E10-0270B2EE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56%</a:t>
            </a:r>
            <a:endParaRPr sz="11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5F1C4FD-90E9-4B06-B30D-5C80727C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57%</a:t>
            </a:r>
            <a:endParaRPr sz="11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DA0EE-2D10-4DCD-AE80-FF81582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43230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62%</a:t>
            </a:r>
            <a:endParaRPr sz="11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1D370E5-6D30-42BB-9AC8-F1486229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4640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5D7673A-FB56-4241-AC99-1D9B852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834640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Acts completed</a:t>
            </a:r>
            <a:endParaRPr sz="1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AAE0F19-DE19-4963-89D1-61F43C1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244</a:t>
            </a:r>
            <a:endParaRPr sz="11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34046BF-B726-4EDC-BC78-C46D79B1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2,800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F78E635-B022-4ACB-A58B-A5CE49CD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834640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11,000</a:t>
            </a:r>
            <a:endParaRPr sz="11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25E78DD-69BC-450E-896F-79130709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6976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D582F38E-4D26-4A44-A30C-51DCF56A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236976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GMV</a:t>
            </a:r>
            <a:endParaRPr sz="11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E951E81-BBC8-4E4C-84BF-CE2559BB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$258K</a:t>
            </a:r>
            <a:endParaRPr sz="11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1F6217D-7D95-441B-9C0F-F0610C59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$3.22M</a:t>
            </a:r>
            <a:endParaRPr sz="11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6549DE2-98F3-448D-B76E-B6A85276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236976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$15.95M</a:t>
            </a:r>
            <a:endParaRPr sz="11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9DF0CF7-8572-4A0F-A021-71CEA3EF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9312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E916183-73C0-46A9-8F80-D67ABD22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639312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Net revenue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DBED785-E813-40AE-9DDC-D2C4D880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$25.8K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C8D9D72-A65E-40AB-8CD6-533A273F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$322K</a:t>
            </a:r>
            <a:endParaRPr sz="115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046266F-9661-4C37-A2E1-9D692FBC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3639312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$1.60M</a:t>
            </a:r>
            <a:endParaRPr sz="11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2C78398-D89C-44D0-9819-2AAEEAB2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41648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99C80C6-1064-4E8A-8ED3-907F1BDE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041648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Gross margin</a:t>
            </a:r>
            <a:endParaRPr sz="11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FC81139-B1C7-4F0C-83B0-4DA5C6B4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89%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F19E4C5C-F221-44F9-9633-B272913A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90%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B0E7057D-2112-4A27-BA1C-1479E2FA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041648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91%</a:t>
            </a:r>
            <a:endParaRPr sz="115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3FBEADA0-C50C-43A1-9924-95C94812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3984"/>
            <a:ext cx="4416552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EAFB8944-EBDC-4BD6-8123-783A1DD5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43984"/>
            <a:ext cx="1600200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Net income</a:t>
            </a:r>
            <a:endParaRPr sz="115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8A6801E8-A81B-4FD5-96CE-8CB94703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($227K)</a:t>
            </a:r>
            <a:endParaRPr sz="11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CECBC0C4-CE47-44A5-A60F-84B6D962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($430K)</a:t>
            </a:r>
            <a:endParaRPr sz="115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3A3CB845-0667-496E-8220-3398D0F9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443984"/>
            <a:ext cx="804672" cy="3977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($391K)</a:t>
            </a:r>
            <a:endParaRPr sz="1150"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592747A1-EDF8-41E1-92EE-35657501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3480"/>
            <a:ext cx="10820095" cy="141732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8FDB16D2-B2B2-4E3D-AA1A-AD6DFEE6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38928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2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Unit economics</a:t>
            </a:r>
            <a:endParaRPr sz="11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03C90BE5-B564-4BCD-AA90-D62C1D1C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413248"/>
            <a:ext cx="10012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Gross profit per act rises $94 → $133 as the act catalogue widens. Client CAC falls $164 → $40 as carnet SEO and zero-CAC referral channels compound, turning a ($70) Y1 contribution into +$93 by Y3. On the supply side, a notary costs ~$500 to recruit and returns ~$2,071 a year — LTV/CAC ≈ 12×, payback inside five acts. Cumulative capital to Y3: ~$1.05M.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358120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3088282-C2EA-448F-A5A9-5811D070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Use of funds — 12-month proof plan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0B170B-5338-407A-A2CE-EE9A21F5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Every dollar maps to a distribution, liquidity or compliance milestone.</a:t>
            </a:r>
            <a:endParaRPr sz="1400"/>
          </a:p>
        </p:txBody>
      </p:sp>
      <p:graphicFrame>
        <p:nvGraphicFramePr>
          <p:cNvPr id="41" name="Chart 0"/>
          <p:cNvGraphicFramePr/>
          <p:nvPr/>
        </p:nvGraphicFramePr>
        <p:xfrm>
          <a:off xmlns:a="http://schemas.openxmlformats.org/drawingml/2006/main" x="548640" y="1554480"/>
          <a:ext xmlns:a="http://schemas.openxmlformats.org/drawingml/2006/main" cx="5394960" cy="39319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494ff9ca044e81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C6D25CC-9FE7-45EB-832A-27F291D5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691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86729A8-584F-4BD4-8BC7-86DABA39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691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Founder salary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4F926E7-D3DF-47E8-AEC0-B81C4D3C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$96,000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73A82C4-9DA5-40DA-B7AA-DEA16703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691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8,000/mo. Below market — this round buys focus.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5330F81-E521-4BE3-BBD6-B3573F86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EE2E86-19AB-4BF4-88F8-44E37B0E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148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Client acquisition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42C01B2-E541-4D4F-A2EB-E01EBC47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148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$40,000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26D8736-EF6E-4BD5-9CFF-1FBEE201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148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Paid search, content, partnership build-out.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F4D4897-1290-4C9A-A629-CAA3DAA8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06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910F206-0566-4C49-A31D-D5C2881F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606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Notary advisor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CBEB39C-FFDB-4F7A-A0A5-34C31008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606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9AD6CCB-FB02-4B37-A177-668E3D1D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606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Part-time practising notary. Credibility and correctness.</a:t>
            </a:r>
            <a:endParaRPr sz="10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297B238-950F-4E8F-848F-78AE8EE8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632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5761921-5C1B-4F24-962F-B2B30820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0632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Design contract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646B0BA-9A28-46E8-ADFB-708D6053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0632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$25,000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7309A06-5FAD-44C9-BAA0-90A5F1E5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0632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~3 months part-time front-end.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A780E90-6425-4EDD-8ACA-7F489328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204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F524E62-5917-4EB9-90CC-90A39B4C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5204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Legal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7BF376F-803E-4C36-AC62-9C043986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5204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$20,000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D1FF115-C2F4-4DA5-A08D-098208BE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5204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Déontologie opinion, Chambre, incorporation, Law 25.</a:t>
            </a:r>
            <a:endParaRPr sz="10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E3A4436-194E-450B-A7FD-8D83E7FE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776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D4F396E-BE0B-420A-8215-DEE057B7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9776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Contingency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2677DA4-A83C-43E2-A5B8-F07A67E3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776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$17,000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CB1DED3-D1F4-48E2-9345-5B895209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9776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~7%.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F4562F5-7205-4EB0-A719-C0FA87A3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4348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CD2565D-ABD3-4FD2-8050-FAB14CAE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4348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Notary acquisition</a:t>
            </a:r>
            <a:endParaRPr sz="12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E3486DE-1DC9-4507-A071-577222E6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348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$15,000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2E1ED12-2CF9-4E82-840F-F28AA0DB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4348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Field sales, congrès, travel.</a:t>
            </a:r>
            <a:endParaRPr sz="10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6189500E-B6A9-49A5-9539-3745F068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92040"/>
            <a:ext cx="537667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A08A8F3-1E33-41F9-8FB1-4CEF2754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4892040"/>
            <a:ext cx="1783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Infra &amp; tooling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569C515F-9EA8-461C-B6AA-0687BD37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92040"/>
            <a:ext cx="914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$12,000</a:t>
            </a:r>
            <a:endParaRPr sz="12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611CBB79-A3C3-4CE3-BC2C-8DB489F5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48920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Serverless keeps this small.</a:t>
            </a:r>
            <a:endParaRPr sz="10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6C201425-C09F-4B0D-8205-450FFF34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486400"/>
            <a:ext cx="53766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 i="1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Non-dilutive stacking: refundable SR&amp;ED and Québec R&amp;D wage credits are modelled at zero and treated as runway extension (~2–3 months), not budgeted revenue.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46280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304B0E-625D-41B4-B85B-459ADB3D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"/>
            <a:ext cx="10820095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Investor milestones and gates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7909F7-BDB8-4265-889F-D996056E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416"/>
            <a:ext cx="10820095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Capital unlocks the next proof point only when the previous one clears.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46A0766-B712-4F3F-BBD5-EFC41B12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1640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2744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E66889E-CDFA-4395-AD6A-56DCC5F2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45D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D71DD4-2E59-4CD6-8B94-F6DA7540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122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29726B-240A-4C1E-9F86-F08D4CA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874520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Year 1 · prove Québec City liquidity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D66F98F-7A77-41DA-90CB-0D858F0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74520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30 notaries, 244 completed acts and fill rate above 60% by month 12.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2FD3BFD-01F7-4C76-8F88-F4BDEB26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A45D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7FA2C45-3089-45EA-A275-6DF4C8C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121408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Month 12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2066E36-CEF8-4F98-9329-2020FB28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1528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A58991C-BB73-4072-8037-B429FE90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ABF53F2-AC36-443A-890D-5808046B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5021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2405FA0-66D0-4FC8-AB5E-E35E78C2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264408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Year 2 · expand Québec coverage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5C35387-C88C-45D0-B8BB-2C3A583C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220 notaries, 2,800 acts and repeatable partner-led acquisition.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FC59323-CAA0-47AF-9287-EC6D955C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C9CBCC6-A6D7-4D1F-BF66-5D980BC4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3511296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Month 24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33EBACE-834F-43A2-88DC-7D59DAC9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1416"/>
            <a:ext cx="10820095" cy="12344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12700">
            <a:solidFill>
              <a:srgbClr val="406481"/>
            </a:solidFill>
            <a:prstDash val="solid"/>
          </a:ln>
          <a:effectLst xmlns:a="http://schemas.openxmlformats.org/drawingml/2006/main">
            <a:outerShdw blurRad="177800" dist="25400" dir="5400000" sx="100000" sy="100000" kx="0" ky="0" algn="bl" rotWithShape="0">
              <a:srgbClr val="1D4772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797E6A4-3895-49CF-90FB-1048AE4F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C4D1749-E45D-454D-ADC0-8AA06B26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920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64ADEAF-7A8F-4B65-AECE-5B0711E4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654296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300"/>
              </a:lnSpc>
              <a:buNone/>
            </a:pPr>
            <a:r>
              <a:rPr sz="1700" b="1">
                <a:solidFill>
                  <a:srgbClr val="DDEAF2"/>
                </a:solidFill>
                <a:latin typeface="Cambria"/>
                <a:ea typeface="Cambria"/>
                <a:cs typeface="Cambria"/>
              </a:rPr>
              <a:t>Year 3 · scale the network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5B72F6E-D456-4FB6-9F60-877F7FFE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654296"/>
            <a:ext cx="3703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DDEAF2"/>
                </a:solidFill>
                <a:latin typeface="Calibri"/>
                <a:ea typeface="Calibri"/>
                <a:cs typeface="Calibri"/>
              </a:rPr>
              <a:t>700 notaries, 11,000 acts and a Canada expansion decision after measured unit contribution.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46C07A9-435B-416C-A665-767E0220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86888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409A091-2AD4-4366-9092-20E3FC76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901184"/>
            <a:ext cx="1188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4F6F8"/>
                </a:solidFill>
                <a:latin typeface="Calibri"/>
                <a:ea typeface="Calibri"/>
                <a:cs typeface="Calibri"/>
              </a:rPr>
              <a:t>Month 36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655A550-29A1-483C-ADD5-BDD3D2E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0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Investor outcome: each gate produces evidence for the next financing decision; no fixed return is promised before terms, performance and liquidity are established.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024071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7191D0-5C9F-455E-B5FA-9AAFC7C1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09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The ask — capital to clear the gates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47D0E0B-5267-4C25-B5FE-27C7F632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0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0A45D"/>
                </a:solidFill>
                <a:latin typeface="Calibri"/>
                <a:ea typeface="Calibri"/>
                <a:cs typeface="Calibri"/>
              </a:rPr>
              <a:t>$250,000 CAD pre-seed · 12 months · SAFE or convertible note with an angel lead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D01CE18-CC51-49E7-9BC4-1E35986C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DC82EA-9D5E-41E3-98E3-6F51DAFA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Legal footing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FFFABA-CF78-4C24-AD32-86A6F2C8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A déontologie-clean structure with a written opinion on file — the largest risk in the business, retired first.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DCBBE73-0C75-47D0-942E-FDF3353D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6596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4CBF189-6CCC-4616-9BD8-F7A639DB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3055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A working market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A960E3-EAD8-45C4-859B-63950A93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5059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30 notaries and functioning two-sided liquidity in Québec City.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E3E21CC-830C-4C39-9ABA-ABD7C0C8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2A5704-5845-483B-841A-EB76A90E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Proprietary data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E714934-E825-4E94-8864-10FC676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244 completed acts and the first urgency price curve for the Québec notarial market. It does not otherwise exist.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6292E64-6E2A-497B-B694-467AC378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83280"/>
            <a:ext cx="5394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739C8D0-4A86-4B33-A545-CDC29E9F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4787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0A45D"/>
                </a:solidFill>
                <a:latin typeface="Cambria"/>
                <a:ea typeface="Cambria"/>
                <a:cs typeface="Cambria"/>
              </a:rPr>
              <a:t>Phase 2 in reach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9B830B-E5C8-41DA-8E62-18317A55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67912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C6D5E8"/>
                </a:solidFill>
                <a:latin typeface="Calibri"/>
                <a:ea typeface="Calibri"/>
                <a:cs typeface="Calibri"/>
              </a:rPr>
              <a:t>The repeatable preparation layer is tested per act type, with notary judgment preserved.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5FF9B29-6141-40CD-9407-97AF2E3D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6048"/>
            <a:ext cx="23774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5D"/>
          </a:solidFill>
          <a:ln xmlns:a="http://schemas.openxmlformats.org/drawingml/2006/main" w="12700">
            <a:solidFill>
              <a:srgbClr val="23476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FD5FC81-B1CB-49F4-B2EF-6439E287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928"/>
            <a:ext cx="85953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Capital is released against measured milestones.</a:t>
            </a:r>
            <a:endParaRPr sz="2100"/>
          </a:p>
          <a:p xmlns:a="http://schemas.openxmlformats.org/drawingml/2006/main">
            <a:pPr marL="0" indent="0">
              <a:lnSpc>
                <a:spcPts val="3000"/>
              </a:lnSpc>
              <a:buNone/>
            </a:pPr>
            <a:r>
              <a:rPr sz="2100">
                <a:solidFill>
                  <a:srgbClr val="F4F6F8"/>
                </a:solidFill>
                <a:latin typeface="Cambria"/>
                <a:ea typeface="Cambria"/>
                <a:cs typeface="Cambria"/>
              </a:rPr>
              <a:t>Investor outcome depends on milestone delivery and the financing terms. Upside is realized at a future priced round, strategic sale or distribution event; no fixed return is promised.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B58B94F-8C81-4F65-8E0D-C9FE5109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5212080"/>
            <a:ext cx="2377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AEBECD"/>
                </a:solidFill>
                <a:latin typeface="Calibri"/>
                <a:ea typeface="Calibri"/>
                <a:cs typeface="Calibri"/>
              </a:rPr>
              <a:t>Nota</a:t>
            </a:r>
            <a:endParaRPr sz="1200"/>
          </a:p>
          <a:p xmlns:a="http://schemas.openxmlformats.org/drawingml/2006/main">
            <a:pPr marL="0" indent="0" algn="r">
              <a:lnSpc>
                <a:spcPts val="1800"/>
              </a:lnSpc>
              <a:buNone/>
            </a:pPr>
            <a:r>
              <a:rPr sz="1200">
                <a:solidFill>
                  <a:srgbClr val="AEBECD"/>
                </a:solidFill>
                <a:latin typeface="Calibri"/>
                <a:ea typeface="Calibri"/>
                <a:cs typeface="Calibri"/>
              </a:rPr>
              <a:t>info@gonota.ca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327856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2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9A4E6-15C5-415D-82AF-B90B32A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DEAF2"/>
                </a:solidFill>
                <a:latin typeface="Arial"/>
                <a:ea typeface="Arial"/>
                <a:cs typeface="Arial"/>
              </a:rPr>
              <a:t>Legal framework for notaries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86F09-23E4-4BA8-AD87-B68750D2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DEAF2"/>
                </a:solidFill>
                <a:latin typeface="Arial"/>
                <a:ea typeface="Arial"/>
                <a:cs typeface="Arial"/>
              </a:rPr>
              <a:t>Québec law and professional rules are launch gates for every supported 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1F15A-ED31-4B3D-A11F-48FB1B09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2197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22744"/>
          </a:solidFill>
          <a:ln xmlns:a="http://schemas.openxmlformats.org/drawingml/2006/main" w="9525">
            <a:solidFill>
              <a:srgbClr val="40648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5F786-A22C-462C-A3B1-E557C79E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2197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C3856"/>
          </a:solidFill>
          <a:ln xmlns:a="http://schemas.openxmlformats.org/drawingml/2006/main" w="9525">
            <a:solidFill>
              <a:srgbClr val="40648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9878B-034D-4404-AD0F-8B3C9EF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DEAF2"/>
                </a:solidFill>
                <a:latin typeface="Arial"/>
                <a:ea typeface="Arial"/>
                <a:cs typeface="Arial"/>
              </a:rPr>
              <a:t>WHAT NOTA RESPECTS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470AF-4D71-40E3-B9D5-20BFA737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5148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DEAF2"/>
                </a:solidFill>
                <a:latin typeface="Arial"/>
                <a:ea typeface="Arial"/>
                <a:cs typeface="Arial"/>
              </a:rPr>
              <a:t>• Chambre des notaires du Québec and the Code of Professional Conduct</a:t>
            </a:r>
          </a:p>
          <a:p xmlns:a="http://schemas.openxmlformats.org/drawingml/2006/main">
            <a:pPr>
              <a:buNone/>
              <a:defRPr sz="135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DEAF2"/>
                </a:solidFill>
                <a:latin typeface="Arial"/>
                <a:ea typeface="Arial"/>
                <a:cs typeface="Arial"/>
              </a:rPr>
              <a:t>• The notary's independent judgment and professional fee setting</a:t>
            </a:r>
          </a:p>
          <a:p xmlns:a="http://schemas.openxmlformats.org/drawingml/2006/main">
            <a:pPr>
              <a:buNone/>
              <a:defRPr sz="135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DEAF2"/>
                </a:solidFill>
                <a:latin typeface="Arial"/>
                <a:ea typeface="Arial"/>
                <a:cs typeface="Arial"/>
              </a:rPr>
              <a:t>• Applicable Québec statutes, regulations, standards and current jurisprudence</a:t>
            </a:r>
          </a:p>
          <a:p xmlns:a="http://schemas.openxmlformats.org/drawingml/2006/main">
            <a:pPr>
              <a:buNone/>
              <a:defRPr sz="135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DEAF2"/>
                </a:solidFill>
                <a:latin typeface="Arial"/>
                <a:ea typeface="Arial"/>
                <a:cs typeface="Arial"/>
              </a:rPr>
              <a:t>• Privacy, identity and record keeping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698B6-E9E8-4829-9861-F293C0E9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43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8A9BF"/>
                </a:solidFill>
                <a:latin typeface="Arial"/>
                <a:ea typeface="Arial"/>
                <a:cs typeface="Arial"/>
              </a:rPr>
              <a:t>WHAT NOTA WILL NEVER 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82625-9E53-418E-8A4F-CFC2559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5148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78A9BF"/>
                </a:solidFill>
                <a:latin typeface="Arial"/>
                <a:ea typeface="Arial"/>
                <a:cs typeface="Arial"/>
              </a:rPr>
              <a:t>• Practise law or replace the notary</a:t>
            </a:r>
          </a:p>
          <a:p xmlns:a="http://schemas.openxmlformats.org/drawingml/2006/main">
            <a:pPr>
              <a:buNone/>
              <a:defRPr sz="1350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78A9BF"/>
                </a:solidFill>
                <a:latin typeface="Arial"/>
                <a:ea typeface="Arial"/>
                <a:cs typeface="Arial"/>
              </a:rPr>
              <a:t>• Set, receive or share a notary's professional fee</a:t>
            </a:r>
          </a:p>
          <a:p xmlns:a="http://schemas.openxmlformats.org/drawingml/2006/main">
            <a:pPr>
              <a:buNone/>
              <a:defRPr sz="1350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78A9BF"/>
                </a:solidFill>
                <a:latin typeface="Arial"/>
                <a:ea typeface="Arial"/>
                <a:cs typeface="Arial"/>
              </a:rPr>
              <a:t>• Decide capacity, consent, legality or signing readiness automatically</a:t>
            </a:r>
          </a:p>
          <a:p xmlns:a="http://schemas.openxmlformats.org/drawingml/2006/main">
            <a:pPr>
              <a:buNone/>
              <a:defRPr sz="1350">
                <a:solidFill>
                  <a:srgbClr val="78A9B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78A9BF"/>
                </a:solidFill>
                <a:latin typeface="Arial"/>
                <a:ea typeface="Arial"/>
                <a:cs typeface="Arial"/>
              </a:rPr>
              <a:t>• Launch a service before Québec counsel and practising-notary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5AEA5-A633-422F-92C5-21589C44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4772"/>
          </a:solidFill>
          <a:ln xmlns:a="http://schemas.openxmlformats.org/drawingml/2006/main" w="9525">
            <a:solidFill>
              <a:srgbClr val="23476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03AED-8278-415C-9670-7B3AC7AA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0A45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A45D"/>
                </a:solidFill>
                <a:latin typeface="Arial"/>
                <a:ea typeface="Arial"/>
                <a:cs typeface="Arial"/>
              </a:rPr>
              <a:t>OPERATIONAL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A732F-6874-4C07-A762-79B1ABB2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4F6F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6F8"/>
                </a:solidFill>
                <a:latin typeface="Arial"/>
                <a:ea typeface="Arial"/>
                <a:cs typeface="Arial"/>
              </a:rPr>
              <a:t>Each supported service requires written Québec legal, tax and professional review, approved contracts, and a notary-owned decision record before paid launch.</a:t>
            </a:r>
          </a:p>
        </p:txBody>
      </p:sp>
    </p:spTree>
    <p:extLst>
      <p:ext uri="{BB962C8B-B14F-4D97-AF65-F5344CB8AC3E}">
        <p14:creationId xmlns:p14="http://schemas.microsoft.com/office/powerpoint/2010/main" val="18608167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22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829834-EB80-4C0A-9735-34A05AAB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F0A45D"/>
                </a:solidFill>
              </a:defRPr>
            </a:pPr>
            <a:r>
              <a:rPr sz="975" b="1" spc="2">
                <a:solidFill>
                  <a:srgbClr val="F0A45D"/>
                </a:solidFill>
              </a:rPr>
              <a:t>TRUST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3177E-7E05-4FFA-82B9-AF182E66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A"/>
                </a:solidFill>
              </a:defRPr>
            </a:pPr>
            <a:r>
              <a:rPr sz="2850" b="1">
                <a:solidFill>
                  <a:srgbClr val="F4F7FA"/>
                </a:solidFill>
              </a:rPr>
              <a:t>A learning loop with the notary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7C3B8-DD12-4606-B6ED-32D00F74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7C8D8"/>
                </a:solidFill>
              </a:defRPr>
            </a:pPr>
            <a:r>
              <a:rPr sz="1350">
                <a:solidFill>
                  <a:srgbClr val="B7C8D8"/>
                </a:solidFill>
              </a:rPr>
              <a:t>Usage signals improve guidance. Notary review qualifies model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AAA4A-C3A6-4D20-B1A5-AE0EE9F0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8D8"/>
                </a:solidFill>
              </a:defRPr>
            </a:pPr>
            <a:r>
              <a:rPr sz="975" b="1">
                <a:solidFill>
                  <a:srgbClr val="B7C8D8"/>
                </a:solidFill>
              </a:rPr>
              <a:t>Nota · capacity, clarity,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1CB09-971F-454D-885B-FC64D621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3B60"/>
          </a:solidFill>
          <a:ln xmlns:a="http://schemas.openxmlformats.org/drawingml/2006/main" w="19050">
            <a:solidFill>
              <a:srgbClr val="84B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2BE8E-0F2B-47DB-B4BC-B7B0DF2B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4B8CC"/>
                </a:solidFill>
              </a:defRPr>
            </a:pPr>
            <a:r>
              <a:rPr sz="1200" b="1">
                <a:solidFill>
                  <a:srgbClr val="84B8CC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A37BD-2BBB-4F59-B21D-79FA2B11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4EC"/>
                </a:solidFill>
              </a:defRPr>
            </a:pPr>
            <a:r>
              <a:rPr sz="1050">
                <a:solidFill>
                  <a:srgbClr val="D9E4EC"/>
                </a:solidFill>
              </a:rPr>
              <a:t>Questions and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FD2AB-F8C1-4C73-98DE-1C473495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3B60"/>
          </a:solidFill>
          <a:ln xmlns:a="http://schemas.openxmlformats.org/drawingml/2006/main" w="19050">
            <a:solidFill>
              <a:srgbClr val="F0A4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2DDBC-E6D6-4078-9AF5-F1A5E2E2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A45D"/>
                </a:solidFill>
              </a:defRPr>
            </a:pPr>
            <a:r>
              <a:rPr sz="1200" b="1">
                <a:solidFill>
                  <a:srgbClr val="F0A45D"/>
                </a:solidFill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D078A-1D4F-41C0-B191-1658CAC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908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4EC"/>
                </a:solidFill>
              </a:defRPr>
            </a:pPr>
            <a:r>
              <a:rPr sz="1050">
                <a:solidFill>
                  <a:srgbClr val="D9E4EC"/>
                </a:solidFill>
              </a:rPr>
              <a:t>Simple act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A4226-F53C-4ADD-A8FE-24B1544E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3B60"/>
          </a:solidFill>
          <a:ln xmlns:a="http://schemas.openxmlformats.org/drawingml/2006/main" w="19050">
            <a:solidFill>
              <a:srgbClr val="83C9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D12F6-B7B2-4BC7-A0B1-237C6F31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3C9B5"/>
                </a:solidFill>
              </a:defRPr>
            </a:pPr>
            <a:r>
              <a:rPr sz="1200" b="1">
                <a:solidFill>
                  <a:srgbClr val="83C9B5"/>
                </a:solidFill>
              </a:rPr>
              <a:t>NOTARY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8FF85-0992-4C5C-B4E4-C9922988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4EC"/>
                </a:solidFill>
              </a:defRPr>
            </a:pPr>
            <a:r>
              <a:rPr sz="1050">
                <a:solidFill>
                  <a:srgbClr val="D9E4EC"/>
                </a:solidFill>
              </a:rPr>
              <a:t>Accept · correct · reject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D8E96-2A9E-4012-A537-59E3B696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3B60"/>
          </a:solidFill>
          <a:ln xmlns:a="http://schemas.openxmlformats.org/drawingml/2006/main" w="19050">
            <a:solidFill>
              <a:srgbClr val="84B8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22370-A5AE-490A-B5EF-26862A38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4B8CC"/>
                </a:solidFill>
              </a:defRPr>
            </a:pPr>
            <a:r>
              <a:rPr sz="1200" b="1">
                <a:solidFill>
                  <a:srgbClr val="84B8CC"/>
                </a:solidFill>
              </a:rPr>
              <a:t>NEXT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7A966-BD9A-4B99-8932-DFEAA689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9087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4EC"/>
                </a:solidFill>
              </a:defRPr>
            </a:pPr>
            <a:r>
              <a:rPr sz="1050">
                <a:solidFill>
                  <a:srgbClr val="D9E4EC"/>
                </a:solidFill>
              </a:rPr>
              <a:t>Held-out test ·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3D020-ACB2-4C7A-AAE5-747C25EB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A45D"/>
                </a:solidFill>
              </a:defRPr>
            </a:pPr>
            <a:r>
              <a:rPr sz="2100" b="1">
                <a:solidFill>
                  <a:srgbClr val="F0A45D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43428-551D-449B-B262-CE803D58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A45D"/>
                </a:solidFill>
              </a:defRPr>
            </a:pPr>
            <a:r>
              <a:rPr sz="2100" b="1">
                <a:solidFill>
                  <a:srgbClr val="F0A45D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C14F7-543C-48F3-AD26-8DB8D0D5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0A45D"/>
                </a:solidFill>
              </a:defRPr>
            </a:pPr>
            <a:r>
              <a:rPr sz="2100" b="1">
                <a:solidFill>
                  <a:srgbClr val="F0A45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F37AA-F236-4CD2-9DC9-8F1A1704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spc="1">
                <a:solidFill>
                  <a:srgbClr val="84B8CC"/>
                </a:solidFill>
              </a:defRPr>
            </a:pPr>
            <a:r>
              <a:rPr sz="1125" b="1" spc="1">
                <a:solidFill>
                  <a:srgbClr val="84B8CC"/>
                </a:solidFill>
              </a:rPr>
              <a:t>Offline qualification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70433-D0A9-4F83-8BFD-4699C305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9E4EC"/>
                </a:solidFill>
              </a:defRPr>
            </a:pPr>
            <a:r>
              <a:rPr sz="1275">
                <a:solidFill>
                  <a:srgbClr val="D9E4EC"/>
                </a:solidFill>
              </a:rPr>
              <a:t>The user experience improves from aggregated signals. Legal facts and professional conclusions stay with the notary.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AA3B7-051F-4E5A-B203-58C5DAE7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514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14D78"/>
          </a:solidFill>
          <a:ln xmlns:a="http://schemas.openxmlformats.org/drawingml/2006/main" w="9525">
            <a:solidFill>
              <a:srgbClr val="F0A4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3EE49-4916-4F15-9DEC-B11542F2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00700"/>
            <a:ext cx="514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14D78"/>
          </a:solidFill>
          <a:ln xmlns:a="http://schemas.openxmlformats.org/drawingml/2006/main" w="9525">
            <a:solidFill>
              <a:srgbClr val="84B8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BAF085-95BD-4262-8508-0FF528F3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A45D"/>
                </a:solidFill>
              </a:defRPr>
            </a:pPr>
            <a:r>
              <a:rPr sz="900" b="1">
                <a:solidFill>
                  <a:srgbClr val="F0A45D"/>
                </a:solidFill>
              </a:rPr>
              <a:t>CONTRIBUTE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B7A07-CEFC-466F-9E97-D139271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4F7FA"/>
                </a:solidFill>
              </a:defRPr>
            </a:pPr>
            <a:r>
              <a:rPr sz="975">
                <a:solidFill>
                  <a:srgbClr val="F4F7FA"/>
                </a:solidFill>
              </a:rPr>
              <a:t>Structured feedback may qualify for potential equity under a separate agreement.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754FC4-D190-4C37-9E94-C630645A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34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4B8CC"/>
                </a:solidFill>
              </a:defRPr>
            </a:pPr>
            <a:r>
              <a:rPr sz="900" b="1">
                <a:solidFill>
                  <a:srgbClr val="84B8CC"/>
                </a:solidFill>
              </a:rPr>
              <a:t>SUBSCRIBE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E227A-9E21-437A-8C44-44284E63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245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4F7FA"/>
                </a:solidFill>
              </a:defRPr>
            </a:pPr>
            <a:r>
              <a:rPr sz="975">
                <a:solidFill>
                  <a:srgbClr val="F4F7FA"/>
                </a:solidFill>
              </a:rPr>
              <a:t>Monthly software access remains available without direct feedback contribution.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62F60A-3F57-4F94-92D1-A73C2F0C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0A45D"/>
                </a:solidFill>
              </a:defRPr>
            </a:pPr>
            <a:r>
              <a:rPr sz="900" b="1">
                <a:solidFill>
                  <a:srgbClr val="F0A45D"/>
                </a:solidFill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7292164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2026-09-10T05:36:04.6970000Z</dcterms:created>
  <dcterms:modified xsi:type="dcterms:W3CDTF">2026-09-10T05:36:04.6970000Z</dcterms:modified>
</coreProperties>
</file>