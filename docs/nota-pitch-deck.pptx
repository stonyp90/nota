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33F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0233F"/>
                </a:solidFill>
                <a:latin typeface="Cambria"/>
              </a:rPr>
              <a:t>SAM — the three bounded services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>
              <a:srgbClr val="1B3A63"/>
            </a:solidFill>
            <a:effectLst/>
          </c:spPr>
          <c:invertIfNegative val="0"/>
          <c:dLbls>
            <c:numFmt formatCode="$#,##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3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Wills + mandates
~200,000 acts</c:v>
                  </c:pt>
                  <c:pt idx="1">
                    <c:v>Refinancing
~50,000 acts</c:v>
                  </c:pt>
                  <c:pt idx="2">
                    <c:v>Procurations
~50,000 acts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023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3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33F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0233F"/>
                </a:solidFill>
                <a:latin typeface="Cambria"/>
              </a:rPr>
              <a:t>GMV and net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>
              <a:srgbClr val="DDE5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 2026-27</c:v>
                  </c:pt>
                  <c:pt idx="1">
                    <c:v>Y2 2027-28</c:v>
                  </c:pt>
                  <c:pt idx="2">
                    <c:v>Y3 2028-29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>
              <a:srgbClr val="E5A13A"/>
            </a:solidFill>
            <a:ln w="50800" cap="flat">
              <a:solidFill>
                <a:srgbClr val="E5A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E5A13A"/>
              </a:solidFill>
              <a:ln w="9525" cap="flat">
                <a:solidFill>
                  <a:srgbClr val="E5A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Y1 2026-27</c:v>
                  </c:pt>
                  <c:pt idx="1">
                    <c:v>Y2 2027-28</c:v>
                  </c:pt>
                  <c:pt idx="2">
                    <c:v>Y3 2028-29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3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GMV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4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Net revenue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7A17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36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233F"/>
              </a:solidFill>
              <a:effectLst/>
            </c:spPr>
          </c:dPt>
          <c:dPt>
            <c:idx val="1"/>
            <c:bubble3D val="0"/>
            <c:spPr>
              <a:solidFill>
                <a:srgbClr val="E5A13A"/>
              </a:solidFill>
              <a:effectLst/>
            </c:spPr>
          </c:dPt>
          <c:dPt>
            <c:idx val="2"/>
            <c:bubble3D val="0"/>
            <c:spPr>
              <a:solidFill>
                <a:srgbClr val="1B3A63"/>
              </a:solidFill>
              <a:effectLst/>
            </c:spPr>
          </c:dPt>
          <c:dPt>
            <c:idx val="3"/>
            <c:bubble3D val="0"/>
            <c:spPr>
              <a:solidFill>
                <a:srgbClr val="4E6E96"/>
              </a:solidFill>
              <a:effectLst/>
            </c:spPr>
          </c:dPt>
          <c:dPt>
            <c:idx val="4"/>
            <c:bubble3D val="0"/>
            <c:spPr>
              <a:solidFill>
                <a:srgbClr val="2E7D6B"/>
              </a:solidFill>
              <a:effectLst/>
            </c:spPr>
          </c:dPt>
          <c:dPt>
            <c:idx val="5"/>
            <c:bubble3D val="0"/>
            <c:spPr>
              <a:solidFill>
                <a:srgbClr val="9AAABF"/>
              </a:solidFill>
              <a:effectLst/>
            </c:spPr>
          </c:dPt>
          <c:dPt>
            <c:idx val="6"/>
            <c:bubble3D val="0"/>
            <c:spPr>
              <a:solidFill>
                <a:srgbClr val="B87A17"/>
              </a:solidFill>
              <a:effectLst/>
            </c:spPr>
          </c:dPt>
          <c:dPt>
            <c:idx val="7"/>
            <c:bubble3D val="0"/>
            <c:spPr>
              <a:solidFill>
                <a:srgbClr val="C3CED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36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Québec deregulated notary fees in 1991 and never built a market. The product is already built and deployed. This round funds finding out whether it clears.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insight: deregulation without a market. Fees are legally free but structurally blind.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two-sided failure. The punchline is the last line: nobody sells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is derived from days-to-date. Floors and the 10x cap live in the domain package and are asserted by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pre-seed money funds the possibility that a team can build the thing. Here the thing is built. The money buys 12 months of undivided attention on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Bill 34 point is the most important: the legal rails already exist, which removes years and hundreds of thousands from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CNQ Registre des dispositions testamentaires (215,576 registrations 2017-18), CMHC renewal data, APCIQ 90,369 residential sales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this in the room. The current code implements the commission model and flags itself. Fixing it before launch is milestone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metric governs Phase 1: fill rate. Below 40% the market is not clearing; above 60% the flywheel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strategic core of the deck. Do not let it be heard as a regulatory bet — it is the opposite. The law already permits this; we remove the reason notaries decline.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US-platform row matters: it explains why a well-funded American entrant is not the threat people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Y3 = 3.7% of addressable act volume. Series A trigger is exiting Y2 at a $300-500K ARR run-rate with province-wide liquidity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 9-12 follow-on: IQ's Fonds Impulsion invests $250K-1M but requires a lead investor and an accelerator referral. Securing an angel lead here is the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 reward founders who name their own kill criteria. Lead with this if the room is skeptical.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founder point: the platform is built, tested and deployed. This buys twelve months of undivided attention on the parts code cannot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685800" y="30632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time in the Québec notarial market.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3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Québec abolished mandatory notary tariffs in 1991. Thirty-five years later, no price discovery mechanism has ever existed.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3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is that mechanism — a public calendar where the market prices urgency.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2834640" cy="18288"/>
          </a:xfrm>
          <a:prstGeom prst="rect">
            <a:avLst/>
          </a:prstGeom>
          <a:solidFill>
            <a:srgbClr val="E5A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$250,000 CAD · 12 months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Paquet · anthonypaquet1508@gmail.com ·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deregulated market that never got a price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have been free-floating since 1991. Discovery still happens by phone call.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4780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notarial tariffs abolished. Every notary has set their own fees ever since.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94760" y="1691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~3,900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794760" y="24780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Practising notaries in Québec, each with unsold gaps in their calendar.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1691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903720" y="24780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Québec adults have no will. Among 18–34 year-olds, about 70%.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12680" y="16916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0012680" y="24780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by anyone, in 35 years, building the venue where these two meet.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10820095" cy="2148840"/>
          </a:xfrm>
          <a:prstGeom prst="roundRect">
            <a:avLst>
              <a:gd name="adj" fmla="val 383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46227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client who needs a signature next Tuesday cannot learn what next Tuesday costs.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notary with an empty Tuesday has nowhere to sell it.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 dispersion. Real supply elasticity. Real demand urgency. No mechanism connecting any of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sides, both stuck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can find the other, and neither can price the thing that actually varies: the date.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discovery costs a sequence of phone calls during business hours.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ranges are wide — a will and mandate run 700–1,000 $ — and you learn where you land only after you call.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has no price. There is no way to pay to jump a three-week queue.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act does not happen. Half of Québec adults have no will.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951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9516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hole in the calendar is unrecoverable inventory — it expires like an airline seat.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channel exists to sell short-notice availability. A cancelled Thursday cannot be listed anywhere.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acquisition is referral and signage.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leads is ineffective; sharing fees is prohibited by the Code de déontologie.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sells when, not what. Every alternative prices a document; Nota prices a date.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mechanism: the market prices urgency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posts a date and an amount. The tier — and the premium — derive from how close that date 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792224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93A7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7922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6459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days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6459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1.0× – 1.2×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542032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7C93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5420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3957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days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3957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1.2× – 1.5×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145536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291840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E5A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2918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1455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1455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1.6× – 2.2×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895344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" y="4041648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D280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04164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89534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389534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2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 – 4.0×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" y="4791456"/>
            <a:ext cx="1481328" cy="365760"/>
          </a:xfrm>
          <a:prstGeom prst="roundRect">
            <a:avLst>
              <a:gd name="adj" fmla="val 15000"/>
            </a:avLst>
          </a:prstGeom>
          <a:solidFill>
            <a:srgbClr val="A845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7914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46451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day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46451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4.0× – 10.0×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09560" y="1645920"/>
            <a:ext cx="4251960" cy="3749040"/>
          </a:xfrm>
          <a:prstGeom prst="roundRect">
            <a:avLst>
              <a:gd name="adj" fmla="val 2195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753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22860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Floors. Every offer must clear a market-researched prix de départ per service.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10× cap. A real auction, not a panic tax.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Server-authoritative. The browser and the server load the same rules module, so the displayed price and the enforced price cannot drift.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default-on, enforced server-side.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at launch, each with a bounded intake a client can complete alone: testament + mandat (650 $) · procuration (295 $) · refinancement (2 000 $)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raise does not fund a build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written, tested and deployed. ~21,000 lines, built solo.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business rules — prices, tiers, cap, validation, dynamic pricing. Zero dependencies. Asserted by tests.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38728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single-table DynamoDB, hexagonal ports/adapters. Server revalidates every offer.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91656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47688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carnet, offer flow, dossier intake, Québec map, notary console. Zero runtime dependencies.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44584" y="157276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0616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0616" y="21214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— card authorized at post, captured on completion, connected accounts, reconciliation.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Notary side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sign-up gate, lead-delivery preferences, ICS calendar feed, earnings roll-up.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38728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94760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console, transactional email + scheduled reminders, analytics with drift healing.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91656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47688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S3 + CloudFront OAC + IAM-authed Lambda + DynamoDB, live in ca-central-1. Idle cost ≈ $0.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44584" y="3721608"/>
            <a:ext cx="2670048" cy="1938528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0616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00616" y="427024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jsdom and Cucumber BDD suites. CI on every push. Seven architecture decision records.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25 compliance is designed in, not bolted on: Canadian data residency, anonymity default-on, consent at collection.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converged, and none of them are under our control — which is the 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82496"/>
            <a:ext cx="384048" cy="384048"/>
          </a:xfrm>
          <a:prstGeom prst="ellipse">
            <a:avLst/>
          </a:prstGeom>
          <a:solidFill>
            <a:srgbClr val="E5A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1627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acts became law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60934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34 made the acte notarié technologique permanent in October 2023. The rails exist and are sanctioned. We are not betting on legislation.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51176"/>
            <a:ext cx="384048" cy="384048"/>
          </a:xfrm>
          <a:prstGeom prst="ellipse">
            <a:avLst/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52728" y="2496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years of blind pricing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47802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free since 1991, no discovery mechanism ever built. The gap does not close on its own.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419856"/>
            <a:ext cx="384048" cy="384048"/>
          </a:xfrm>
          <a:prstGeom prst="ellipse">
            <a:avLst/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2728" y="3364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renewal wall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334670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Canadian fixed-rate mortgages renewing in 2025, driving volume into the highest-value service on the platform.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88536"/>
            <a:ext cx="384048" cy="384048"/>
          </a:xfrm>
          <a:prstGeom prst="ellipse">
            <a:avLst/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4233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wealth transfer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421538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intergenerational transfer in Canadian history, against a population where half have no will.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157216"/>
            <a:ext cx="384048" cy="384048"/>
          </a:xfrm>
          <a:prstGeom prst="ellipse">
            <a:avLst/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52728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Access-to-justice pressure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508406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coverage is uneven across the regions — and "distance from an available notary" is a statutorily recognised ground for signing remotely.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— bottom up, Québec only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needs 3.7% of the addressable act volume. The plan does not require winning the market.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600200"/>
          <a:ext cx="5943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600200"/>
            <a:ext cx="5120640" cy="3063240"/>
          </a:xfrm>
          <a:prstGeom prst="roundRect">
            <a:avLst>
              <a:gd name="adj" fmla="val 268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58200" y="17282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~$1.1–1.2B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0" y="21305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professional fees billed by ~3,900 Québec notaries.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58200" y="27066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~$245M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0" y="31089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 acts/year across the three bounded services.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(Y3)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58200" y="3685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11,000 acts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315200" y="40873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 of SAM volume · $16.0M GMV · $1.6M net revenue.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484632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69848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three services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9848" y="5285232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closings alone run ~90,000 transactions a year in Québec at 1,500–3,500 $ — a single category larger than the entire current SAM. Beyond Québec, the civil-law notariat spans ~90 states of the International Union of Notaries, all built on the same instrument. That is where a 100× claim actually lives.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— and the constraint that shapes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Québec's Code de déontologie forbids sharing a notary's professional fee with a non-notaire. That is a design input, not a footnote.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532120" cy="3108960"/>
          </a:xfrm>
          <a:prstGeom prst="roundRect">
            <a:avLst>
              <a:gd name="adj" fmla="val 2647"/>
            </a:avLst>
          </a:prstGeom>
          <a:solidFill>
            <a:srgbClr val="FBEDEB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1920240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A845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920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" y="2331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Deducted from the notary's fee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pays 650 $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receives 585 $  (90%)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keeps 65 $ out of the notary's honoraires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fee-sharing. Exposes every notary on the platform to a disciplinary complaint.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91640"/>
            <a:ext cx="5532120" cy="3108960"/>
          </a:xfrm>
          <a:prstGeom prst="roundRect">
            <a:avLst>
              <a:gd name="adj" fmla="val 2647"/>
            </a:avLst>
          </a:prstGeom>
          <a:solidFill>
            <a:srgbClr val="E9F3E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67728" y="19202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2E7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1920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FEE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67728" y="2331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Charged on top, for Nota's own 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67728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pays 650 $ + 65 $ service fee = 715 $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receives 650 $  (100%)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is paid by the client for sourcing, dossier assembly and the transaction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67728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unit economics. No share of any professional fee. Exposure disappears.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0820095" cy="1097280"/>
          </a:xfrm>
          <a:prstGeom prst="roundRect">
            <a:avLst>
              <a:gd name="adj" fmla="val 75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69848" y="5138928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5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the price of time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a time-priced notarial marketplace clears, in one city, with real money.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657600" cy="4114800"/>
          </a:xfrm>
          <a:prstGeom prst="roundRect">
            <a:avLst>
              <a:gd name="adj" fmla="val 225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Québec City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5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~850,000 people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5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notaries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Montréal on purpose: small enough that a solo founder can meet a material share of local supply in person, dense enough to reach liquidity.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5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joins free, with no card. The only thing a notary risks by signing up is nothing.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1645920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M1–2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645920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Déontologie restructure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1645920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fee, billing refactor, written legal opinion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195560" y="1645920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on 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670048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670048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M1–3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2670048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2670048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Québec City notaries recruited in person, free to join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95560" y="2670048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notaries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694176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694176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M3–6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694176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3694176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SEO, broker and planner referral partnerships, urgency-targeted paid search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95560" y="3694176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&gt; 45%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718304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718304"/>
            <a:ext cx="749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M6–12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4718304"/>
            <a:ext cx="1691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4718304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time-to-retain, publish the urgency curve, extend to Lévis and Saguenay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95560" y="4718304"/>
            <a:ext cx="1170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&gt; 60%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Phase 1 produces is not revenue — it is the only dataset of realised price × days-to-date × act type in Québec. Nobody can reconstruct it without running the same market for the same year.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the act without the trip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expansion is not saving the client a car trip. It is removing geography as a matching constraint.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" y="1810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2139696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client in Québec City is matched against ~400 notaries.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66560" y="1627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E4A3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50608" y="1810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F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remote matching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50608" y="2139696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client is matched against ~3,900 — and a notary in Rimouski sells an empty Thursday to a client in Gatineau.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5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regulatory position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signing is already legal and permanent in Québec — but under art. 46 it is exceptional: the request must come from a party, and the justifying circumstance must be specific to that party. Convenience does not qualify. The barrier is not the law's silence; it is that the justification burden and the disciplinary exposure sit entirely on the individual notary, who therefore defaults to "come in person".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516636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3A2C12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9848" y="5321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a product.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53035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0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captures the party's request, classifies the qualifying circumstance, collects the evidence, and attaches a timestamped audit record to the dossier. The notary receives a file that is already defensible — a discretionary judgment call becomes a standard workflow. Phase 2 is designed to be fully valuable under the current statute; liberalisation is upside, not plan.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prices a document. Nota prices a date.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204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60920" y="1572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Nota differs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901952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0195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190195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preparation of real-estate closings; final signature in person.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60920" y="1901952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software for one act type. Fixed pricing, no marketplace, no time-based discovery.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761488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6148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276148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notarised wills, ~21 service points in Québec.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2761488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 chain with fixed prices — not a market. No notary-side liquidity.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621024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2102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Neolegal / ScriptaLegal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20440" y="362102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legal documents with notarial add-ons.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60920" y="3621024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Document-first and price-fixed. They do not sell notary availability.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805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practice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20440" y="448056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referral, signage.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60920" y="4480560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competitor. Nota wins by pricing time, which the phone cannot do.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5340096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34009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remote-notarisation platforms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20440" y="534009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RON for common-law notaries public.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60920" y="5340096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cannot enter. A Québec notaire is a civil-law public officer, and their commission model is illegal here.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2636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trajectory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a proof-of-liquidity year, and the model says so rather than pretending otherwise.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600200"/>
          <a:ext cx="6217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627632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869680" y="162763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738360" y="162763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607040" y="162763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86600" y="2029968"/>
            <a:ext cx="4416552" cy="397764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2029968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69680" y="202996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738360" y="202996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607040" y="202996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86600" y="2432304"/>
            <a:ext cx="441655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243230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869680" y="243230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738360" y="243230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607040" y="243230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086600" y="2834640"/>
            <a:ext cx="4416552" cy="397764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23760" y="2834640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completed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869680" y="2834640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738360" y="2834640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2,800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607040" y="2834640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086600" y="3236976"/>
            <a:ext cx="441655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23760" y="3236976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869680" y="3236976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$258K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738360" y="3236976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$3.22M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0607040" y="3236976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$15.95M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086600" y="3639312"/>
            <a:ext cx="4416552" cy="397764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23760" y="3639312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869680" y="363931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$25.8K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9738360" y="363931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$322K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607040" y="3639312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$1.60M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086600" y="4041648"/>
            <a:ext cx="441655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23760" y="4041648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869680" y="404164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9738360" y="404164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0607040" y="4041648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086600" y="4443984"/>
            <a:ext cx="4416552" cy="397764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23760" y="444398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8869680" y="444398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($227K)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9738360" y="444398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($430K)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10607040" y="4443984"/>
            <a:ext cx="8046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($391K)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85800" y="4983480"/>
            <a:ext cx="10820095" cy="1417320"/>
          </a:xfrm>
          <a:prstGeom prst="roundRect">
            <a:avLst>
              <a:gd name="adj" fmla="val 5806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1069848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069848" y="5413248"/>
            <a:ext cx="10012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 — $250,000 over 12 months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burn ~$20,800/month. Legal is front-loaded on purpose: the déontologie opinion unblocks everything else.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691640"/>
            <a:ext cx="53766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1928" y="16916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salary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1691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16568" y="1691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8,000/mo. Below market — this round buys focus.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2148840"/>
            <a:ext cx="5376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81928" y="21488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acquisition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2148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$40,000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16568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search, content, partnership build-out.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2606040"/>
            <a:ext cx="53766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81928" y="26060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advisor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2606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16568" y="2606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practising notary. Credibility and correctness.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3063240"/>
            <a:ext cx="5376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81928" y="30632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contract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30632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16568" y="3063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months part-time front-end.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26480" y="3520440"/>
            <a:ext cx="53766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1928" y="35204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3520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16568" y="35204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Déontologie opinion, Chambre, incorporation, Law 25.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26480" y="3977640"/>
            <a:ext cx="5376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81928" y="39776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046720" y="3977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$17,000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16568" y="3977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26480" y="4434840"/>
            <a:ext cx="53766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44348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acquisition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46720" y="4434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16568" y="4434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sales, congrès, travel.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26480" y="4892040"/>
            <a:ext cx="5376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81928" y="48920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tooling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46720" y="4892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116568" y="4892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keeps this small.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126480" y="5486400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stacking: refundable SR&amp;ED and Québec R&amp;D wage credits are modelled at zero and treated as runway extension (~2–3 months), not budgeted revenue.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042416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assumptions carry the model. Each has a named falsification test — and all three resolve inside this round.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FDF4E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12264"/>
            <a:ext cx="384048" cy="384048"/>
          </a:xfrm>
          <a:prstGeom prst="ellipse">
            <a:avLst/>
          </a:prstGeom>
          <a:solidFill>
            <a:srgbClr val="E5A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pay a premium for a date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0" y="18745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premium distribution by tier. If urgence and extreme bids do not clear above standard, the core thesis is wrong.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12680" y="212140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5A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12680" y="2121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502152"/>
            <a:ext cx="384048" cy="384048"/>
          </a:xfrm>
          <a:prstGeom prst="ellipse">
            <a:avLst/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2644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Notaries sell short-notice availability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0" y="32644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on the prioritaire and urgence tiers specifically, not blended.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12680" y="351129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2680" y="3511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471416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892040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65429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client-side fee is déontologie-safe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035040" y="465429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6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legal opinion from Québec counsel, with structured Chambre engagement.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12680" y="490118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E7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49011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the argument for the round size. $250,000 is enough to confirm or refute the entire thesis, and not a dollar is spent building something that has not been validated.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 CAD pre-seed · 12 months · SAFE or convertible note with an angel lead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30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footing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505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déontologie-clean structure with a written opinion on file — the largest risk in the business, retired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30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market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4505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notaries and functioning two-sided liquidity in Québec City.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Proprietary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8679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completed acts and the first urgency price curve for the Québec notarial market. It does not otherwise exist.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383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B3A63"/>
          </a:solidFill>
          <a:ln w="12700">
            <a:solidFill>
              <a:srgbClr val="2745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in reach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38679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art. 46 compliance layer shipped, making remote signing routine where the law already allows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956048"/>
            <a:ext cx="2377440" cy="18288"/>
          </a:xfrm>
          <a:prstGeom prst="rect">
            <a:avLst/>
          </a:prstGeom>
          <a:solidFill>
            <a:srgbClr val="E5A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3892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Québec deregulated notary fees in 1991 and never built a market.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is built. This funds finding out whether it clears.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738360" y="5212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Paquet</a:t>
            </a:r>
            <a:endParaRPr lang="en-US" sz="1200" dirty="0"/>
          </a:p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anthonypaquet1508@gmail.com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Nota — Pre-seed</dc:title>
  <dc:subject>PptxGenJS Presentation</dc:subject>
  <dc:creator>Anthony Paquet</dc:creator>
  <cp:lastModifiedBy>Anthony Paquet</cp:lastModifiedBy>
  <cp:revision>1</cp:revision>
  <dcterms:created xsi:type="dcterms:W3CDTF">2026-08-16T21:56:00Z</dcterms:created>
  <dcterms:modified xsi:type="dcterms:W3CDTF">2026-08-16T21:56:00Z</dcterms:modified>
</cp:coreProperties>
</file>