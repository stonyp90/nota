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xmlns:r="http://schemas.openxmlformats.org/officeDocument/2006/relationships" id="271" r:id="rId2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DDEAF2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DDEAF2"/>
                </a:solidFill>
                <a:latin typeface="Cambria"/>
              </a:rPr>
              <a:t>SAM — the three bounded services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>
              <a:srgbClr val="1D4772"/>
            </a:solidFill>
            <a:effectLst/>
          </c:spPr>
          <c:invertIfNegative val="0"/>
          <c:dLbls>
            <c:numFmt formatCode="$#,##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DEAF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Wills + mandates
~200,000 acts</c:v>
                  </c:pt>
                  <c:pt idx="1">
                    <c:v>Refinancing
~50,000 acts</c:v>
                  </c:pt>
                  <c:pt idx="2">
                    <c:v>Procurations
~50,000 acts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DDEAF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EB3C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AEBEC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9EB3C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EAF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DDEAF2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DDEAF2"/>
                </a:solidFill>
                <a:latin typeface="Cambria"/>
              </a:rPr>
              <a:t>GMV and net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>
              <a:srgbClr val="DDE5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DEAF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 2026-27</c:v>
                  </c:pt>
                  <c:pt idx="1">
                    <c:v>Y2 2027-28</c:v>
                  </c:pt>
                  <c:pt idx="2">
                    <c:v>Y3 2028-29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DEAF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>
              <a:srgbClr val="F0A45D"/>
            </a:solidFill>
            <a:ln w="50800" cap="flat">
              <a:solidFill>
                <a:srgbClr val="F0A4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DEAF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F0A45D"/>
              </a:solidFill>
              <a:ln w="9525" cap="flat">
                <a:solidFill>
                  <a:srgbClr val="F0A4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Y1 2026-27</c:v>
                  </c:pt>
                  <c:pt idx="1">
                    <c:v>Y2 2027-28</c:v>
                  </c:pt>
                  <c:pt idx="2">
                    <c:v>Y3 2028-29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DEAF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EB3C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EC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DDEAF2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DDEAF2"/>
                    </a:solidFill>
                    <a:latin typeface="Calibri"/>
                  </a:rPr>
                  <a:t>GMV ($000)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EB3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EC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DDEAF2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DDEAF2"/>
                    </a:solidFill>
                    <a:latin typeface="Calibri"/>
                  </a:rPr>
                  <a:t>Net revenue ($000)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EB3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7A17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EB3C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EAF2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EBEC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122744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DEAF2"/>
              </a:solidFill>
              <a:effectLst/>
            </c:spPr>
          </c:dPt>
          <c:dPt>
            <c:idx val="1"/>
            <c:bubble3D val="0"/>
            <c:spPr>
              <a:solidFill>
                <a:srgbClr val="F0A45D"/>
              </a:solidFill>
              <a:effectLst/>
            </c:spPr>
          </c:dPt>
          <c:dPt>
            <c:idx val="2"/>
            <c:bubble3D val="0"/>
            <c:spPr>
              <a:solidFill>
                <a:srgbClr val="1D4772"/>
              </a:solidFill>
              <a:effectLst/>
            </c:spPr>
          </c:dPt>
          <c:dPt>
            <c:idx val="3"/>
            <c:bubble3D val="0"/>
            <c:spPr>
              <a:solidFill>
                <a:srgbClr val="4E6E96"/>
              </a:solidFill>
              <a:effectLst/>
            </c:spPr>
          </c:dPt>
          <c:dPt>
            <c:idx val="4"/>
            <c:bubble3D val="0"/>
            <c:spPr>
              <a:solidFill>
                <a:srgbClr val="2E7D6B"/>
              </a:solidFill>
              <a:effectLst/>
            </c:spPr>
          </c:dPt>
          <c:dPt>
            <c:idx val="5"/>
            <c:bubble3D val="0"/>
            <c:spPr>
              <a:solidFill>
                <a:srgbClr val="9AAABF"/>
              </a:solidFill>
              <a:effectLst/>
            </c:spPr>
          </c:dPt>
          <c:dPt>
            <c:idx val="6"/>
            <c:bubble3D val="0"/>
            <c:spPr>
              <a:solidFill>
                <a:srgbClr val="B87A17"/>
              </a:solidFill>
              <a:effectLst/>
            </c:spPr>
          </c:dPt>
          <c:dPt>
            <c:idx val="7"/>
            <c:bubble3D val="0"/>
            <c:spPr>
              <a:solidFill>
                <a:srgbClr val="C3CED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DDEAF2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DDEAF2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DDEAF2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DDEAF2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DDEAF2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DDEAF2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DDEAF2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DDEAF2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DDEAF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EBEC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ae07efacb846ab" /><Relationship Type="http://schemas.openxmlformats.org/officeDocument/2006/relationships/notesMaster" Target="/ppt/notesMasters/notesMaster1.xml" Id="R37a235b7bc0d4f5c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Québec deregulated notary fees in 1991 and never built a market. The product is already built and deployed. This round funds finding out whether it clears.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insight: deregulation without a market. Fees are legally free but structurally blind.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two-sided failure. The punchline is the last line: nobody sells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is derived from days-to-date. Floors and the 10x cap live in the domain package and are asserted by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pre-seed money funds the possibility that a team can build the thing. Here the thing is built. The money buys 12 months of undivided attention on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Bill 34 point is the most important: the legal rails already exist, which removes years and hundreds of thousands from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CNQ Registre des dispositions testamentaires (215,576 registrations 2017-18), CMHC renewal data, APCIQ 90,369 residential sales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this in the room. The current code implements the commission model and flags itself. Fixing it before launch is milestone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metric governs Phase 1: fill rate. Below 40% the market is not clearing; above 60% the flywheel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strategic core of the deck. Do not let it be heard as a regulatory bet — it is the opposite. The law already permits this; we remove the reason notaries decline.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US-platform row matters: it explains why a well-funded American entrant is not the threat people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Y3 = 3.7% of addressable act volume. Series A trigger is exiting Y2 at a $300-500K ARR run-rate with province-wide liquidity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 9-12 follow-on: IQ's Fonds Impulsion invests $250K-1M but requires a lead investor and an accelerator referral. Securing an angel lead here is the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Investors reward founders who name their own kill criteria. Lead with this if the room is skeptical.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founder point: the platform is built, tested and deployed. This buys twelve months of undivided attention on the parts code cannot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docs/business-plan.md sections 3, 7, 10 and 14; docs/secure-signing-plan.md; docs/decisions/0008-free-commission-marketplace.md. The slide states operating commitments and launch gates, not a legal opinion or certification of compliance. Current Québec statutes, professional rules and jurisprudence require review with Québec counsel and a practising notary before each service goes live. Reviewed 2026-09-09.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b6f88eb0f49be" /><Relationship Type="http://schemas.openxmlformats.org/officeDocument/2006/relationships/notesSlide" Target="/ppt/notesSlides/notesSlide16.xml" Id="Rf1f3c86f030f4690" 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685800" y="30632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date-priced network that compounds supply, demand and trust.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3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Québec abolished mandatory notary tariffs in 1991. Thirty-five years later, no price discovery mechanism has ever existed.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3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is that mechanism — a public calendar where the market prices urgency.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4892040"/>
            <a:ext cx="2834640" cy="18288"/>
          </a:xfrm>
          <a:prstGeom prst="rect">
            <a:avLst/>
          </a:prstGeom>
          <a:solidFill>
            <a:srgbClr val="F0A45D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$250,000 CAD · 12 months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info@gonota.ca · Nota Québec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deregulated market that never got a price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have been free-floating since 1991. Discovery still happens by phone call.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4780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notarial tariffs abolished. Every notary has set their own fees ever since.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94760" y="1691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~3,900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794760" y="24780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Practising notaries in Québec, each with unsold gaps in their calendar.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03720" y="1691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903720" y="24780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Québec adults have no will. Among 18–34 year-olds, about 70%.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12680" y="16916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0012680" y="247802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by anyone, in 35 years, building the venue where these two meet.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10820095" cy="2148840"/>
          </a:xfrm>
          <a:prstGeom prst="roundRect">
            <a:avLst>
              <a:gd name="adj" fmla="val 3830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446227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client who needs a signature next Tuesday cannot learn what next Tuesday costs.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notary with an empty Tuesday has nowhere to sell it.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 dispersion. Real supply elasticity. Real demand urgency. No mechanism connecting any of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sides, both stuck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can find the other, and neither can price the thing that actually varies: the date.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discovery costs a sequence of phone calls during business hours.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ranges are wide — a will and mandate run 700–1,000 $ — and you learn where you land only after you call.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has no price. There is no way to pay to jump a three-week queue.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act does not happen. Half of Québec adults have no will.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0" y="160020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951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notary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9516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hole in the calendar is unrecoverable inventory — it expires like an airline seat.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channel exists to sell short-notice availability. A cancelled Thursday cannot be listed anywhere.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acquisition is referral and signage.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leads is ineffective; sharing fees is prohibited by the Code de déontologie.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sells when, not what. Every alternative prices a document; Nota prices a date.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mechanism: the market prices urgency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posts a date and an amount. The tier — and the premium — derive from how close that date 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792224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7922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6459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days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16459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1.0× – 1.2×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542032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5420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3957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 days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3957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1.2× – 1.5×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145536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" y="3291840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F0A45D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32918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1455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31455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1.6× – 2.2×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895344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" y="4041648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F0A45D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404164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389534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389534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 – 4.0×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645152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" y="4791456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F0A45D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47914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46451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day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46451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4.0× – 10.0×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09560" y="1645920"/>
            <a:ext cx="4251960" cy="3749040"/>
          </a:xfrm>
          <a:prstGeom prst="roundRect">
            <a:avLst>
              <a:gd name="adj" fmla="val 2195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753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22860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Floors. Every offer must clear a market-researched prix de départ per service.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10× cap. A real auction, not a panic tax.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Server-authoritative. The browser and the server load the same rules module, so the displayed price and the enforced price cannot drift.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default-on, enforced server-side.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 at launch, each with a bounded intake a client can complete alone: testament + mandat (650 $) · procuration (295 $) · refinancement (2 000 $)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measure outcomes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deployed. This round buys distribution, liquidity and proof.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773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core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" y="21214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business rules — prices, tiers, cap, validation, dynamic pricing. Zero dependencies. Asserted by tests.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38728" y="157276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773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21214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single-table DynamoDB, hexagonal ports/adapters. Server revalidates every offer.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91656" y="157276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773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47688" y="21214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carnet, offer flow, dossier intake, Québec map, notary console. Zero runtime dependencies.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44584" y="157276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0616" y="1773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00616" y="21214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— card authorized at post, captured on completion, connected accounts, reconciliation.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72160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Notary side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832" y="427024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sign-up gate, lead-delivery preferences, ICS calendar feed, earnings roll-up.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38728" y="372160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94760" y="427024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console, transactional email + scheduled reminders, analytics with drift healing.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91656" y="372160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47688" y="427024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S3 + CloudFront OAC + IAM-authed Lambda + DynamoDB, live in ca-central-1. Idle cost ≈ $0.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44584" y="372160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0616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00616" y="427024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jsdom and Cucumber BDD suites. CI on every push. Seven architecture decision records.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25 compliance is designed in, not bolted on: Canadian data residency, anonymity default-on, consent at collection.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market opens now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Law, demand and distribution align around a measurable wedge.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82496"/>
            <a:ext cx="384048" cy="384048"/>
          </a:xfrm>
          <a:prstGeom prst="ellipse">
            <a:avLst/>
          </a:prstGeom>
          <a:solidFill>
            <a:srgbClr val="F0A45D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52728" y="1627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acts became law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60934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34 made the acte notarié technologique permanent in October 2023. The rails exist and are sanctioned. We are not betting on legislation.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551176"/>
            <a:ext cx="384048" cy="384048"/>
          </a:xfrm>
          <a:prstGeom prst="ellipse">
            <a:avLst/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52728" y="2496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years of blind pricing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47802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free since 1991, no discovery mechanism ever built. The gap does not close on its own.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419856"/>
            <a:ext cx="384048" cy="384048"/>
          </a:xfrm>
          <a:prstGeom prst="ellipse">
            <a:avLst/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2728" y="3364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renewal wall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334670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 Canadian fixed-rate mortgages renewing in 2025, driving volume into the highest-value service on the platform.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88536"/>
            <a:ext cx="384048" cy="384048"/>
          </a:xfrm>
          <a:prstGeom prst="ellipse">
            <a:avLst/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2728" y="4233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wealth transfer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421538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intergenerational transfer in Canadian history, against a population where half have no will.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157216"/>
            <a:ext cx="384048" cy="384048"/>
          </a:xfrm>
          <a:prstGeom prst="ellipse">
            <a:avLst/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52728" y="5102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Access-to-justice pressure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0" y="508406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coverage is uneven across the regions — and "distance from an available notary" is a statutorily recognised ground for signing remotely.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 name="Slide 7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ladder — Québec, Canada, global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Québec. Earn expansion with measured liquidity.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600200"/>
          <a:ext cx="5943600" cy="3063240"/>
        </p:xfrm>
        <a:graphic>
          <a:graphicData uri="http://schemas.openxmlformats.org/drawingml/2006/chart">
            <ns2:chart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600200"/>
            <a:ext cx="5120640" cy="3063240"/>
          </a:xfrm>
          <a:prstGeom prst="roundRect">
            <a:avLst>
              <a:gd name="adj" fmla="val 268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0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58200" y="17282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~$1.1–1.2B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0" y="21305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professional fees billed by ~3,900 Québec notaries.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58200" y="27066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~$245M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0" y="31089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~300,000 acts/year across the three bounded services.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(Y3)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58200" y="3685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11,000 acts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315200" y="40873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 of SAM volume · $16.0M GMV · $1.6M net revenue.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484632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69848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and the civil-law world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69848" y="5285232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Québec is the wedge: ~$1.1–1.2B in annual notarial fees. Canada adds adjacent provincial markets after local proof. The civil-law notariat spans ~90 jurisdictions — a long-term option, not a Year 1 assumption.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— and the constraint that shapes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Québec's Code de déontologie forbids sharing a notary's professional fee with a non-notaire. That is a design input, not a footnote.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532120" cy="3108960"/>
          </a:xfrm>
          <a:prstGeom prst="roundRect">
            <a:avLst>
              <a:gd name="adj" fmla="val 264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1920240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F0A45D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9202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" y="2331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8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Deducted from the notary's fee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272491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8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pays 650 $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8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receives 585 $  (90%)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8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keeps 65 $ out of the notary's honoraires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3977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fee-sharing. Exposes every notary on the platform to a disciplinary complaint.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691640"/>
            <a:ext cx="5532120" cy="3108960"/>
          </a:xfrm>
          <a:prstGeom prst="roundRect">
            <a:avLst>
              <a:gd name="adj" fmla="val 264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67728" y="192024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386888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19202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FEE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67728" y="2331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Charged on top, for Nota's own service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67728" y="272491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pays 650 $ + 65 $ service fee = 715 $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receives 650 $  (100%)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is paid by the client for sourcing, dossier assembly and the transaction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67728" y="3977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78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unit economics. No share of any professional fee. Exposure disappears.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0820095" cy="1097280"/>
          </a:xfrm>
          <a:prstGeom prst="roundRect">
            <a:avLst>
              <a:gd name="adj" fmla="val 7500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69848" y="5138928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 or rest-of-Canada entrant will not know this constraint exists. $20,000 of this round buys a written déontologie opinion and structured engagement with the Chambre before the first live act — which is both the largest risk retired and a genuine competitive asset.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prove Québec City liquidity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launch turns partner distribution into measurable demand.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657600" cy="4114800"/>
          </a:xfrm>
          <a:prstGeom prst="roundRect">
            <a:avLst>
              <a:gd name="adj" fmla="val 2250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Québec City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~850,000 people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notaries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Montréal on purpose: small enough that a solo founder can meet a material share of local supply in person, dense enough to reach liquidity.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4343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joins free, with no card. The only thing a notary risks by signing up is nothing.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1645920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749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M1–2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645920"/>
            <a:ext cx="1691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Déontologie restructure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0920" y="1645920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fee, billing refactor, written legal opinion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195560" y="1645920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8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on file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670048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122744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670048"/>
            <a:ext cx="749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M1–3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23560" y="2670048"/>
            <a:ext cx="1691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2670048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Québec City notaries recruited in person, free to join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95560" y="2670048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8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notaries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694176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694176"/>
            <a:ext cx="749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M3–6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694176"/>
            <a:ext cx="1691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3694176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referral links, SEO and intent search; rewards follow approved, disclosed terms.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195560" y="3694176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8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&gt; 45%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4718304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122744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718304"/>
            <a:ext cx="749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M6–12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4718304"/>
            <a:ext cx="1691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60920" y="4718304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time-to-retain, publish the urgency curve, extend to Lévis and Saguenay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95560" y="4718304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8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&gt; 60%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asset is realised price × days-to-date × act type — evidence for the next market.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monetize capacity with proprietary models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throughput for notaries, more supply for the market and future software revenue for Nota.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" y="1810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" y="2139696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client in Québec City is matched against ~400 notaries.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766560" y="162763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D4772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50608" y="1810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8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province-wide network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50608" y="2139696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client is matched against ~3,900 — and a notary in Rimouski sells an empty Thursday to a client in Gatineau.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compliance boundary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automate up to 80% of repeatable intake, document checks and dossier assembly. The 80% is a measurable hypothesis by act type; consent, capacity, legality and signing readiness remain with the notary.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516636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10233F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69848" y="5321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monetization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530352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0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automate up to 80% of preparation. Notaries serve more demand and earn more. Nota restores capacity without replacing them.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participant prices a document. Nota prices a date.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204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60920" y="15727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Nota differs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901952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0195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Notairo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0440" y="1901952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preparation of real-estate closings; final signature in person.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60920" y="1901952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software for one act type. Fixed pricing, no marketplace, no time-based discovery.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761488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122744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6148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276148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notarised wills, ~21 service points in Québec.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0920" y="2761488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distribution chain with fixed prices — not a market. No notary-side liquidity.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621024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2102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Neolegal / ScriptaLegal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20440" y="362102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legal documents with notarial add-ons.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60920" y="3621024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Document-first and price-fixed. They do not sell notary availability.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122744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48056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practice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20440" y="448056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referral, signage.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60920" y="4480560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competitor. Nota wins by pricing time, which the phone cannot do.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5340096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34009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remote-notarisation platforms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20440" y="5340096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RON for common-law notaries public.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60920" y="5340096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cannot enter. A Québec notaire is a civil-law public officer, and their commission model is illegal here.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26364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Defensibility, honestly ranked: the urgency price curve (requires running the market to obtain) · the notary network (slow, in-person) · the déontologie-safe structure with an opinion on file · the art. 46 compliance layer. None are patents. All are years.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 name="Slide 12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trajectory — when capital compounds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shows the gates, cost to reach them and sensitivity.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600200"/>
          <a:ext cx="6217920" cy="3200400"/>
        </p:xfrm>
        <a:graphic>
          <a:graphicData uri="http://schemas.openxmlformats.org/drawingml/2006/chart">
            <ns2:chart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1627632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869680" y="162763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738360" y="162763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607040" y="162763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86600" y="2029968"/>
            <a:ext cx="4416552" cy="397764"/>
          </a:xfrm>
          <a:prstGeom prst="rect">
            <a:avLst/>
          </a:prstGeom>
          <a:solidFill>
            <a:srgbClr val="1C3856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2029968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69680" y="202996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738360" y="202996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607040" y="202996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86600" y="2432304"/>
            <a:ext cx="4416552" cy="397764"/>
          </a:xfrm>
          <a:prstGeom prst="rect">
            <a:avLst/>
          </a:prstGeom>
          <a:solidFill>
            <a:srgbClr val="122744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2432304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869680" y="243230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738360" y="243230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607040" y="243230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086600" y="2834640"/>
            <a:ext cx="4416552" cy="397764"/>
          </a:xfrm>
          <a:prstGeom prst="rect">
            <a:avLst/>
          </a:prstGeom>
          <a:solidFill>
            <a:srgbClr val="1C3856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23760" y="2834640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completed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869680" y="2834640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738360" y="2834640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2,800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607040" y="2834640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086600" y="3236976"/>
            <a:ext cx="4416552" cy="397764"/>
          </a:xfrm>
          <a:prstGeom prst="rect">
            <a:avLst/>
          </a:prstGeom>
          <a:solidFill>
            <a:srgbClr val="122744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23760" y="3236976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869680" y="3236976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$258K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738360" y="3236976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$3.22M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0607040" y="3236976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$15.95M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086600" y="3639312"/>
            <a:ext cx="4416552" cy="397764"/>
          </a:xfrm>
          <a:prstGeom prst="rect">
            <a:avLst/>
          </a:prstGeom>
          <a:solidFill>
            <a:srgbClr val="1C3856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23760" y="3639312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869680" y="363931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$25.8K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9738360" y="363931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$322K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607040" y="363931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$1.60M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086600" y="4041648"/>
            <a:ext cx="4416552" cy="397764"/>
          </a:xfrm>
          <a:prstGeom prst="rect">
            <a:avLst/>
          </a:prstGeom>
          <a:solidFill>
            <a:srgbClr val="122744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23760" y="4041648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869680" y="404164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9738360" y="404164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10607040" y="404164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086600" y="4443984"/>
            <a:ext cx="4416552" cy="397764"/>
          </a:xfrm>
          <a:prstGeom prst="rect">
            <a:avLst/>
          </a:prstGeom>
          <a:solidFill>
            <a:srgbClr val="1C3856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23760" y="4443984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8869680" y="444398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($227K)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9738360" y="444398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($430K)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10607040" y="444398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($391K)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85800" y="4983480"/>
            <a:ext cx="10820095" cy="1417320"/>
          </a:xfrm>
          <a:prstGeom prst="roundRect">
            <a:avLst>
              <a:gd name="adj" fmla="val 5806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1069848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069848" y="5413248"/>
            <a:ext cx="10012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per act rises $94 → $133 as the act catalogue widens. Client CAC falls $164 → $40 as carnet SEO and zero-CAC referral channels compound, turning a ($70) Y1 contribution into +$93 by Y3. On the supply side, a notary costs ~$500 to recruit and returns ~$2,071 a year — LTV/CAC ≈ 12×, payback inside five acts. Cumulative capital to Y3: ~$1.05M.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 name="Slide 13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 — 12-month proof plan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maps to a distribution, liquidity or compliance milestone.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394960" cy="3931920"/>
        </p:xfrm>
        <a:graphic>
          <a:graphicData uri="http://schemas.openxmlformats.org/drawingml/2006/chart">
            <ns2:chart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691640"/>
            <a:ext cx="5376672" cy="438912"/>
          </a:xfrm>
          <a:prstGeom prst="rect">
            <a:avLst/>
          </a:prstGeom>
          <a:solidFill>
            <a:srgbClr val="122744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1928" y="16916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salary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1691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16568" y="1691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8,000/mo. Below market — this round buys focus.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2148840"/>
            <a:ext cx="5376672" cy="438912"/>
          </a:xfrm>
          <a:prstGeom prst="rect">
            <a:avLst/>
          </a:prstGeom>
          <a:solidFill>
            <a:srgbClr val="1C3856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81928" y="21488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acquisition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0" y="21488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$40,000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16568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search, content, partnership build-out.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0" y="2606040"/>
            <a:ext cx="5376672" cy="438912"/>
          </a:xfrm>
          <a:prstGeom prst="rect">
            <a:avLst/>
          </a:prstGeom>
          <a:solidFill>
            <a:srgbClr val="122744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81928" y="26060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advisor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0" y="2606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16568" y="2606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practising notary. Credibility and correctness.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3063240"/>
            <a:ext cx="5376672" cy="438912"/>
          </a:xfrm>
          <a:prstGeom prst="rect">
            <a:avLst/>
          </a:prstGeom>
          <a:solidFill>
            <a:srgbClr val="1C3856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81928" y="30632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contract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30632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16568" y="3063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months part-time front-end.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26480" y="3520440"/>
            <a:ext cx="5376672" cy="438912"/>
          </a:xfrm>
          <a:prstGeom prst="rect">
            <a:avLst/>
          </a:prstGeom>
          <a:solidFill>
            <a:srgbClr val="122744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81928" y="35204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3520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16568" y="35204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Déontologie opinion, Chambre, incorporation, Law 25.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26480" y="3977640"/>
            <a:ext cx="5376672" cy="438912"/>
          </a:xfrm>
          <a:prstGeom prst="rect">
            <a:avLst/>
          </a:prstGeom>
          <a:solidFill>
            <a:srgbClr val="1C3856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81928" y="39776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046720" y="3977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$17,000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16568" y="3977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126480" y="4434840"/>
            <a:ext cx="5376672" cy="438912"/>
          </a:xfrm>
          <a:prstGeom prst="rect">
            <a:avLst/>
          </a:prstGeom>
          <a:solidFill>
            <a:srgbClr val="122744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44348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acquisition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46720" y="44348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116568" y="4434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sales, congrès, travel.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26480" y="4892040"/>
            <a:ext cx="5376672" cy="438912"/>
          </a:xfrm>
          <a:prstGeom prst="rect">
            <a:avLst/>
          </a:prstGeom>
          <a:solidFill>
            <a:srgbClr val="1C3856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81928" y="48920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tooling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46720" y="4892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116568" y="4892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keeps this small.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126480" y="5486400"/>
            <a:ext cx="5376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stacking: refundable SR&amp;ED and Québec R&amp;D wage credits are modelled at zero and treated as runway extension (~2–3 months), not budgeted revenue.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Slide 14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milestones and gates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unlocks the next proof point only when the previous one clears.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122744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12264"/>
            <a:ext cx="384048" cy="384048"/>
          </a:xfrm>
          <a:prstGeom prst="ellipse">
            <a:avLst/>
          </a:prstGeom>
          <a:solidFill>
            <a:srgbClr val="F0A45D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· prove Québec City liquidity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35040" y="18745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notaries, 244 completed acts and fill rate above 60% by month 12.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12680" y="212140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0A45D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12680" y="2121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081528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502152"/>
            <a:ext cx="384048" cy="384048"/>
          </a:xfrm>
          <a:prstGeom prst="ellipse">
            <a:avLst/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2644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 · expand Québec coverage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0" y="32644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notaries, 2,800 acts and repeatable partner-led acquisition.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012680" y="3511296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2680" y="3511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471416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1C3856"/>
          </a:solidFill>
          <a:ln w="12700">
            <a:solidFill>
              <a:srgbClr val="406481"/>
            </a:solidFill>
            <a:prstDash val="solid"/>
          </a:ln>
          <a:effectLst>
            <a:outerShdw sx="100000" sy="100000" kx="0" ky="0" algn="bl" rotWithShape="0" blurRad="177800" dist="25400" dir="5400000">
              <a:srgbClr val="1D4772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4892040"/>
            <a:ext cx="384048" cy="384048"/>
          </a:xfrm>
          <a:prstGeom prst="ellipse">
            <a:avLst/>
          </a:prstGeom>
          <a:solidFill>
            <a:srgbClr val="386888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65429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DD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 · scale the network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035040" y="465429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notaries, 11,000 acts and a Canada expansion decision after measured unit contribution.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12680" y="4901184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386888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49011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outcome: each gate produces evidence for the next financing decision; no fixed return is promised before terms, performance and liquidity are established.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lide 15"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 — capital to clear the gates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 CAD pre-seed · 12 months · SAFE or convertible note with an angel lead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30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footing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505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déontologie-clean structure with a written opinion on file — the largest risk in the business, retired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30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market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4505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notaries and functioning two-sided liquidity in Québec City.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3832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47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Proprietary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8679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completed acts and the first urgency price curve for the Québec notarial market. It does not otherwise exist.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3832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D4772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547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in reach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38679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repeatable preparation layer is tested per act type, with notary judgment preserved.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956048"/>
            <a:ext cx="2377440" cy="18288"/>
          </a:xfrm>
          <a:prstGeom prst="rect">
            <a:avLst/>
          </a:prstGeom>
          <a:solidFill>
            <a:srgbClr val="F0A45D"/>
          </a:solidFill>
          <a:ln w="12700">
            <a:solidFill>
              <a:srgbClr val="2347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13892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is released against measured milestones.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outcome depends on milestone delivery and the financing terms. Upside is realized at a future priced round, strategic sale or distribution event; no fixed return is promised.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738360" y="5212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200" dirty="0"/>
          </a:p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info@gonota.ca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2274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">
            <a:extLst>
              <a:ext uri="{FF2B5EF4-FFF2-40B4-BE49-F238E27FC236}">
                <ns2:creationId id="{2349A4E6-15C5-415D-82AF-B90B32A74AB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DEAF2"/>
                </a:solidFill>
                <a:latin typeface="Arial"/>
                <a:ea typeface="Arial"/>
                <a:cs typeface="Arial"/>
              </a:rPr>
              <a:t>Legal framework for notaries</a:t>
            </a:r>
          </a:p>
        </p:txBody>
      </p:sp>
      <p:sp>
        <p:nvSpPr>
          <p:cNvPr id="2" name="">
            <a:extLst>
              <a:ext uri="{FF2B5EF4-FFF2-40B4-BE49-F238E27FC236}">
                <ns2:creationId id="{DC286F09-23E4-4BA8-AD87-B68750D246BE}"/>
              </a:ext>
            </a:extLst>
          </p:cNvPr>
          <p:cNvSpPr>
            <a:spLocks noGrp="1"/>
          </p:cNvSpPr>
          <p:nvPr/>
        </p:nvSpPr>
        <p:spPr>
          <a:xfrm>
            <a:off x="685800" y="113347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DEAF2"/>
                </a:solidFill>
                <a:latin typeface="Arial"/>
                <a:ea typeface="Arial"/>
                <a:cs typeface="Arial"/>
              </a:rPr>
              <a:t>Québec law and professional rules are launch gates for every supported act</a:t>
            </a:r>
          </a:p>
        </p:txBody>
      </p:sp>
      <p:sp>
        <p:nvSpPr>
          <p:cNvPr id="3" name="">
            <a:extLst>
              <a:ext uri="{FF2B5EF4-FFF2-40B4-BE49-F238E27FC236}">
                <ns2:creationId id="{7B91F15A-ED31-4B3D-A11F-48FB1B096060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5219700" cy="2933700"/>
          </a:xfrm>
          <a:prstGeom prst="roundRect">
            <a:avLst>
              <a:gd name="adj" fmla="val 2597"/>
            </a:avLst>
          </a:prstGeom>
          <a:solidFill>
            <a:srgbClr val="122744"/>
          </a:solidFill>
          <a:ln w="9525">
            <a:solidFill>
              <a:srgbClr val="406481"/>
            </a:solidFill>
          </a:ln>
        </p:spPr>
      </p:sp>
      <p:sp>
        <p:nvSpPr>
          <p:cNvPr id="4" name="">
            <a:extLst>
              <a:ext uri="{FF2B5EF4-FFF2-40B4-BE49-F238E27FC236}">
                <ns2:creationId id="{85C5F786-A22C-462C-A3B1-E557C79E245E}"/>
              </a:ext>
            </a:extLst>
          </p:cNvPr>
          <p:cNvSpPr>
            <a:spLocks noGrp="1"/>
          </p:cNvSpPr>
          <p:nvPr/>
        </p:nvSpPr>
        <p:spPr>
          <a:xfrm>
            <a:off x="6286500" y="1695450"/>
            <a:ext cx="5219700" cy="2933700"/>
          </a:xfrm>
          <a:prstGeom prst="roundRect">
            <a:avLst>
              <a:gd name="adj" fmla="val 2597"/>
            </a:avLst>
          </a:prstGeom>
          <a:solidFill>
            <a:srgbClr val="1C3856"/>
          </a:solidFill>
          <a:ln w="9525">
            <a:solidFill>
              <a:srgbClr val="406481"/>
            </a:solidFill>
          </a:ln>
        </p:spPr>
      </p:sp>
      <p:sp>
        <p:nvSpPr>
          <p:cNvPr id="5" name="">
            <a:extLst>
              <a:ext uri="{FF2B5EF4-FFF2-40B4-BE49-F238E27FC236}">
                <ns2:creationId id="{34A9878B-034D-4404-AD0F-8B3C9EF47995}"/>
              </a:ext>
            </a:extLst>
          </p:cNvPr>
          <p:cNvSpPr>
            <a:spLocks noGrp="1"/>
          </p:cNvSpPr>
          <p:nvPr/>
        </p:nvSpPr>
        <p:spPr>
          <a:xfrm>
            <a:off x="990600" y="194310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DEAF2"/>
                </a:solidFill>
                <a:latin typeface="Arial"/>
                <a:ea typeface="Arial"/>
                <a:cs typeface="Arial"/>
              </a:rPr>
              <a:t>WHAT NOTA RESPECTS</a:t>
            </a:r>
          </a:p>
        </p:txBody>
      </p:sp>
      <p:sp>
        <p:nvSpPr>
          <p:cNvPr id="6" name="">
            <a:extLst>
              <a:ext uri="{FF2B5EF4-FFF2-40B4-BE49-F238E27FC236}">
                <ns2:creationId id="{873470AF-4D71-40E3-B9D5-20BFA737CE2C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4514850" cy="1866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DEAF2"/>
                </a:solidFill>
                <a:latin typeface="Arial"/>
                <a:ea typeface="Arial"/>
                <a:cs typeface="Arial"/>
              </a:rPr>
              <a:t>• Chambre des notaires du Québec and the Code of Professional Conduct</a:t>
            </a:r>
          </a:p>
          <a:p>
            <a:pPr>
              <a:defRPr sz="135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DEAF2"/>
                </a:solidFill>
                <a:latin typeface="Arial"/>
                <a:ea typeface="Arial"/>
                <a:cs typeface="Arial"/>
              </a:rPr>
              <a:t>• The notary's independent judgment and professional fee setting</a:t>
            </a:r>
          </a:p>
          <a:p>
            <a:pPr>
              <a:defRPr sz="135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DEAF2"/>
                </a:solidFill>
                <a:latin typeface="Arial"/>
                <a:ea typeface="Arial"/>
                <a:cs typeface="Arial"/>
              </a:rPr>
              <a:t>• Applicable Québec statutes, regulations, standards and current jurisprudence</a:t>
            </a:r>
          </a:p>
          <a:p>
            <a:pPr>
              <a:defRPr sz="135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DEAF2"/>
                </a:solidFill>
                <a:latin typeface="Arial"/>
                <a:ea typeface="Arial"/>
                <a:cs typeface="Arial"/>
              </a:rPr>
              <a:t>• Privacy, identity and record keeping requirements</a:t>
            </a:r>
          </a:p>
        </p:txBody>
      </p:sp>
      <p:sp>
        <p:nvSpPr>
          <p:cNvPr id="7" name="">
            <a:extLst>
              <a:ext uri="{FF2B5EF4-FFF2-40B4-BE49-F238E27FC236}">
                <ns2:creationId id="{EB3698B6-E9E8-4829-9861-F293C0E9DD49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8A9BF"/>
                </a:solidFill>
                <a:latin typeface="Arial"/>
                <a:ea typeface="Arial"/>
                <a:cs typeface="Arial"/>
              </a:rPr>
              <a:t>WHAT NOTA WILL NEVER DO</a:t>
            </a:r>
          </a:p>
        </p:txBody>
      </p:sp>
      <p:sp>
        <p:nvSpPr>
          <p:cNvPr id="8" name="">
            <a:extLst>
              <a:ext uri="{FF2B5EF4-FFF2-40B4-BE49-F238E27FC236}">
                <ns2:creationId id="{D3C82625-9E53-418E-8A4F-CFC25596F9E5}"/>
              </a:ext>
            </a:extLst>
          </p:cNvPr>
          <p:cNvSpPr>
            <a:spLocks noGrp="1"/>
          </p:cNvSpPr>
          <p:nvPr/>
        </p:nvSpPr>
        <p:spPr>
          <a:xfrm>
            <a:off x="6591300" y="2381250"/>
            <a:ext cx="4514850" cy="1866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78A9BF"/>
                </a:solidFill>
                <a:latin typeface="Arial"/>
                <a:ea typeface="Arial"/>
                <a:cs typeface="Arial"/>
              </a:rPr>
              <a:t>• Practise law or replace the notary</a:t>
            </a:r>
          </a:p>
          <a:p>
            <a:pPr>
              <a:defRPr sz="1350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78A9BF"/>
                </a:solidFill>
                <a:latin typeface="Arial"/>
                <a:ea typeface="Arial"/>
                <a:cs typeface="Arial"/>
              </a:rPr>
              <a:t>• Set, receive or share a notary's professional fee</a:t>
            </a:r>
          </a:p>
          <a:p>
            <a:pPr>
              <a:defRPr sz="1350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78A9BF"/>
                </a:solidFill>
                <a:latin typeface="Arial"/>
                <a:ea typeface="Arial"/>
                <a:cs typeface="Arial"/>
              </a:rPr>
              <a:t>• Decide capacity, consent, legality or signing readiness automatically</a:t>
            </a:r>
          </a:p>
          <a:p>
            <a:pPr>
              <a:defRPr sz="1350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78A9BF"/>
                </a:solidFill>
                <a:latin typeface="Arial"/>
                <a:ea typeface="Arial"/>
                <a:cs typeface="Arial"/>
              </a:rPr>
              <a:t>• Launch a service before Québec counsel and practising-notary review</a:t>
            </a:r>
          </a:p>
        </p:txBody>
      </p:sp>
      <p:sp>
        <p:nvSpPr>
          <p:cNvPr id="9" name="">
            <a:extLst>
              <a:ext uri="{FF2B5EF4-FFF2-40B4-BE49-F238E27FC236}">
                <ns2:creationId id="{FAA5AEA5-A633-422F-92C5-21589C448099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0820400" cy="1104900"/>
          </a:xfrm>
          <a:prstGeom prst="roundRect">
            <a:avLst>
              <a:gd name="adj" fmla="val 6897"/>
            </a:avLst>
          </a:prstGeom>
          <a:solidFill>
            <a:srgbClr val="1D4772"/>
          </a:solidFill>
          <a:ln w="9525">
            <a:solidFill>
              <a:srgbClr val="234767"/>
            </a:solidFill>
          </a:ln>
        </p:spPr>
      </p:sp>
      <p:sp>
        <p:nvSpPr>
          <p:cNvPr id="10" name="">
            <a:extLst>
              <a:ext uri="{FF2B5EF4-FFF2-40B4-BE49-F238E27FC236}">
                <ns2:creationId id="{FCB03AED-8278-415C-9670-7B3AC7AA73DB}"/>
              </a:ext>
            </a:extLst>
          </p:cNvPr>
          <p:cNvSpPr>
            <a:spLocks noGrp="1"/>
          </p:cNvSpPr>
          <p:nvPr/>
        </p:nvSpPr>
        <p:spPr>
          <a:xfrm>
            <a:off x="990600" y="510540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0A4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A45D"/>
                </a:solidFill>
                <a:latin typeface="Arial"/>
                <a:ea typeface="Arial"/>
                <a:cs typeface="Arial"/>
              </a:rPr>
              <a:t>OPERATIONAL GATE</a:t>
            </a:r>
          </a:p>
        </p:txBody>
      </p:sp>
      <p:sp>
        <p:nvSpPr>
          <p:cNvPr id="11" name="">
            <a:extLst>
              <a:ext uri="{FF2B5EF4-FFF2-40B4-BE49-F238E27FC236}">
                <ns2:creationId id="{982A732F-6874-4C07-A762-79B1ABB25F95}"/>
              </a:ext>
            </a:extLst>
          </p:cNvPr>
          <p:cNvSpPr>
            <a:spLocks noGrp="1"/>
          </p:cNvSpPr>
          <p:nvPr/>
        </p:nvSpPr>
        <p:spPr>
          <a:xfrm>
            <a:off x="990600" y="5429250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6F8"/>
                </a:solidFill>
                <a:latin typeface="Arial"/>
                <a:ea typeface="Arial"/>
                <a:cs typeface="Arial"/>
              </a:rPr>
              <a:t>Each supported service requires written Québec legal, tax and professional review, approved contracts, and a notary-owned decision record before paid launch.</a:t>
            </a:r>
          </a:p>
        </p:txBody>
      </p:sp>
    </p:spTree>
    <p:extLst>
      <p:ext uri="{BB962C8B-B14F-4D97-AF65-F5344CB8AC3E}">
        <ns3:creationId val="18608167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Nota — Pre-seed</dc:title>
  <dc:subject>PptxGenJS Presentation</dc:subject>
  <dc:creator>Anthony Paquet</dc:creator>
  <cp:lastModifiedBy>Anthony Paquet</cp:lastModifiedBy>
  <cp:revision>1</cp:revision>
  <dcterms:created xsi:type="dcterms:W3CDTF">2026-08-16T21:56:00Z</dcterms:created>
  <dcterms:modified xsi:type="dcterms:W3CDTF">2026-08-16T21:56:00Z</dcterms:modified>
</cp:coreProperties>
</file>