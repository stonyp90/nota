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832ffc54d54e79" /><Relationship Type="http://schemas.openxmlformats.org/officeDocument/2006/relationships/extended-properties" Target="/docProps/app.xml" Id="R296d5ad2575c4889" /><Relationship Type="http://schemas.openxmlformats.org/officeDocument/2006/relationships/officeDocument" Target="/ppt/presentation.xml" Id="Rde34645c90b841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54ecb526f446d"/>
  </p:sldMasterIdLst>
  <p:notesMasterIdLst>
    <p:notesMasterId xmlns:r="http://schemas.openxmlformats.org/officeDocument/2006/relationships" r:id="Re46b0b3865954d7a"/>
  </p:notesMasterIdLst>
  <p:sldIdLst>
    <p:sldId xmlns:r="http://schemas.openxmlformats.org/officeDocument/2006/relationships" id="256" r:id="Rcfccdd7d46ed409a"/>
    <p:sldId xmlns:r="http://schemas.openxmlformats.org/officeDocument/2006/relationships" id="257" r:id="R40894b8e5e0f472b"/>
    <p:sldId xmlns:r="http://schemas.openxmlformats.org/officeDocument/2006/relationships" id="258" r:id="Re6905fb99299427f"/>
    <p:sldId xmlns:r="http://schemas.openxmlformats.org/officeDocument/2006/relationships" id="259" r:id="Ra1a8ee43e18748f3"/>
    <p:sldId xmlns:r="http://schemas.openxmlformats.org/officeDocument/2006/relationships" id="260" r:id="Raee84eb9710b4ea1"/>
    <p:sldId xmlns:r="http://schemas.openxmlformats.org/officeDocument/2006/relationships" id="261" r:id="Ra4fd1bb490b34b8a"/>
    <p:sldId xmlns:r="http://schemas.openxmlformats.org/officeDocument/2006/relationships" id="262" r:id="R2159f13f4c8246c0"/>
    <p:sldId xmlns:r="http://schemas.openxmlformats.org/officeDocument/2006/relationships" id="263" r:id="Re536d6199e64468c"/>
    <p:sldId xmlns:r="http://schemas.openxmlformats.org/officeDocument/2006/relationships" id="264" r:id="Rc88da59d3d804edd"/>
    <p:sldId xmlns:r="http://schemas.openxmlformats.org/officeDocument/2006/relationships" id="265" r:id="R1bb787620cf54192"/>
    <p:sldId xmlns:r="http://schemas.openxmlformats.org/officeDocument/2006/relationships" id="266" r:id="R42087be92bb0430a"/>
    <p:sldId xmlns:r="http://schemas.openxmlformats.org/officeDocument/2006/relationships" id="267" r:id="R4c1bb8a318bc4b17"/>
    <p:sldId xmlns:r="http://schemas.openxmlformats.org/officeDocument/2006/relationships" id="268" r:id="Rbcf2d340c7044a9f"/>
    <p:sldId xmlns:r="http://schemas.openxmlformats.org/officeDocument/2006/relationships" id="269" r:id="R1b8e76b6b6e54049"/>
    <p:sldId xmlns:r="http://schemas.openxmlformats.org/officeDocument/2006/relationships" id="270" r:id="R6287bdb162a74b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c393e1952e4306" /><Relationship Type="http://schemas.openxmlformats.org/officeDocument/2006/relationships/slideMaster" Target="/ppt/slideMasters/slideMaster1.xml" Id="R2ea54ecb526f446d" /><Relationship Type="http://schemas.openxmlformats.org/officeDocument/2006/relationships/notesMaster" Target="/ppt/notesMasters/notesMaster1.xml" Id="Re46b0b3865954d7a" /><Relationship Type="http://schemas.openxmlformats.org/officeDocument/2006/relationships/presProps" Target="/ppt/presProps.xml" Id="R41462a59b2b24cff" /><Relationship Type="http://schemas.openxmlformats.org/officeDocument/2006/relationships/viewProps" Target="/ppt/viewProps.xml" Id="R970116435c4f40b0" /><Relationship Type="http://schemas.openxmlformats.org/officeDocument/2006/relationships/tableStyles" Target="/ppt/tableStyles.xml" Id="R635f67b7b9964f41" /><Relationship Type="http://schemas.openxmlformats.org/officeDocument/2006/relationships/slide" Target="/ppt/slides/slide1.xml" Id="Rcfccdd7d46ed409a" /><Relationship Type="http://schemas.openxmlformats.org/officeDocument/2006/relationships/slide" Target="/ppt/slides/slide2.xml" Id="R40894b8e5e0f472b" /><Relationship Type="http://schemas.openxmlformats.org/officeDocument/2006/relationships/slide" Target="/ppt/slides/slide3.xml" Id="Re6905fb99299427f" /><Relationship Type="http://schemas.openxmlformats.org/officeDocument/2006/relationships/slide" Target="/ppt/slides/slide4.xml" Id="Ra1a8ee43e18748f3" /><Relationship Type="http://schemas.openxmlformats.org/officeDocument/2006/relationships/slide" Target="/ppt/slides/slide5.xml" Id="Raee84eb9710b4ea1" /><Relationship Type="http://schemas.openxmlformats.org/officeDocument/2006/relationships/slide" Target="/ppt/slides/slide6.xml" Id="Ra4fd1bb490b34b8a" /><Relationship Type="http://schemas.openxmlformats.org/officeDocument/2006/relationships/slide" Target="/ppt/slides/slide7.xml" Id="R2159f13f4c8246c0" /><Relationship Type="http://schemas.openxmlformats.org/officeDocument/2006/relationships/slide" Target="/ppt/slides/slide8.xml" Id="Re536d6199e64468c" /><Relationship Type="http://schemas.openxmlformats.org/officeDocument/2006/relationships/slide" Target="/ppt/slides/slide9.xml" Id="Rc88da59d3d804edd" /><Relationship Type="http://schemas.openxmlformats.org/officeDocument/2006/relationships/slide" Target="/ppt/slides/slide10.xml" Id="R1bb787620cf54192" /><Relationship Type="http://schemas.openxmlformats.org/officeDocument/2006/relationships/slide" Target="/ppt/slides/slide11.xml" Id="R42087be92bb0430a" /><Relationship Type="http://schemas.openxmlformats.org/officeDocument/2006/relationships/slide" Target="/ppt/slides/slide12.xml" Id="R4c1bb8a318bc4b17" /><Relationship Type="http://schemas.openxmlformats.org/officeDocument/2006/relationships/slide" Target="/ppt/slides/slide13.xml" Id="Rbcf2d340c7044a9f" /><Relationship Type="http://schemas.openxmlformats.org/officeDocument/2006/relationships/slide" Target="/ppt/slides/slide14.xml" Id="R1b8e76b6b6e54049" /><Relationship Type="http://schemas.openxmlformats.org/officeDocument/2006/relationships/slide" Target="/ppt/slides/slide15.xml" Id="R6287bdb162a74b8b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33F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0233F"/>
                </a:solidFill>
                <a:latin typeface="Cambria"/>
              </a:rPr>
              <a:t>SAM — the three bounded services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>
              <a:srgbClr val="1B3A63"/>
            </a:solidFill>
            <a:effectLst/>
          </c:spPr>
          <c:invertIfNegative val="0"/>
          <c:dLbls>
            <c:numFmt formatCode="$#,##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3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Wills + mandates
~200,000 acts</c:v>
                </c:pt>
                <c:pt idx="1">
                  <c:v>Refinancing
~50,000 acts</c:v>
                </c:pt>
                <c:pt idx="2">
                  <c:v>Procurations
~50,000 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023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653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33F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0233F"/>
                </a:solidFill>
                <a:latin typeface="Cambria"/>
              </a:rPr>
              <a:t>GMV and net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>
              <a:srgbClr val="DDE5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>
              <a:srgbClr val="E5A13A"/>
            </a:solidFill>
            <a:ln w="50800" cap="flat">
              <a:solidFill>
                <a:srgbClr val="E5A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E5A13A"/>
              </a:solidFill>
              <a:ln w="9525" cap="flat">
                <a:solidFill>
                  <a:srgbClr val="E5A13A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3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GMV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4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Net revenue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7A17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536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233F"/>
              </a:solidFill>
              <a:effectLst/>
            </c:spPr>
          </c:dPt>
          <c:dPt>
            <c:idx val="1"/>
            <c:bubble3D val="0"/>
            <c:spPr>
              <a:solidFill>
                <a:srgbClr val="E5A13A"/>
              </a:solidFill>
              <a:effectLst/>
            </c:spPr>
          </c:dPt>
          <c:dPt>
            <c:idx val="2"/>
            <c:bubble3D val="0"/>
            <c:spPr>
              <a:solidFill>
                <a:srgbClr val="1B3A63"/>
              </a:solidFill>
              <a:effectLst/>
            </c:spPr>
          </c:dPt>
          <c:dPt>
            <c:idx val="3"/>
            <c:bubble3D val="0"/>
            <c:spPr>
              <a:solidFill>
                <a:srgbClr val="4E6E96"/>
              </a:solidFill>
              <a:effectLst/>
            </c:spPr>
          </c:dPt>
          <c:dPt>
            <c:idx val="4"/>
            <c:bubble3D val="0"/>
            <c:spPr>
              <a:solidFill>
                <a:srgbClr val="2E7D6B"/>
              </a:solidFill>
              <a:effectLst/>
            </c:spPr>
          </c:dPt>
          <c:dPt>
            <c:idx val="5"/>
            <c:bubble3D val="0"/>
            <c:spPr>
              <a:solidFill>
                <a:srgbClr val="9AAABF"/>
              </a:solidFill>
              <a:effectLst/>
            </c:spPr>
          </c:dPt>
          <c:dPt>
            <c:idx val="6"/>
            <c:bubble3D val="0"/>
            <c:spPr>
              <a:solidFill>
                <a:srgbClr val="B87A17"/>
              </a:solidFill>
              <a:effectLst/>
            </c:spPr>
          </c:dPt>
          <c:dPt>
            <c:idx val="7"/>
            <c:bubble3D val="0"/>
            <c:spPr>
              <a:solidFill>
                <a:srgbClr val="C3CED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536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5dfa362f6a4d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Nota Editorial">
      <a:dk1>
        <a:srgbClr val="162A32"/>
      </a:dk1>
      <a:lt1>
        <a:srgbClr val="FCFBF8"/>
      </a:lt1>
      <a:dk2>
        <a:srgbClr val="365B62"/>
      </a:dk2>
      <a:lt2>
        <a:srgbClr val="E6ECE9"/>
      </a:lt2>
      <a:accent1>
        <a:srgbClr val="466C72"/>
      </a:accent1>
      <a:accent2>
        <a:srgbClr val="C9AB6D"/>
      </a:accent2>
      <a:accent3>
        <a:srgbClr val="B87569"/>
      </a:accent3>
      <a:accent4>
        <a:srgbClr val="91B2B0"/>
      </a:accent4>
      <a:accent5>
        <a:srgbClr val="AD9567"/>
      </a:accent5>
      <a:accent6>
        <a:srgbClr val="365B62"/>
      </a:accent6>
      <a:hlink>
        <a:srgbClr val="466C72"/>
      </a:hlink>
      <a:folHlink>
        <a:srgbClr val="6E593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Nota Editori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741ae38e1041f7" /><Relationship Type="http://schemas.openxmlformats.org/officeDocument/2006/relationships/notesMaster" Target="/ppt/notesMasters/notesMaster1.xml" Id="R21b13facab6f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8f181e4f1c43a3" /><Relationship Type="http://schemas.openxmlformats.org/officeDocument/2006/relationships/notesMaster" Target="/ppt/notesMasters/notesMaster1.xml" Id="R97d90db0a59940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907dc02b01419f" /><Relationship Type="http://schemas.openxmlformats.org/officeDocument/2006/relationships/notesMaster" Target="/ppt/notesMasters/notesMaster1.xml" Id="Rd641ce47a3ef44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2619a03c264ee9" /><Relationship Type="http://schemas.openxmlformats.org/officeDocument/2006/relationships/notesMaster" Target="/ppt/notesMasters/notesMaster1.xml" Id="R34bb03b976224c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324d2965084bfe" /><Relationship Type="http://schemas.openxmlformats.org/officeDocument/2006/relationships/notesMaster" Target="/ppt/notesMasters/notesMaster1.xml" Id="R996475fd4e3848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d5b0d30f314371" /><Relationship Type="http://schemas.openxmlformats.org/officeDocument/2006/relationships/notesMaster" Target="/ppt/notesMasters/notesMaster1.xml" Id="R7153ee3efec74f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0be9702c6444fc" /><Relationship Type="http://schemas.openxmlformats.org/officeDocument/2006/relationships/notesMaster" Target="/ppt/notesMasters/notesMaster1.xml" Id="R9f0c0da9e00d42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b3cd7a66aa4520" /><Relationship Type="http://schemas.openxmlformats.org/officeDocument/2006/relationships/notesMaster" Target="/ppt/notesMasters/notesMaster1.xml" Id="Rcdb38581f9c645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1d7cdd68f94731" /><Relationship Type="http://schemas.openxmlformats.org/officeDocument/2006/relationships/notesMaster" Target="/ppt/notesMasters/notesMaster1.xml" Id="R0496e8d5dd274d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3e6808b25943be" /><Relationship Type="http://schemas.openxmlformats.org/officeDocument/2006/relationships/notesMaster" Target="/ppt/notesMasters/notesMaster1.xml" Id="Rea1199e9c41b4c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18e1dfd1784dad" /><Relationship Type="http://schemas.openxmlformats.org/officeDocument/2006/relationships/notesMaster" Target="/ppt/notesMasters/notesMaster1.xml" Id="R4a44545df0a143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86fb5d0b314313" /><Relationship Type="http://schemas.openxmlformats.org/officeDocument/2006/relationships/notesMaster" Target="/ppt/notesMasters/notesMaster1.xml" Id="R55b61fb7eaff44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2c6f97057b439f" /><Relationship Type="http://schemas.openxmlformats.org/officeDocument/2006/relationships/notesMaster" Target="/ppt/notesMasters/notesMaster1.xml" Id="R2087d277bbc644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8a7d211f2a42e4" /><Relationship Type="http://schemas.openxmlformats.org/officeDocument/2006/relationships/notesMaster" Target="/ppt/notesMasters/notesMaster1.xml" Id="Re6ff2ca253f749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e35ca6fcce4496" /><Relationship Type="http://schemas.openxmlformats.org/officeDocument/2006/relationships/notesMaster" Target="/ppt/notesMasters/notesMaster1.xml" Id="R8ad72aec24e548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Québec deregulated notary fees in 1991 and never built a market. The product is already built and deployed. This round funds finding out whether it clears.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insight: deregulation without a market. Fees are legally free but structurally blind.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two-sided failure. The punchline is the last line: nobody sells time.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is derived from days-to-date. Floors and the 10x cap live in the domain package and are asserted by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pre-seed money funds the possibility that a team can build the thing. Here the thing is built. The money buys 12 months of undivided attention on distribution.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Bill 34 point is the most important: the legal rails already exist, which removes years and hundreds of thousands from Phase 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CNQ Registre des dispositions testamentaires (215,576 registrations 2017-18), CMHC renewal data, APCIQ 90,369 residential sales 2024.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this in the room. The current code implements the commission model and flags itself. Fixing it before launch is milestone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metric governs Phase 1: fill rate. Below 40% the market is not clearing; above 60% the flywheel is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strategic core of the deck. Do not let it be heard as a regulatory bet — it is the opposite. The law already permits this; we remove the reason notaries decline.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US-platform row matters: it explains why a well-funded American entrant is not the threat people assume.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Y3 = 3.7% of addressable act volume. Series A trigger is exiting Y2 at a $300-500K ARR run-rate with province-wide liquidity proven.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 9-12 follow-on: IQ's Fonds Impulsion invests $250K-1M but requires a lead investor and an accelerator referral. Securing an angel lead here is the bridge.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Investors reward founders who name their own kill criteria. Lead with this if the room is skeptical.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founder point: the platform is built, tested and deployed. This buys twelve months of undivided attention on the parts code cannot solve.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de2360d26485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40b35a2a4f4a15" /><Relationship Type="http://schemas.openxmlformats.org/officeDocument/2006/relationships/slideLayout" Target="/ppt/slideLayouts/slideLayout1.xml" Id="R848de66c11184b5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8de66c11184b5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864b390014f6e" /><Relationship Type="http://schemas.openxmlformats.org/officeDocument/2006/relationships/image" Target="/ppt/media/image.png" Id="Re5e8a34b3d994357" /><Relationship Type="http://schemas.openxmlformats.org/officeDocument/2006/relationships/notesSlide" Target="/ppt/notesSlides/notesSlide1.xml" Id="R83152467de0b45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89f66b1c84c64" /><Relationship Type="http://schemas.openxmlformats.org/officeDocument/2006/relationships/notesSlide" Target="/ppt/notesSlides/notesSlide2.xml" Id="Rf8d9c48d4b4f48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c0c95149d486f" /><Relationship Type="http://schemas.openxmlformats.org/officeDocument/2006/relationships/notesSlide" Target="/ppt/notesSlides/notesSlide3.xml" Id="Rd01b4ac336d446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4997461704bcc" /><Relationship Type="http://schemas.openxmlformats.org/officeDocument/2006/relationships/notesSlide" Target="/ppt/notesSlides/notesSlide4.xml" Id="R4b1bef834daa43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6d3dd068f4ae2" /><Relationship Type="http://schemas.openxmlformats.org/officeDocument/2006/relationships/notesSlide" Target="/ppt/notesSlides/notesSlide5.xml" Id="R7a966123406942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58165045448e3" /><Relationship Type="http://schemas.openxmlformats.org/officeDocument/2006/relationships/notesSlide" Target="/ppt/notesSlides/notesSlide6.xml" Id="R660ac1fe59244c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01737b76844e0" /><Relationship Type="http://schemas.openxmlformats.org/officeDocument/2006/relationships/chart" Target="/ppt/charts/chart1.xml" Id="Rcb8d3d5b582446a3" /><Relationship Type="http://schemas.openxmlformats.org/officeDocument/2006/relationships/notesSlide" Target="/ppt/notesSlides/notesSlide7.xml" Id="Rf84d813e5c3f47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db7ee7c8e4f2a" /><Relationship Type="http://schemas.openxmlformats.org/officeDocument/2006/relationships/notesSlide" Target="/ppt/notesSlides/notesSlide8.xml" Id="R2fffbcca3b8c47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7916cb86547e1" /><Relationship Type="http://schemas.openxmlformats.org/officeDocument/2006/relationships/notesSlide" Target="/ppt/notesSlides/notesSlide9.xml" Id="R9de8f2b317d145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d5c81c3a7430f" /><Relationship Type="http://schemas.openxmlformats.org/officeDocument/2006/relationships/notesSlide" Target="/ppt/notesSlides/notesSlide10.xml" Id="Rf5640a3520ec41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a31ed071c447b" /><Relationship Type="http://schemas.openxmlformats.org/officeDocument/2006/relationships/notesSlide" Target="/ppt/notesSlides/notesSlide11.xml" Id="R2fb9dea319584b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9d88a422d4138" /><Relationship Type="http://schemas.openxmlformats.org/officeDocument/2006/relationships/chart" Target="/ppt/charts/chart2.xml" Id="Rda701e75999440a8" /><Relationship Type="http://schemas.openxmlformats.org/officeDocument/2006/relationships/notesSlide" Target="/ppt/notesSlides/notesSlide12.xml" Id="R21c29dac8c2a43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c2adb8780482a" /><Relationship Type="http://schemas.openxmlformats.org/officeDocument/2006/relationships/chart" Target="/ppt/charts/chart3.xml" Id="R395a063ef0d3498d" /><Relationship Type="http://schemas.openxmlformats.org/officeDocument/2006/relationships/notesSlide" Target="/ppt/notesSlides/notesSlide13.xml" Id="R73cb8eea720941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131366bc74dfc" /><Relationship Type="http://schemas.openxmlformats.org/officeDocument/2006/relationships/notesSlide" Target="/ppt/notesSlides/notesSlide14.xml" Id="R25662272deb547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6f3eef62247d8" /><Relationship Type="http://schemas.openxmlformats.org/officeDocument/2006/relationships/notesSlide" Target="/ppt/notesSlides/notesSlide15.xml" Id="R6e226d9cdc064186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SAM — the three bounded services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62A32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 xmlns:a="http://schemas.openxmlformats.org/drawingml/2006/main">
              <a:srgbClr val="466C72"/>
            </a:solidFill>
          </c:spPr>
          <c:dLbls>
            <c:numFmt formatCode="$#,##0&quot;M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rgbClr val="162A32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Wills + mandates
~200,000 acts</c:v>
                </c:pt>
                <c:pt idx="1">
                  <c:v>Refinancing
~50,000 acts</c:v>
                </c:pt>
                <c:pt idx="2">
                  <c:v>Procurations
~50,000 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0" i="0" u="none">
                  <a:solidFill>
                    <a:srgbClr val="162A32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7C8D8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536D70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xmlns:a="http://schemas.openxmlformats.org/drawingml/2006/main" w="12700">
            <a:solidFill>
              <a:srgbClr val="7C8D8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GMV and net revenue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62A32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 xmlns:a="http://schemas.openxmlformats.org/drawingml/2006/main">
              <a:srgbClr val="CBD8D5"/>
            </a:solidFill>
          </c:spPr>
          <c:invertIfNegative val="0"/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 xmlns:a="http://schemas.openxmlformats.org/drawingml/2006/main">
              <a:srgbClr val="C9AB6D"/>
            </a:solidFill>
            <a:ln xmlns:a="http://schemas.openxmlformats.org/drawingml/2006/main" w="50800">
              <a:solidFill>
                <a:srgbClr val="C9AB6D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C9AB6D"/>
              </a:solidFill>
              <a:ln xmlns:a="http://schemas.openxmlformats.org/drawingml/2006/main" w="9525">
                <a:solidFill>
                  <a:srgbClr val="C9AB6D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7C8D8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536D70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6EC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GMV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7C8D8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5B6C72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Net revenue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7C8D8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AD9567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7C8D8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  <c:lblAlgn val="ctr"/>
        <c:noMultiLvlLbl val="1"/>
      </c:cat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536D70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chart>
    <c:autoTitleDeleted val="1"/>
    <c:plotArea>
      <c:doughnutChart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 w="9525">
              <a:solidFill>
                <a:srgbClr val="FCFBF8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162A32"/>
              </a:solidFill>
            </c:spPr>
          </c:dPt>
          <c:dPt>
            <c:idx val="1"/>
            <c:spPr>
              <a:solidFill xmlns:a="http://schemas.openxmlformats.org/drawingml/2006/main">
                <a:srgbClr val="C9AB6D"/>
              </a:solidFill>
            </c:spPr>
          </c:dPt>
          <c:dPt>
            <c:idx val="2"/>
            <c:spPr>
              <a:solidFill xmlns:a="http://schemas.openxmlformats.org/drawingml/2006/main">
                <a:srgbClr val="466C72"/>
              </a:solidFill>
            </c:spPr>
          </c:dPt>
          <c:dPt>
            <c:idx val="3"/>
            <c:spPr>
              <a:solidFill xmlns:a="http://schemas.openxmlformats.org/drawingml/2006/main">
                <a:srgbClr val="466C72"/>
              </a:solidFill>
            </c:spPr>
          </c:dPt>
          <c:dPt>
            <c:idx val="4"/>
            <c:spPr>
              <a:solidFill xmlns:a="http://schemas.openxmlformats.org/drawingml/2006/main">
                <a:srgbClr val="466C72"/>
              </a:solidFill>
            </c:spPr>
          </c:dPt>
          <c:dPt>
            <c:idx val="5"/>
            <c:spPr>
              <a:solidFill xmlns:a="http://schemas.openxmlformats.org/drawingml/2006/main">
                <a:srgbClr val="8FA5A5"/>
              </a:solidFill>
            </c:spPr>
          </c:dPt>
          <c:dPt>
            <c:idx val="6"/>
            <c:spPr>
              <a:solidFill xmlns:a="http://schemas.openxmlformats.org/drawingml/2006/main">
                <a:srgbClr val="AD9567"/>
              </a:solidFill>
            </c:spPr>
          </c:dPt>
          <c:dPt>
            <c:idx val="7"/>
            <c:spPr>
              <a:solidFill xmlns:a="http://schemas.openxmlformats.org/drawingml/2006/main">
                <a:srgbClr val="CBD8D5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1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536D70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46C8AB-650B-4330-956B-44D05922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10820095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Nota</a:t>
            </a:r>
            <a:endParaRPr sz="7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FFEEA9-FAED-4DEC-AB6F-EFE55A39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8778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i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Pricing time in the Québec notarial market.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10D138-75EC-4368-9B49-24EBB1C7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509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Québec abolished mandatory notary tariffs in 1991. Thirty-five years later, no price discovery mechanism has ever existed.</a:t>
            </a:r>
            <a:endParaRPr sz="145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Nota is that mechanism — a public calendar where the market prices urgency.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F8F4EFF-AF50-40F2-8B11-E1DF3AC3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28346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B6D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7AB8854-F5EC-4355-93C7-E72A1058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Pre-seed · $250,000 CAD · 12 months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Anthony Paquet · anthonypaquet1508@gmail.com · August 2026</a:t>
            </a:r>
            <a:endParaRPr sz="1250"/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8a34b3d994357"/>
          <a:stretch xmlns:a="http://schemas.openxmlformats.org/drawingml/2006/main"/>
        </p:blipFill>
        <p:spPr>
          <a:xfrm xmlns:a="http://schemas.openxmlformats.org/drawingml/2006/main">
            <a:off x="685800" y="138112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</p:spTree>
    <p:extLst>
      <p:ext uri="{BB962C8B-B14F-4D97-AF65-F5344CB8AC3E}">
        <p14:creationId xmlns:p14="http://schemas.microsoft.com/office/powerpoint/2010/main" val="1555325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6AAA81-5014-462A-ACD7-812F0925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A deregulated market that never got a price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C8AA0C-A3EF-43BC-B3AA-3BEDA082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Fees have been free-floating since 1991. Discovery still happens by phone call.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5F5CC7-DCD0-402B-8CA9-2E0DFE02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1991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3C8394C-7F07-4C0B-8868-5CDB4EB1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Mandatory notarial tariffs abolished. Every notary has set their own fees ever since.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D0A2DBD-EA5C-41C6-81DC-BEA8DFA1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~3,900</a:t>
            </a:r>
            <a:endParaRPr sz="4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70B4481-FB4A-4D9A-8E91-3709EA0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Practising notaries in Québec, each with unsold gaps in their calendar.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DC10E5-90A0-428E-A8BF-CBE03D8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~50%</a:t>
            </a:r>
            <a:endParaRPr sz="4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0CB5A7F-5F3F-40C5-9FA1-2EE18D7D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of Québec adults have no will. Among 18–34 year-olds, about 70%.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118A89-E07A-4ABD-9373-45C2F754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91640"/>
            <a:ext cx="21945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$0</a:t>
            </a:r>
            <a:endParaRPr sz="4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F1ADEA4-314A-4542-8ACD-19A56F8C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478024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spent by anyone, in 35 years, building the venue where these two meet.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D3A3D9B-D024-403C-8E1C-CB4EA9B6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0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466C7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76883-BD4D-4989-89FE-29F4698D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C9AB6D"/>
                </a:solidFill>
                <a:latin typeface="Calibri"/>
                <a:ea typeface="Calibri"/>
                <a:cs typeface="Calibri"/>
              </a:rPr>
              <a:t>The gap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F53EEB-74A4-4366-9129-9DB06DC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2272"/>
            <a:ext cx="9875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client who needs a signature next Tuesday cannot learn what next Tuesday costs.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notary with an empty Tuesday has nowhere to sell it.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FF6FE7C-A960-4D1C-88BC-5751F8F1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9240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Real price dispersion. Real supply elasticity. Real demand urgency. No mechanism connecting any of it.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750480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9DB6DD-5726-46F9-A44A-D396816B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Two sides, both stuck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65262C-B6B6-4897-89C7-63B0685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Neither can find the other, and neither can price the thing that actually varies: the date.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43A4C3-EE97-4BA5-A021-A7D6F333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4F2A32-C126-41E5-9D74-D49CDB95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The client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DC5BD48-C86D-4929-BCE3-585D1E48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Price discovery costs a sequence of phone calls during business hours.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Published ranges are wide — a will and mandate run 700–1,000 $ — and you learn where you land only after you call.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Urgency has no price. There is no way to pay to jump a three-week queue.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So the act does not happen. Half of Québec adults have no will.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24C8485-7484-43F9-86D5-E7CF5765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D9E9E4-80F8-4D24-949E-FE3F8670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The notary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91ACC75-99DA-4EAA-BD8A-79F8396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A hole in the calendar is unrecoverable inventory — it expires like an airline seat.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No channel exists to sell short-notice availability. A cancelled Thursday cannot be listed anywhere.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Client acquisition is referral and signage.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Buying leads is ineffective; sharing fees is prohibited by the Code de déontologie.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0C540F3-1892-4EE1-AB62-4CB67361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AD9567"/>
                </a:solidFill>
                <a:latin typeface="Cambria"/>
                <a:ea typeface="Cambria"/>
                <a:cs typeface="Cambria"/>
              </a:rPr>
              <a:t>Nota sells when, not what. Every alternative prices a document; Nota prices a date.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65559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3A76F-10DE-4D3F-BEBB-3C032493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The mechanism: the market prices urgency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127FB6-FDD5-42C6-B71E-C9F6543E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The client posts a date and an amount. The tier — and the premium — derive from how close that date is.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602B8B-B0FD-405C-89B0-6C27E6FE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E278470-16AB-4D09-B69F-4DF766B3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93A7B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6BF3F85-09F6-4E2D-AAAF-42266496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339210-2F92-4158-AA58-AFB76B5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45920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15+ days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66262A-A195-4E53-80E3-291462D8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1.0× – 1.2×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FB0113-E457-41A0-B43B-28400540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4BF0223-D76D-437D-BB94-5055A483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C93B5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44BF9A7-44C3-469C-9987-5BC29677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rapide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5A39E51-C710-41B8-8FB5-025D3554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95728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8–14 days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484AA1F-D742-48E4-A475-DAFBF56A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95728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1.2× – 1.5×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AF90DE2-5E44-4E89-975C-AE929F2D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5536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7957F4-925F-48A5-91BE-A744B8B3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9AB6D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9DB10AF-DEE1-4E55-9F8E-293541D5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prioritaire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66D2BFE-22E2-48C6-A4F1-D8A33C3A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5536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4–7 days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9A07191-02F4-4C0E-BF00-A83F90D3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45536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1.6× – 2.2×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109DD01-0E07-45D3-B90F-86C7473C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344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5E33D26-5665-4088-8FC4-1709829F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AD956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F1299DF-8F3E-4CD1-8207-C2FF0A7A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urgence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67278D3-001F-4601-ACE6-1B6B5EC1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344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2–3 days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4B922A1-D8F9-4CDF-945A-7B523BE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95344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AD9567"/>
                </a:solidFill>
                <a:latin typeface="Cambria"/>
                <a:ea typeface="Cambria"/>
                <a:cs typeface="Cambria"/>
              </a:rPr>
              <a:t>2.5× – 4.0×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41B8903-BCCD-4446-8981-C9EE3C9D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5152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DC9E9C0-474D-4E29-BDD6-0A5A58AC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B87569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2D50AE2-E778-4955-A867-31155311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extreme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88D1B4-8709-49E9-A65C-1C906156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515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0–1 day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0D0F9D6-AF22-4D73-823C-BC2AFDAF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645152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B87569"/>
                </a:solidFill>
                <a:latin typeface="Cambria"/>
                <a:ea typeface="Cambria"/>
                <a:cs typeface="Cambria"/>
              </a:rPr>
              <a:t>4.0× – 10.0×</a:t>
            </a:r>
            <a:endParaRPr sz="16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C93543E-AD18-4F84-84AF-0F26535E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645920"/>
            <a:ext cx="4251960" cy="3749040"/>
          </a:xfrm>
          <a:prstGeom xmlns:a="http://schemas.openxmlformats.org/drawingml/2006/main" prst="roundRect">
            <a:avLst>
              <a:gd name="adj" fmla="val 2195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466C7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F6E42D4-3BBA-4506-A6D0-2FA6EC1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2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C9AB6D"/>
                </a:solidFill>
                <a:latin typeface="Calibri"/>
                <a:ea typeface="Calibri"/>
                <a:cs typeface="Calibri"/>
              </a:rPr>
              <a:t>Guardrails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A6A38C2-3F6B-489D-8731-794F31E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286000"/>
            <a:ext cx="3566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Floors. Every offer must clear a market-researched prix de départ per service.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Hard 10× cap. A real auction, not a panic tax.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Server-authoritative. The browser and the server load the same rules module, so the displayed price and the enforced price cannot drift.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Anonymity default-on, enforced server-side.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C53B63-EC73-46C4-BBA4-348783F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Three services at launch, each with a bounded intake a client can complete alone: testament + mandat (650 $) · procuration (295 $) · refinancement (2 000 $)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90146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2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015128-1407-4A9C-B1AD-F3C4BA16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This raise does not fund a build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B75FB5-58D9-4B04-BF8F-5CF9327D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The platform is written, tested and deployed. ~21,000 lines, built solo.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7ED6A86-B247-438D-9334-332F6AE7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E0B17AA-CA47-4874-8F7C-97CC168F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Domain core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8AB11B-ADA6-4BFB-94DD-2760E6B4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Pure business rules — prices, tiers, cap, validation, dynamic pricing. Zero dependencies. Asserted by tests.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1BA0FDA-8D6C-49D5-A655-2695B78B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D1918B-EBF7-45AB-BF6F-AEC4AD92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API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FCFE962-7EA8-4133-9588-E0F6FEF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Lambda + single-table DynamoDB, hexagonal ports/adapters. Server revalidates every offer.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2997DF4-7A35-4785-89DA-1F952613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D33D6F2-B60C-4111-801D-53EDC33E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Web app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C93204-74BA-4412-87E2-4B31478D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Public carnet, offer flow, dossier intake, Québec map, notary console. Zero runtime dependencies.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7877D41-5E34-4B86-8779-112BBB87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F61BD60-15C0-4137-A021-7884FEAD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Payments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223583B-EA30-416E-8CE9-7863C55B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Stripe — card authorized at post, captured on completion, connected accounts, reconciliation.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B891A53-D3B8-4567-B415-71910E3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BCEB96C-3F1D-41A7-A63F-33A0FF60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Notary side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6147B23-B1C3-4F7A-B27A-D6F6791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Auth, sign-up gate, lead-delivery preferences, ICS calendar feed, earnings roll-up.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53D3353-E721-440D-BCC9-B2D396B4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C5F3BE-90B4-4A10-8FA0-B6FAADC9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Ops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56F2F8A-CEBA-4C0E-90B6-B3A1A3B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Admin console, transactional email + scheduled reminders, analytics with drift healing.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769C2ED-59AE-44E1-B4CF-56A912FB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BF5F0DA-036B-4AAD-B59E-45630FC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Infrastructure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EC3647B-E93C-40EB-9BF2-1932041F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Terraform: S3 + CloudFront OAC + IAM-authed Lambda + DynamoDB, live in ca-central-1. Idle cost ≈ $0.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EF97DAE-C5AB-4C82-80BC-AFD37659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793CC0-5738-479C-85BC-B61E7205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Quality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5EA32A1-5A31-4C0A-BABC-B5B0EE3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Unit, jsdom and Cucumber BDD suites. CI on every push. Seven architecture decision records.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52E052-6C60-4406-9623-28F646A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Law 25 compliance is designed in, not bolted on: Canadian data residency, anonymity default-on, consent at collection.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949007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C87AC4E-88DD-4FA9-84BF-977CA8C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Why now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56C635-8CE5-4556-BDEA-2BA2B827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Five things converged, and none of them are under our control — which is the point.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4B37BCB-7026-4A52-A242-5F353411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B6D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826856-7FA2-43CB-AEB0-85111B21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C40088-36C6-4204-8EB5-3D5C080E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62763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Remote acts became law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186CE7-DA3A-4817-A427-1F91F017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934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Bill 34 made the acte notarié technologique permanent in October 2023. The rails exist and are sanctioned. We are not betting on legislation.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4D46175-BED4-4DCA-80CD-486DCC8F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2BBB701-68D6-4D2A-8E5A-5620AC0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14C3B5-68A5-4F48-AD48-E852E0EE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49631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35 years of blind pricing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4F555A4-196C-4FC8-BB86-FB68AFC5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7802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Fees free since 1991, no discovery mechanism ever built. The gap does not close on its own.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1F43011-7368-46F2-8C96-B309C7E4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F6D5F5-70AE-4675-8390-A8156D08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2B61FCE-16B7-4EE4-9782-E9F8D738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36499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The renewal wall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8B6047-025B-443F-B46B-A4D72D6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~1.2M Canadian fixed-rate mortgages renewing in 2025, driving volume into the highest-value service on the platform.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D81E62A-D355-45E1-B3C0-928DE2CD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6BC20C1-FDE6-464B-9C04-D886948C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D5930AC-65F7-4661-904A-9B86D97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23367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The wealth transfer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D4BB044-8EE4-4C14-A018-FDE7B463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1538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The largest intergenerational transfer in Canadian history, against a population where half have no will.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BEC9E2E-557A-4352-B57A-1613AFC5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9F11D1C-D224-4C6B-AF1E-554F2B96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D467ED9-44D4-4D6D-A8F0-4B0B6EDE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510235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Access-to-justice pressure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0C28019-4495-4E1F-A24C-F1046228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08406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Notary coverage is uneven across the regions — and "distance from an available notary" is a statutorily recognised ground for signing remotely.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4192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23435A-795D-44BB-BFF6-AD194560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Market — bottom up, Québec only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D9735D-F164-4E1D-A4F1-F44EDF5B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Year 3 needs 3.7% of the addressable act volume. The plan does not require winning the market.</a:t>
            </a:r>
            <a:endParaRPr sz="1400"/>
          </a:p>
        </p:txBody>
      </p:sp>
      <p:graphicFrame>
        <p:nvGraphicFramePr>
          <p:cNvPr id="21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943600" cy="306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8d3d5b582446a3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5F1F183-D814-46E0-A67C-5EDDA1CF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5120640" cy="3063240"/>
          </a:xfrm>
          <a:prstGeom xmlns:a="http://schemas.openxmlformats.org/drawingml/2006/main" prst="roundRect">
            <a:avLst>
              <a:gd name="adj" fmla="val 268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2174B9D-B94D-41E6-9039-48D08304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051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TAM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7339F34-051D-428A-85AC-F6D829F5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8216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~$1.1–1.2B</a:t>
            </a:r>
            <a:endParaRPr sz="2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0A7B793-DBA0-4D0B-A264-AD9EB42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0552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Annual professional fees billed by ~3,900 Québec notaries.</a:t>
            </a:r>
            <a:endParaRPr sz="11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6614723-5784-4524-98AA-11C7624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9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SAM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B0C2804-3ADE-4A06-8AA1-FF0AD58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6624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~$245M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37C1653-4297-46A4-A41E-D37A1228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89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~300,000 acts/year across the three bounded services.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98FC1C8-7680-4746-9EC3-D3A05EE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SOM (Y3)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B3B9E74-BF1C-468D-9B8D-C1DAA340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85032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11,000 acts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F89EA50-92C3-4C64-95EF-AB027CDB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736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3.7% of SAM volume · $16.0M GMV · $1.6M net revenue.</a:t>
            </a:r>
            <a:endParaRPr sz="11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0FB19A6-B0E8-4349-9BE6-5925092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2633C9E-12D4-482E-BE5C-EED388A0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01091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Beyond the three services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441466E-9366-4ADB-9915-714F932C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285232"/>
            <a:ext cx="10012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Residential closings alone run ~90,000 transactions a year in Québec at 1,500–3,500 $ — a single category larger than the entire current SAM. Beyond Québec, the civil-law notariat spans ~90 states of the International Union of Notaries, all built on the same instrument. That is where a 100× claim actually lives.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540518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F6CABB-0C3E-4126-A65B-F654BE0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Business model — and the constraint that shapes it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1AE3A7-BE5F-4295-9C71-C642F06A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Québec's Code de déontologie forbids sharing a notary's professional fee with a non-notaire. That is a design input, not a footnote.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DCBF4F-9F17-4266-8DF1-379386D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F6E6E2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F7258C-AB76-4437-BE38-71C6EBA3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87569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F963416-27C5-4F7C-AB05-CF1CC1A9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COMMISSION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DDDA94-F3B5-4E20-A68B-BEEB96D1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8E5B53"/>
                </a:solidFill>
                <a:latin typeface="Cambria"/>
                <a:ea typeface="Cambria"/>
                <a:cs typeface="Cambria"/>
              </a:rPr>
              <a:t>Deducted from the notary's fee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D851FAA-72E3-4AE9-8276-AFB85E22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8E5B53"/>
                </a:solidFill>
                <a:latin typeface="Calibri"/>
                <a:ea typeface="Calibri"/>
                <a:cs typeface="Calibri"/>
              </a:rPr>
              <a:t>Client pays 650 $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8E5B53"/>
                </a:solidFill>
                <a:latin typeface="Calibri"/>
                <a:ea typeface="Calibri"/>
                <a:cs typeface="Calibri"/>
              </a:rPr>
              <a:t>Notary receives 585 $  (90%)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8E5B53"/>
                </a:solidFill>
                <a:latin typeface="Calibri"/>
                <a:ea typeface="Calibri"/>
                <a:cs typeface="Calibri"/>
              </a:rPr>
              <a:t>Nota keeps 65 $ out of the notary's honoraires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BB34EA8-1ABC-4C48-8901-4CD8A474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B87569"/>
                </a:solidFill>
                <a:latin typeface="Calibri"/>
                <a:ea typeface="Calibri"/>
                <a:cs typeface="Calibri"/>
              </a:rPr>
              <a:t>Textbook fee-sharing. Exposes every notary on the platform to a disciplinary complaint.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3EBC803-B443-47AB-81FF-84E38E7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7DE31B-512D-4192-97F4-ABA6C728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5D4AF3-D56C-49B7-A20F-1A0B356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CLIENT-SIDE FEE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ADEF9B-6E2C-49F7-B546-A8B198D3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65B62"/>
                </a:solidFill>
                <a:latin typeface="Cambria"/>
                <a:ea typeface="Cambria"/>
                <a:cs typeface="Cambria"/>
              </a:rPr>
              <a:t>Charged on top, for Nota's own service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B039AC-EE69-4B33-878D-9F0B5D6B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Client pays 650 $ + 65 $ service fee = 715 $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Notary receives 650 $  (100%)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Nota is paid by the client for sourcing, dossier assembly and the transaction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23E4B1-4810-48E6-9FC2-4CBA5CEB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466C72"/>
                </a:solidFill>
                <a:latin typeface="Calibri"/>
                <a:ea typeface="Calibri"/>
                <a:cs typeface="Calibri"/>
              </a:rPr>
              <a:t>Identical unit economics. No share of any professional fee. Exposure disappears.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2494CB5-A806-4D9B-84EA-C12E1FFE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466C7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5A1B1C5-92E1-4EDF-8EF4-1086FEAB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10012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 US or rest-of-Canada entrant will not know this constraint exists. $20,000 of this round buys a written déontologie opinion and structured engagement with the Chambre before the first live act — which is both the largest risk retired and a genuine competitive asset.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744141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FDC912-CEBF-4BBD-814D-3C8ECE6D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Phase 1 — the price of time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9C3972-8AE8-463B-A967-FDA77147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Prove that a time-priced notarial marketplace clears, in one city, with real money.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0288714-4BD6-484B-BE3E-5FE82D67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3657600" cy="4114800"/>
          </a:xfrm>
          <a:prstGeom xmlns:a="http://schemas.openxmlformats.org/drawingml/2006/main" prst="roundRect">
            <a:avLst>
              <a:gd name="adj" fmla="val 2250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466C7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310F5DB-03EC-4A68-9948-ADE0C50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City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8E08CB7-8306-45EF-AAA1-7C7AD684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8600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C9AB6D"/>
                </a:solidFill>
                <a:latin typeface="Calibri"/>
                <a:ea typeface="Calibri"/>
                <a:cs typeface="Calibri"/>
              </a:rPr>
              <a:t>~850,000 people</a:t>
            </a:r>
            <a:endParaRPr sz="1400"/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C9AB6D"/>
                </a:solidFill>
                <a:latin typeface="Calibri"/>
                <a:ea typeface="Calibri"/>
                <a:cs typeface="Calibri"/>
              </a:rPr>
              <a:t>~400 notaries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2E0EA5-7202-452F-A380-2153493C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2926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Chosen over Montréal on purpose: small enough that a solo founder can meet a material share of local supply in person, dense enough to reach liquidity.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6A581D7-E516-4EB4-89DA-2CCE28EB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4340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 i="1">
                <a:solidFill>
                  <a:srgbClr val="C9AB6D"/>
                </a:solidFill>
                <a:latin typeface="Calibri"/>
                <a:ea typeface="Calibri"/>
                <a:cs typeface="Calibri"/>
              </a:rPr>
              <a:t>Supply joins free, with no card. The only thing a notary risks by signing up is nothing.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03CD376-6921-416F-AF0A-9EAE5CC5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84EACF-FA54-47EB-9F66-2039A385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45920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AD9567"/>
                </a:solidFill>
                <a:latin typeface="Cambria"/>
                <a:ea typeface="Cambria"/>
                <a:cs typeface="Cambria"/>
              </a:rPr>
              <a:t>M1–2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6AB317E-85E0-4284-AF19-B9780D83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645920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Déontologie restructure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06AABC9-76D5-43FF-8898-0B82C3DF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45920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Client-side fee, billing refactor, written legal opinion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9B84339-8A31-4202-B377-2F896593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45920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466C72"/>
                </a:solidFill>
                <a:latin typeface="Calibri"/>
                <a:ea typeface="Calibri"/>
                <a:cs typeface="Calibri"/>
              </a:rPr>
              <a:t>Opinion on file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75A66BB-4B4F-45CF-A103-912328CF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70048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96D87B8-E855-47E3-8D6D-E33D618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70048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AD9567"/>
                </a:solidFill>
                <a:latin typeface="Cambria"/>
                <a:ea typeface="Cambria"/>
                <a:cs typeface="Cambria"/>
              </a:rPr>
              <a:t>M1–3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1D6DC38-6F07-4202-B236-89109881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70048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Supply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855570F-2E1E-4197-B3CA-5E8C6C6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670048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30 Québec City notaries recruited in person, free to join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535E47-3681-4E53-99F6-440274BF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670048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466C72"/>
                </a:solidFill>
                <a:latin typeface="Calibri"/>
                <a:ea typeface="Calibri"/>
                <a:cs typeface="Calibri"/>
              </a:rPr>
              <a:t>25+ notaries live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F766826-904A-4992-B68C-3BD0BD49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1A29D1E-5D89-40AD-A561-91461BEA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694176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AD9567"/>
                </a:solidFill>
                <a:latin typeface="Cambria"/>
                <a:ea typeface="Cambria"/>
                <a:cs typeface="Cambria"/>
              </a:rPr>
              <a:t>M3–6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492F50-A853-4103-B079-D551DAE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694176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Demand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C618832-1867-4807-9979-7D718BE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94176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Carnet SEO, broker and planner referral partnerships, urgency-targeted paid search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098DAA1-163C-490B-AAF4-DC99B589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694176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466C72"/>
                </a:solidFill>
                <a:latin typeface="Calibri"/>
                <a:ea typeface="Calibri"/>
                <a:cs typeface="Calibri"/>
              </a:rPr>
              <a:t>Fill rate &gt; 45%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44352F5-B057-401E-9863-FB34D716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718304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DD02F47-10B3-49CB-B535-C57B386D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18304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AD9567"/>
                </a:solidFill>
                <a:latin typeface="Cambria"/>
                <a:ea typeface="Cambria"/>
                <a:cs typeface="Cambria"/>
              </a:rPr>
              <a:t>M6–12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47D1FA6-CCAC-4CE5-AFE0-970AF782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718304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Liquidity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3B116AE-AA55-4855-89F1-7C9CC4E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718304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Tighten time-to-retain, publish the urgency curve, extend to Lévis and Saguenay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B9163F1-E7B0-4CEA-8CED-5CD75AD6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4718304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466C72"/>
                </a:solidFill>
                <a:latin typeface="Calibri"/>
                <a:ea typeface="Calibri"/>
                <a:cs typeface="Calibri"/>
              </a:rPr>
              <a:t>Fill rate &gt; 60%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A0DE7F8-0B4D-40B2-92DF-9A0F4EA6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AD9567"/>
                </a:solidFill>
                <a:latin typeface="Cambria"/>
                <a:ea typeface="Cambria"/>
                <a:cs typeface="Cambria"/>
              </a:rPr>
              <a:t>The asset Phase 1 produces is not revenue — it is the only dataset of realised price × days-to-date × act type in Québec. Nobody can reconstruct it without running the same market for the same year.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30041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2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549617-2DB6-4EC8-9012-1703994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Phase 2 — the act without the trip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4644994-1FF1-402F-BD4B-100F662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The expansion is not saving the client a car trip. It is removing geography as a matching constraint.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0100D3-8CD6-400B-9959-A66A4BE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466C7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EB22A2-27D4-41B7-AF58-165FF462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Today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BE10591-0334-4B87-89E5-B7992DA4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139696"/>
            <a:ext cx="4480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9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client in Québec City is matched against ~400 notaries.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CD8058E-AE90-4AC4-BCD2-A0276D7F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365B62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240381C-8728-4EC1-850B-B083EFB7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91B2B0"/>
                </a:solidFill>
                <a:latin typeface="Calibri"/>
                <a:ea typeface="Calibri"/>
                <a:cs typeface="Calibri"/>
              </a:rPr>
              <a:t>With remote matching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E0B6B7F-E336-4462-83DD-4D754A7E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139696"/>
            <a:ext cx="44805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6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same client is matched against ~3,900 — and a notary in Rimouski sells an empty Thursday to a client in Gatineau.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DBB7D0-5978-4016-BD20-504A6C6C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10820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C9AB6D"/>
                </a:solidFill>
                <a:latin typeface="Calibri"/>
                <a:ea typeface="Calibri"/>
                <a:cs typeface="Calibri"/>
              </a:rPr>
              <a:t>The honest regulatory position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BDD076-417F-4C79-AE69-D13A7735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09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Remote signing is already legal and permanent in Québec — but under art. 46 it is exceptional: the request must come from a party, and the justifying circumstance must be specific to that party. Convenience does not qualify. The barrier is not the law's silence; it is that the justification burden and the disciplinary exposure sit entirely on the individual notary, who therefore defaults to "come in person".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F1835F2-B4FD-48E4-B33C-186B930E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22C21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F5FF84-0604-4C4A-933E-BAB9810D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321808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That is a product.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8AD171-05B1-4536-B8D0-484CA5A7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6868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DBC68F"/>
                </a:solidFill>
                <a:latin typeface="Calibri"/>
                <a:ea typeface="Calibri"/>
                <a:cs typeface="Calibri"/>
              </a:rPr>
              <a:t>Nota captures the party's request, classifies the qualifying circumstance, collects the evidence, and attaches a timestamped audit record to the dossier. The notary receives a file that is already defensible — a discretionary judgment call becomes a standard workflow. Phase 2 is designed to be fully valuable under the current statute; liberalisation is upside, not plan.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083393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AED43E-653B-4B54-8A90-52A30822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Competition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BF822A-A569-4C45-9988-D3754B19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Every participant prices a document. Nota prices a date.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80504B-D519-4D91-9FCA-544529F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72768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Who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3234FCC-0066-4633-A7B8-1C5830D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727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What they do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1E6ACC3-67D7-478F-97C5-03D29A63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72768"/>
            <a:ext cx="38221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Where Nota differs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33A89B0-2252-48B3-B2CF-5536CFE6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1952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6B24B4-4694-4537-803E-79AE412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1952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Notairo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EFACE5-1596-437A-93F4-4C7563D5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01952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Digital preparation of real-estate closings; final signature in person.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051A65-38D6-425B-B328-EB1A58D3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901952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Workflow software for one act type. Fixed pricing, no marketplace, no time-based discovery.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35E724C-A938-44BE-AD4A-35032C30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0283C-B010-464C-BAE0-8078239E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61488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Nolos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4EB2E06-DED7-4032-B753-2DF63C56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761488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Online notarised wills, ~21 service points in Québec.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415AD3-E081-43A3-BA3D-4B800E85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61488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A distribution chain with fixed prices — not a market. No notary-side liquidity.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CB1C2D4-4F10-4DF8-B89B-B408DBEF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1024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58EC5C7-9C1B-4B05-A473-E294DA46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2102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Neolegal / ScriptaLegal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3378BCD-3580-4811-B8B3-E1E6754E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Online legal documents with notarial add-ons.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541E73E-FDBC-4EB2-A6B5-EA4765E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21024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Document-first and price-fixed. They do not sell notary availability.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52A69AC-4C28-4557-AD2C-45C3DEF5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2F6718B-4614-46FE-84A2-817CC1D5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80560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Traditional practice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6F5BA1A-86CF-4477-BF3E-0C5E42A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480560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Phone, referral, signage.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60B13C9-BA1C-4D67-B7FE-2D1324B8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480560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The real competitor. Nota wins by pricing time, which the phone cannot do.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CC24A0F-BD41-468E-945D-7A1F53E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0096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45E08C-BD42-46D1-9C71-52C9686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40096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US remote-notarisation platforms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7FD640A-3E10-49EC-A1E1-704CBDCC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340096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High-volume RON for common-law notaries public.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3891693-4CDB-4580-A837-CF6E8656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340096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Structurally cannot enter. A Québec notaire is a civil-law public officer, and their commission model is illegal here.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DDDC61D-9452-4D39-9F73-95D96E39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3640"/>
            <a:ext cx="1082009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Defensibility, honestly ranked: the urgency price curve (requires running the market to obtain) · the notary network (slow, in-person) · the déontologie-safe structure with an opinion on file · the art. 46 compliance layer. None are patents. All are years.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6493009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9E8F9F-CFB9-4497-8BB5-9FD25660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Financial trajectory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C6AA4A-4620-4B39-9F02-0CEC6797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Year 1 is a proof-of-liquidity year, and the model says so rather than pretending otherwise.</a:t>
            </a:r>
            <a:endParaRPr sz="1400"/>
          </a:p>
        </p:txBody>
      </p:sp>
      <p:graphicFrame>
        <p:nvGraphicFramePr>
          <p:cNvPr id="50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621792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701e75999440a8"/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DC359E3-7066-40FC-92C6-52B552ED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2763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432D6F3-C61E-4523-A5D4-2630C913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Y1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D49FB5B-36CB-4911-8160-21A6465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Y2</a:t>
            </a:r>
            <a:endParaRPr sz="11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D8B2083-AA83-4DF8-88F2-873B0933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Y3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7BFD6C8-BB00-45A9-99A9-95AEB2F0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2996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C184022-524D-44D5-801A-65342B16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2996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Notaries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3A6EF5A-DFDD-488D-95D7-090CB391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30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5CAF572-A52E-4E86-A1A7-8EAC3C5A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220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260C0B1-335D-4CC0-9E8D-2FA52EBA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700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5C4AFB1-FDD9-4331-B59F-D7D740FB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230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CE19104-47D8-4AEA-8DFB-9D8C9E4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3230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Fill rate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1BA5ECB-0BB2-4026-BB03-69C7BA7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56%</a:t>
            </a:r>
            <a:endParaRPr sz="11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AE7FBAD-C339-4838-9A8F-68D81B4A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57%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BF9D7BD-B12D-4038-885A-3A05419A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62%</a:t>
            </a:r>
            <a:endParaRPr sz="11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606E699-C12F-4D2C-B268-C4250F30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4640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20B9AE2-03EF-4DEA-A9A1-6842CC58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34640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Acts completed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7E4E66F-980E-4C55-9F4A-EAEBDE4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244</a:t>
            </a:r>
            <a:endParaRPr sz="11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00082CD-6F5E-4F8A-8064-CF11E2FE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2,800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0CD1B3F-FCE0-42B4-B485-6533D236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11,000</a:t>
            </a:r>
            <a:endParaRPr sz="11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7233A43-837E-4A79-8FB6-33256B6E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6976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FBD717E-E8A6-41F7-919E-D0A13AEF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236976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GMV</a:t>
            </a:r>
            <a:endParaRPr sz="11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7AB155F-4135-40E1-9403-0B676BAC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$258K</a:t>
            </a:r>
            <a:endParaRPr sz="11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BA49C2A-4003-4674-BF1F-764A7224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$3.22M</a:t>
            </a:r>
            <a:endParaRPr sz="11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00AC746-E9F5-4489-8EA3-E930972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$15.95M</a:t>
            </a:r>
            <a:endParaRPr sz="11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76CE379-40BD-4193-96E6-AD1F5B2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9312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57679DD-800F-43E4-B11D-9A88A548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63931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Net revenue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4883D1B-F886-418C-928E-2B90B70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$25.8K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1740953-FB29-4A04-9877-C7D23541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$322K</a:t>
            </a:r>
            <a:endParaRPr sz="11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FBD3F8C-F43F-4D56-9428-D51BDA98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$1.60M</a:t>
            </a:r>
            <a:endParaRPr sz="11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9CABD9F-5ABD-4FCA-BE22-151F243E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4164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3D8AF24F-57B3-4343-A116-F6C0CBB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04164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Gross margin</a:t>
            </a:r>
            <a:endParaRPr sz="11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5C0C9B60-D567-4DC6-AA21-16CCF332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89%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EC8CB0B3-9BFE-48B7-9F5C-CE4AE98E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90%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ACCEF70-EA1A-4D81-A147-2F9B9542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91%</a:t>
            </a:r>
            <a:endParaRPr sz="11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A3E2F469-0EFB-4C39-9C7F-B252429E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398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17D8B660-487E-4CD4-BB9A-B2FCF470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4398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Net income</a:t>
            </a:r>
            <a:endParaRPr sz="11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F8A79763-5475-4DC5-8E2B-B176B0ED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($227K)</a:t>
            </a:r>
            <a:endParaRPr sz="11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BF29FA49-F0AD-4758-BA4B-261A9ABC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($430K)</a:t>
            </a:r>
            <a:endParaRPr sz="115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E44513B3-1F0B-4343-9669-646DEBF3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65B62"/>
                </a:solidFill>
                <a:latin typeface="Calibri"/>
                <a:ea typeface="Calibri"/>
                <a:cs typeface="Calibri"/>
              </a:rPr>
              <a:t>($391K)</a:t>
            </a:r>
            <a:endParaRPr sz="115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1CE1E8AD-3A7A-4ACA-8981-686D016D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41732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41690ABD-9DCA-4C83-B9B4-D272E2BF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Unit economics</a:t>
            </a:r>
            <a:endParaRPr sz="11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36395DD5-25F2-4059-9F2A-7AA8BECC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413248"/>
            <a:ext cx="10012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Gross profit per act rises $94 → $133 as the act catalogue widens. Client CAC falls $164 → $40 as carnet SEO and zero-CAC referral channels compound, turning a ($70) Y1 contribution into +$93 by Y3. On the supply side, a notary costs ~$500 to recruit and returns ~$2,071 a year — LTV/CAC ≈ 12×, payback inside five acts. Cumulative capital to Y3: ~$1.05M.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8432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6A7A9C-60C4-4CA8-AB55-2938A83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Use of funds — $250,000 over 12 months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CFCCFA-999B-4544-B26C-7E948352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Average burn ~$20,800/month. Legal is front-loaded on purpose: the déontologie opinion unblocks everything else.</a:t>
            </a:r>
            <a:endParaRPr sz="1400"/>
          </a:p>
        </p:txBody>
      </p:sp>
      <p:graphicFrame>
        <p:nvGraphicFramePr>
          <p:cNvPr id="41" name="Chart 0"/>
          <p:cNvGraphicFramePr/>
          <p:nvPr/>
        </p:nvGraphicFramePr>
        <p:xfrm>
          <a:off xmlns:a="http://schemas.openxmlformats.org/drawingml/2006/main" x="548640" y="1554480"/>
          <a:ext xmlns:a="http://schemas.openxmlformats.org/drawingml/2006/main" cx="5394960" cy="39319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5a063ef0d3498d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02EBAE3-D095-4496-BE4D-4BE5C857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91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04F5DF3-E147-4D4A-A69A-662720C2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691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Founder salary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7688647-88D0-4750-B4A6-4B0B0FA7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$96,000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1072FC5-8631-423B-A966-926D7538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691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8,000/mo. Below market — this round buys focus.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D6F36CE-5889-49B7-87BE-986D46D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E63C818-3824-40CD-ADDB-09C6A1B5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148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Client acquisition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3324265-FA5B-4E8C-9F98-FD0C5A39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48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$40,000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41B03A0-1A15-42C8-8E43-E8176DCB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148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Paid search, content, partnership build-out.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B5DB195-F2B2-4FED-BE8C-9E19B29E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06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413E847-0033-4B95-BA20-7392CF59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606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Notary advisor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05D7CEE-DF21-4D37-8543-A250B8C5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06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BB6127D-2CA9-428E-A888-379B0A92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606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Part-time practising notary. Credibility and correctness.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383961C-2263-4BE9-8C51-A70BD2B4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FD4E69B-B9B7-4B4F-9167-981F717A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0632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Design contract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08680BE-51A1-4550-BA3F-D362AB1A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0632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FA6D841-E257-46B1-92DB-3F505550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0632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~3 months part-time front-end.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96ACF61-0838-4484-8AB9-55A1F316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04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F6ED688-485D-4734-A449-324DC3B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5204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Legal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3DAAF55-1D3D-4539-968C-F626CCFA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204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$20,000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28000E9-8D61-495A-AB88-4EF37DBB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5204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Déontologie opinion, Chambre, incorporation, Law 25.</a:t>
            </a:r>
            <a:endParaRPr sz="10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E8A5889-CD3D-47F1-BDE3-74662B3C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77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FF4A352-5B13-47C6-9227-7FCDA94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977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Contingency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B5E444F-D769-49DA-984E-2D81642B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77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$17,000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F2006FF-C8F2-4143-9E81-3531C716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977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~7%.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973C6CF-D43C-4109-BDA4-10A72A27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434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D70D505-F6D7-4EC2-8356-FE892C0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434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Notary acquisition</a:t>
            </a:r>
            <a:endParaRPr sz="1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C39C123-3E01-4D34-A184-0178A0F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34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$15,000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7386A1D-B650-4515-B014-4BE7F306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434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Field sales, congrès, travel.</a:t>
            </a:r>
            <a:endParaRPr sz="10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03D6AC2-9C22-48B4-A398-6A522C8F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92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B0B1160F-33A8-4F33-9FEC-BBE27587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892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A32"/>
                </a:solidFill>
                <a:latin typeface="Calibri"/>
                <a:ea typeface="Calibri"/>
                <a:cs typeface="Calibri"/>
              </a:rPr>
              <a:t>Infra &amp; tooling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9FC1BEC2-DF11-4619-A6AB-76247388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92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D9567"/>
                </a:solidFill>
                <a:latin typeface="Calibri"/>
                <a:ea typeface="Calibri"/>
                <a:cs typeface="Calibri"/>
              </a:rPr>
              <a:t>$12,000</a:t>
            </a:r>
            <a:endParaRPr sz="12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E9DBC7D9-4F89-48A1-A1C5-623B2389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892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Serverless keeps this small.</a:t>
            </a:r>
            <a:endParaRPr sz="10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1AA16F7F-21D7-45B5-8B91-8A3085E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486400"/>
            <a:ext cx="5376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i="1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Non-dilutive stacking: refundable SR&amp;ED and Québec R&amp;D wage credits are modelled at zero and treated as runway extension (~2–3 months), not budgeted revenue.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650629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1FF8DA-43E7-4476-A031-A1D19483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What has to be true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08FBB3-9261-4B5D-BB54-56579F1C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C72"/>
                </a:solidFill>
                <a:latin typeface="Calibri"/>
                <a:ea typeface="Calibri"/>
                <a:cs typeface="Calibri"/>
              </a:rPr>
              <a:t>Three assumptions carry the model. Each has a named falsification test — and all three resolve inside this round.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F6696E-CF20-40B1-8F7A-54D3986E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6D3B50-83AB-4787-9707-64D61DEA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B6D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DD0126-CBB6-430E-9B59-148DE4E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853123-94CB-45DC-A8C9-164DB142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874520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Clients pay a premium for a date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CFAC122-8449-43A3-B7E7-3C34C680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74520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Realised premium distribution by tier. If urgence and extreme bids do not clear above standard, the core thesis is wrong.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F2A4194-D690-48BB-B59B-A0296779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9AB6D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4EE07CB-75DC-44EB-B74E-29002D7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6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EC580B0-D6B5-4717-BFA7-F8EC3776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1528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5C9E1FA-EA8A-4F15-9927-9812DCEB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8224C6-3B0D-4CA8-BDDB-8926735F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3FCA7C8-D542-40F9-BB42-1F1E84C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264408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Notaries sell short-notice availability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2B3AF43-82C5-487E-B9AA-D35B8E5A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Fill rate on the prioritaire and urgence tiers specifically, not blended.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CFCA701-0C24-494F-8FEE-09EEB13A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D93642C-525E-43BC-9A4C-25DB588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5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CC8650E-A174-4127-9181-69DDEFD4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1416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1EC"/>
          </a:solidFill>
          <a:ln xmlns:a="http://schemas.openxmlformats.org/drawingml/2006/main" w="12700">
            <a:solidFill>
              <a:srgbClr val="CBD8D5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D1C23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EAA36FC-775A-48D3-91A9-1D92B08C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0A54E5A-857C-49C5-9E2A-6ECBB76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B1DCC18-EC78-4400-909A-39BB9721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654296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62A32"/>
                </a:solidFill>
                <a:latin typeface="Cambria"/>
                <a:ea typeface="Cambria"/>
                <a:cs typeface="Cambria"/>
              </a:rPr>
              <a:t>The client-side fee is déontologie-safe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B8F645C-891F-4A98-82E2-1A904BA1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654296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536D70"/>
                </a:solidFill>
                <a:latin typeface="Calibri"/>
                <a:ea typeface="Calibri"/>
                <a:cs typeface="Calibri"/>
              </a:rPr>
              <a:t>A written legal opinion from Québec counsel, with structured Chambre engagement.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10C37AA-877E-4905-919D-35B65522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7A5097-F0B0-4A6C-9DB0-77E9E991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2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3554CF-571B-4366-AB47-A072B1C7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AD9567"/>
                </a:solidFill>
                <a:latin typeface="Cambria"/>
                <a:ea typeface="Cambria"/>
                <a:cs typeface="Cambria"/>
              </a:rPr>
              <a:t>That is the argument for the round size. $250,000 is enough to confirm or refute the entire thesis, and not a dollar is spent building something that has not been validated.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563732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62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C7DB01-E8FD-4FB8-B4F0-8BAA4917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09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ask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DD5052-81FD-4B95-9572-ED9F1188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9AB6D"/>
                </a:solidFill>
                <a:latin typeface="Calibri"/>
                <a:ea typeface="Calibri"/>
                <a:cs typeface="Calibri"/>
              </a:rPr>
              <a:t>$250,000 CAD pre-seed · 12 months · SAFE or convertible note with an angel lead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F5F4B5F-2EDD-433E-97DA-D9EECA68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1447A0-5739-4C08-9DA8-9A69698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Legal footing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15C945-0E49-4BA0-BE66-D48D1C27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A déontologie-clean structure with a written opinion on file — the largest risk in the business, retired first.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5920AFF-B37D-4AE2-9B9B-B1391802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4AD894-A8C6-40A5-9A94-66B52D0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A working market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CFF452-3DB6-483E-8153-EE3E4053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30 notaries and functioning two-sided liquidity in Québec City.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7F21CD8-1CAC-4AB1-9E8C-2A1DD73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CE2F1F1-A0D1-4F60-AFFA-42EB5FAB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Proprietary data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E6D5434-FE94-4EFC-B569-76952606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244 completed acts and the first urgency price curve for the Québec notarial market. It does not otherwise exist.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3163963-DDB9-4348-8300-870BD3A7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466C72"/>
          </a:solidFill>
          <a:ln xmlns:a="http://schemas.openxmlformats.org/drawingml/2006/main" w="12700">
            <a:solidFill>
              <a:srgbClr val="365B6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1093404-8F34-445A-BD67-9A3790CC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9AB6D"/>
                </a:solidFill>
                <a:latin typeface="Cambria"/>
                <a:ea typeface="Cambria"/>
                <a:cs typeface="Cambria"/>
              </a:rPr>
              <a:t>Phase 2 in reach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46AEBCC-DEC1-4055-90D7-368B25BF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E6ECE9"/>
                </a:solidFill>
                <a:latin typeface="Calibri"/>
                <a:ea typeface="Calibri"/>
                <a:cs typeface="Calibri"/>
              </a:rPr>
              <a:t>The art. 46 compliance layer shipped, making remote signing routine where the law already allows it.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BDF538A-43B4-499B-BD4D-F16CDDA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6048"/>
            <a:ext cx="23774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B6D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3748CBE-C260-4319-A1D6-C20910E9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8595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deregulated notary fees in 1991 and never built a market.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market is built. This funds finding out whether it clears.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E846155-4FD8-4DA2-B4D1-059A549D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5212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Anthony Paquet</a:t>
            </a:r>
            <a:endParaRPr sz="1200"/>
          </a:p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anthonypaquet1508@gmail.com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87250070"/>
      </p:ext>
    </p:extLst>
  </p:cSld>
</p:sld>
</file>

<file path=ppt/theme/theme1.xml><?xml version="1.0" encoding="utf-8"?>
<a:theme xmlns:a="http://schemas.openxmlformats.org/drawingml/2006/main" name="Office Theme">
  <a:themeElements>
    <a:clrScheme name="Nota Editorial">
      <a:dk1>
        <a:srgbClr val="162A32"/>
      </a:dk1>
      <a:lt1>
        <a:srgbClr val="FCFBF8"/>
      </a:lt1>
      <a:dk2>
        <a:srgbClr val="365B62"/>
      </a:dk2>
      <a:lt2>
        <a:srgbClr val="E6ECE9"/>
      </a:lt2>
      <a:accent1>
        <a:srgbClr val="466C72"/>
      </a:accent1>
      <a:accent2>
        <a:srgbClr val="C9AB6D"/>
      </a:accent2>
      <a:accent3>
        <a:srgbClr val="B87569"/>
      </a:accent3>
      <a:accent4>
        <a:srgbClr val="91B2B0"/>
      </a:accent4>
      <a:accent5>
        <a:srgbClr val="AD9567"/>
      </a:accent5>
      <a:accent6>
        <a:srgbClr val="365B62"/>
      </a:accent6>
      <a:hlink>
        <a:srgbClr val="466C72"/>
      </a:hlink>
      <a:folHlink>
        <a:srgbClr val="6E593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Nota Editori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2026-09-09T17:00:33.9050000Z</dcterms:created>
  <dcterms:modified xsi:type="dcterms:W3CDTF">2026-09-09T17:00:33.9050000Z</dcterms:modified>
</coreProperties>
</file>